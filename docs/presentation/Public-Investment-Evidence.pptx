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59adba2bec45ea" /><Relationship Type="http://schemas.openxmlformats.org/officeDocument/2006/relationships/extended-properties" Target="/docProps/app.xml" Id="R6797235122314f50" /><Relationship Type="http://schemas.openxmlformats.org/officeDocument/2006/relationships/officeDocument" Target="/ppt/presentation.xml" Id="Rc3921819e9864b38" /></Relationships>
</file>

<file path=ppt/presentation.xml><?xml version="1.0" encoding="utf-8"?>
<p:presentation xmlns:p="http://schemas.openxmlformats.org/presentationml/2006/main">
  <p:sldMasterIdLst>
    <p:sldMasterId xmlns:r="http://schemas.openxmlformats.org/officeDocument/2006/relationships" id="2147483648" r:id="R4de926e6fd9844a4"/>
  </p:sldMasterIdLst>
  <p:notesMasterIdLst>
    <p:notesMasterId xmlns:r="http://schemas.openxmlformats.org/officeDocument/2006/relationships" r:id="R4c32fa69fdc54768"/>
  </p:notesMasterIdLst>
  <p:sldIdLst>
    <p:sldId xmlns:r="http://schemas.openxmlformats.org/officeDocument/2006/relationships" id="256" r:id="Rc6add847bad149dd"/>
    <p:sldId xmlns:r="http://schemas.openxmlformats.org/officeDocument/2006/relationships" id="257" r:id="R150be05c47504bec"/>
    <p:sldId xmlns:r="http://schemas.openxmlformats.org/officeDocument/2006/relationships" id="258" r:id="R26626e83c5264ec8"/>
    <p:sldId xmlns:r="http://schemas.openxmlformats.org/officeDocument/2006/relationships" id="259" r:id="R15333815ef7a46cc"/>
    <p:sldId xmlns:r="http://schemas.openxmlformats.org/officeDocument/2006/relationships" id="260" r:id="R2b4af997989045f8"/>
    <p:sldId xmlns:r="http://schemas.openxmlformats.org/officeDocument/2006/relationships" id="261" r:id="R4a6b7ace3e374b7c"/>
    <p:sldId xmlns:r="http://schemas.openxmlformats.org/officeDocument/2006/relationships" id="262" r:id="R4add389fe69d4246"/>
    <p:sldId xmlns:r="http://schemas.openxmlformats.org/officeDocument/2006/relationships" id="263" r:id="R0783319fe32d4d6b"/>
    <p:sldId xmlns:r="http://schemas.openxmlformats.org/officeDocument/2006/relationships" id="264" r:id="Rcbc4a3fd84f24141"/>
    <p:sldId xmlns:r="http://schemas.openxmlformats.org/officeDocument/2006/relationships" id="265" r:id="Re9e2117cd6374f0d"/>
    <p:sldId xmlns:r="http://schemas.openxmlformats.org/officeDocument/2006/relationships" id="266" r:id="Rd80d5b01d03b4fbf"/>
    <p:sldId xmlns:r="http://schemas.openxmlformats.org/officeDocument/2006/relationships" id="267" r:id="R9215cab1ac004294"/>
    <p:sldId xmlns:r="http://schemas.openxmlformats.org/officeDocument/2006/relationships" id="268" r:id="Rac8275e1c9ac41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cc213b6d7c4048" /><Relationship Type="http://schemas.openxmlformats.org/officeDocument/2006/relationships/slideMaster" Target="/ppt/slideMasters/slideMaster1.xml" Id="R4de926e6fd9844a4" /><Relationship Type="http://schemas.openxmlformats.org/officeDocument/2006/relationships/notesMaster" Target="/ppt/notesMasters/notesMaster1.xml" Id="R4c32fa69fdc54768" /><Relationship Type="http://schemas.openxmlformats.org/officeDocument/2006/relationships/presProps" Target="/ppt/presProps.xml" Id="R98e9f5c891d84ed3" /><Relationship Type="http://schemas.openxmlformats.org/officeDocument/2006/relationships/tableStyles" Target="/ppt/tableStyles.xml" Id="Rce6794ad22704894" /><Relationship Type="http://schemas.openxmlformats.org/officeDocument/2006/relationships/slide" Target="/ppt/slides/slide1.xml" Id="Rc6add847bad149dd" /><Relationship Type="http://schemas.openxmlformats.org/officeDocument/2006/relationships/slide" Target="/ppt/slides/slide2.xml" Id="R150be05c47504bec" /><Relationship Type="http://schemas.openxmlformats.org/officeDocument/2006/relationships/slide" Target="/ppt/slides/slide3.xml" Id="R26626e83c5264ec8" /><Relationship Type="http://schemas.openxmlformats.org/officeDocument/2006/relationships/slide" Target="/ppt/slides/slide4.xml" Id="R15333815ef7a46cc" /><Relationship Type="http://schemas.openxmlformats.org/officeDocument/2006/relationships/slide" Target="/ppt/slides/slide5.xml" Id="R2b4af997989045f8" /><Relationship Type="http://schemas.openxmlformats.org/officeDocument/2006/relationships/slide" Target="/ppt/slides/slide6.xml" Id="R4a6b7ace3e374b7c" /><Relationship Type="http://schemas.openxmlformats.org/officeDocument/2006/relationships/slide" Target="/ppt/slides/slide7.xml" Id="R4add389fe69d4246" /><Relationship Type="http://schemas.openxmlformats.org/officeDocument/2006/relationships/slide" Target="/ppt/slides/slide8.xml" Id="R0783319fe32d4d6b" /><Relationship Type="http://schemas.openxmlformats.org/officeDocument/2006/relationships/slide" Target="/ppt/slides/slide9.xml" Id="Rcbc4a3fd84f24141" /><Relationship Type="http://schemas.openxmlformats.org/officeDocument/2006/relationships/slide" Target="/ppt/slides/slide10.xml" Id="Re9e2117cd6374f0d" /><Relationship Type="http://schemas.openxmlformats.org/officeDocument/2006/relationships/slide" Target="/ppt/slides/slide11.xml" Id="Rd80d5b01d03b4fbf" /><Relationship Type="http://schemas.openxmlformats.org/officeDocument/2006/relationships/slide" Target="/ppt/slides/slide12.xml" Id="R9215cab1ac004294" /><Relationship Type="http://schemas.openxmlformats.org/officeDocument/2006/relationships/slide" Target="/ppt/slides/slide13.xml" Id="Rac8275e1c9ac41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d04129928e45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76171958040db" /><Relationship Type="http://schemas.openxmlformats.org/officeDocument/2006/relationships/notesMaster" Target="/ppt/notesMasters/notesMaster1.xml" Id="R47857fc25b1b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11641d3f0b4ab1" /><Relationship Type="http://schemas.openxmlformats.org/officeDocument/2006/relationships/notesMaster" Target="/ppt/notesMasters/notesMaster1.xml" Id="R6a383429fde747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7227999aab4e64" /><Relationship Type="http://schemas.openxmlformats.org/officeDocument/2006/relationships/notesMaster" Target="/ppt/notesMasters/notesMaster1.xml" Id="Rcd5c031ca62b45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86628d130e4cb5" /><Relationship Type="http://schemas.openxmlformats.org/officeDocument/2006/relationships/notesMaster" Target="/ppt/notesMasters/notesMaster1.xml" Id="R5b94ffacf3fe41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42d241552349d7" /><Relationship Type="http://schemas.openxmlformats.org/officeDocument/2006/relationships/notesMaster" Target="/ppt/notesMasters/notesMaster1.xml" Id="R66e201ebd2e94f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331c600c614446" /><Relationship Type="http://schemas.openxmlformats.org/officeDocument/2006/relationships/notesMaster" Target="/ppt/notesMasters/notesMaster1.xml" Id="Rcd44ceca725046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4c2d56d5e343cf" /><Relationship Type="http://schemas.openxmlformats.org/officeDocument/2006/relationships/notesMaster" Target="/ppt/notesMasters/notesMaster1.xml" Id="Raf78eca9df5849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4fffc18fe04573" /><Relationship Type="http://schemas.openxmlformats.org/officeDocument/2006/relationships/notesMaster" Target="/ppt/notesMasters/notesMaster1.xml" Id="Rf44dfaef2b404b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5b11d38b85493d" /><Relationship Type="http://schemas.openxmlformats.org/officeDocument/2006/relationships/notesMaster" Target="/ppt/notesMasters/notesMaster1.xml" Id="R0e6ad745404f41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d0c356ed0c4e79" /><Relationship Type="http://schemas.openxmlformats.org/officeDocument/2006/relationships/notesMaster" Target="/ppt/notesMasters/notesMaster1.xml" Id="R8e8aecd759c845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96dbe85c794e58" /><Relationship Type="http://schemas.openxmlformats.org/officeDocument/2006/relationships/notesMaster" Target="/ppt/notesMasters/notesMaster1.xml" Id="R58fb540172dd4f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89004bced54c42" /><Relationship Type="http://schemas.openxmlformats.org/officeDocument/2006/relationships/notesMaster" Target="/ppt/notesMasters/notesMaster1.xml" Id="R24f70e2161b044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6a7f4b98e14950" /><Relationship Type="http://schemas.openxmlformats.org/officeDocument/2006/relationships/notesMaster" Target="/ppt/notesMasters/notesMaster1.xml" Id="R6ebc7bc4ba0f4e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Opening: A public official has a practical question: if we build a project here, what kind of local activity might follow per dollar? We built two connected workflows: inspect completed projects, then explore a proposal using a measured local baseline. The unstructured-data contribution turns review text into both targeted place evidence and learned topic features.</a:t>
            </a:r>
          </a:p>
          <a:p xmlns:a="http://schemas.openxmlformats.org/drawingml/2006/main">
            <a:r>
              <a:t>Sources: data/derived/project_evidence.json; data/derived/project_model.json; data/derived/advanced_text.json. Build versions: project-evidence-v1, project-ce-v2, tfidf-bigram-nmf5-v1.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00:30–01:15. State the goal in the official's language. For completed projects, the product explains footprint, cost, local activity and review language. For proposals, a user enters budget and measured baseline conditions, inspects comparable cases and exports an analysis record. Project type filters comparable evidence today; it does not identify a type-specific treatment effect. The current outcome is a Yelp activity proxy. The product vision can later expand to stronger public-value measures.</a:t>
            </a:r>
          </a:p>
          <a:p xmlns:a="http://schemas.openxmlformats.org/drawingml/2006/main">
            <a:r>
              <a:t>Sources: web/projects.html; web/model.html; docs/product-improvement-plan.md.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01:15–01:55. Do not conflate review volume with the number of independent project outcomes. We processed 1,063,956 unique reviews for 11 projects across seven cities. Ten projects meet the baseline support rule. Shared catchments create 292,924 shared review IDs. The topic layer uses 23,691 distinct sampled nearby pre/post reviews, with 10,971 baseline reviews fitting the descriptive basis. Data vintage is January 2022.</a:t>
            </a:r>
          </a:p>
          <a:p xmlns:a="http://schemas.openxmlformats.org/drawingml/2006/main">
            <a:r>
              <a:t>Sources: data/derived/project_evidence.json; data/derived/project_model.json; data/derived/advanced_text.json. Build versions: project-evidence-v1, project-ce-v2, tfidf-bigram-nmf5-v1.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01:55–02:40. Read the excerpt. Topic alone is insufficient: garbage could describe a restaurant interior or the street. Target-aware clause rules distinguish area, business and unclear targets, and preserve whole-review sentiment separately. The example is an illustrative actual excerpt from near Rail Park in the post period. It is not a representative public consultation. Provisional VADER and barrier rules lack independent human accuracy estimates. 731 blank annotation tasks are prepared.</a:t>
            </a:r>
          </a:p>
          <a:p xmlns:a="http://schemas.openxmlformats.org/drawingml/2006/main">
            <a:r>
              <a:t>Source: data/derived/project_evidence.json, Rail Park excerpts; src/project_text.py; docs/advanced-text-method.md.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02:40–03:30. TF-IDF converts unigrams and bigrams into weighted features. Five NMF components learn recurring language. We show leading terms rather than assign unverified civic labels. For Dilworth, 1,200 sampled reviews per period produce these mean normalized topic weights. They are mixtures, not the share of reviews assigned to exactly one topic. Descriptive topics use baseline text only; post text is transformed through the frozen basis. Entropy and lexical features add further structure. The food/service emphasis is a finding about Yelp coverage.</a:t>
            </a:r>
          </a:p>
          <a:p xmlns:a="http://schemas.openxmlformats.org/drawingml/2006/main">
            <a:r>
              <a:t>Source: data/derived/advanced_text.json, descriptive topics and dilworth-park pre/post. Predictive topic basis is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03:30–04:15. This example makes the metric concrete. Sun Link nearby reviews rose from 3,807 to 10,943. The farther-area growth benchmark implies 13,150.34 expected nearby reviews. The difference is minus 2,207.34 reviews. Divide by reported cost of 196.5 million to obtain minus 11.23. This is slower relative review growth, not declining raw activity or evidence of project failure. Nearby means within 500 m of footprint. Comparison is 1.5–8 km. Baseline 2010/11 and post 2015/16.</a:t>
            </a:r>
          </a:p>
          <a:p xmlns:a="http://schemas.openxmlformats.org/drawingml/2006/main">
            <a:r>
              <a:t>Source: data/derived/project_evidence.json, sun-link primary and periods.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04:15–05:10. Compare models on the same ten project outcomes. Lower mean absolute error is better. Holding out a city is more demanding than leaving out one neighboring project. Baseline uses reported cost, baseline reviewed businesses, and reviews per reviewed business. Learned text adds five NMF mixtures, entropy, log length and lexical diversity. TF-IDF/NMF is fitted again inside all 17 project/city folds, with no held-out shared IDs. Two folds require training-only feature imputation. Advanced text has project MAE 53.04 and city MAE 46.67, versus baseline 49.33 and 45.61. Text is still a valuable analysis layer and a substantive tested result. Selection uses the same small held-out comparisons, not an independent final test.</a:t>
            </a:r>
          </a:p>
          <a:p xmlns:a="http://schemas.openxmlformats.org/drawingml/2006/main">
            <a:r>
              <a:t>Source: data/derived/project_model.json candidates and advanced_text.fold_audit.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05:10–08:10. Three-minute live demo. Start the server before the talk and open Dilworth Park. For the first 25 seconds, show observed capital efficiency of +60.0 and the near/comparison counts. Until 01:00, inspect learned topics and briefly open text-method details. From 01:00 to 01:55, use the proposal example, change cost from $55M to $80M, and reset. The fitted estimate changes from +56.7 to +53.2 reviews/$1M. This is an association, not a causal return from additional spending. From 01:55 to 02:35, show historical error, challenger results and timing sensitivity. Export the analysis by 02:50. If time remains, show Water Works: seven baseline-reviewed businesses, so the estimate is withheld. If the browser fails, use the captured screens in the deck and narrate recorded results. Do not debug live.</a:t>
            </a:r>
          </a:p>
          <a:p xmlns:a="http://schemas.openxmlformats.org/drawingml/2006/main">
            <a:r>
              <a:t>Sources: web/projects.html; web/model.html; docs/demo-runbook.md; docs/qa/validation.md. Screenshot: docs/qa/proposal-mobile.png.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08:10–09:15. This is the key boundary of the product claim. Excluding Rail and Gateway pandemic post windows removes the baseline advantage over a mean predictor. Removing Indianapolis construction overlap also worsens transfer error. Do not hide this. Five center proxies, nominal mixed-scope costs, historical Yelp participation, and unvalidated aspect labels further limit deployment. The useful product today is an inspectable evidence and scenario workflow.</a:t>
            </a:r>
          </a:p>
          <a:p xmlns:a="http://schemas.openxmlformats.org/drawingml/2006/main">
            <a:r>
              <a:t>Source: data/derived/project_model.json sensitivity; docs/project-source-audit.md.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09:15–10:00. Close with value and goal. We built an operational workflow that connects project records, unstructuredtext and comparable estimates, with assumptions exposed. The analysis is useful before the forecast is decision-grade. The next step is a focused pilot with one public official and a measured proposal profile, paired with broader project coverage, human aspect validation, and stronger outcome validation. The ask is to evaluate the workflow and evidence needs, not authorize a budget from this score.</a:t>
            </a:r>
          </a:p>
          <a:p xmlns:a="http://schemas.openxmlformats.org/drawingml/2006/main">
            <a:r>
              <a:t>Sources: docs/product-improvement-plan.md; docs/demo-runbook.md; docs/advanced-text-method.md.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model questions. All candidates use the same ten eligible project outcomes. The baseline uses log-transformed reported cost, baseline-reviewed businesses and reviews per reviewed business. Rule-text features add place-discussion, access-friction and public-realm complaint shares. The earlier-trend challenger adds the relative near/far change between early and baseline windows. Learned text adds five NMF topic weights, normalized topic entropy, mean log review length and lexical diversity. Ridge uses alpha 10, with scaling fitted inside each fold. Project type filters comparable cases and is not a model predictor.</a:t>
            </a:r>
          </a:p>
          <a:p xmlns:a="http://schemas.openxmlformats.org/drawingml/2006/main">
            <a:r>
              <a:t>Source: data/derived/project_model.json, feature_schema, candidates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the live browser fails or someone requests detail. This is a captured Dilworth Park project page. Point out baseline and post-opening mixtures, actual leading terms, sample sizes and topic diversity. The dominance of food/service language explains why whole-review sentiment cannot automatically represent public-space experience. The disclosure contains lexical measures and method detail. The screenshot records a tested state rather than a new live calculation.</a:t>
            </a:r>
          </a:p>
          <a:p xmlns:a="http://schemas.openxmlformats.org/drawingml/2006/main">
            <a:r>
              <a:t>Sources: docs/qa/advanced-text-desktop.png and data/derived/advanced_text.json.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method questions. Descriptive NLP fits 10,971 baseline reviews and projects post-opening reviews through the frozen basis. Predictive NLP uses its own sample of up to 500 reviews per project and fits vocabulary and NMF separately in 17 project/city folds. There is zero held-out review-ID overlap in text training. In two folds, strict overlap exclusion removes all sampled text from a training project, so that project's text features use the other training projects' means. Exact basis fingerprints guard profile imports. The full 1,063,956-review rule extraction is separate from sampled NMF analysis. The 731 annotation tasks contain blank labels and await independent human scoring. Site QA records 47 Python tests, three Node test files and desktop/mobile workflow checks.</a:t>
            </a:r>
          </a:p>
          <a:p xmlns:a="http://schemas.openxmlformats.org/drawingml/2006/main">
            <a:r>
              <a:t>Sources: docs/advanced-text-method.md; data/derived/project_model.json, advanced_text; docs/qa/validation.md.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fb13cc0d764c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d8e40c9bbb46ef" /><Relationship Type="http://schemas.openxmlformats.org/officeDocument/2006/relationships/slideLayout" Target="/ppt/slideLayouts/slideLayout1.xml" Id="R202425db94274f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2425db94274f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4314d50c874a42" /><Relationship Type="http://schemas.openxmlformats.org/officeDocument/2006/relationships/notesSlide" Target="/ppt/notesSlides/notesSlide1.xml" Id="Rc6f84027957e41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a9bc85f4764cad" /><Relationship Type="http://schemas.openxmlformats.org/officeDocument/2006/relationships/notesSlide" Target="/ppt/notesSlides/notesSlide2.xml" Id="R033f46895a5247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383abc082f4931" /><Relationship Type="http://schemas.openxmlformats.org/officeDocument/2006/relationships/notesSlide" Target="/ppt/notesSlides/notesSlide3.xml" Id="R06cb48c4451649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e1771226c64757" /><Relationship Type="http://schemas.openxmlformats.org/officeDocument/2006/relationships/notesSlide" Target="/ppt/notesSlides/notesSlide4.xml" Id="R6ed6ec6fee6d4a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2fbad8229c487b" /><Relationship Type="http://schemas.openxmlformats.org/officeDocument/2006/relationships/chart" Target="/ppt/slides/charts/chart1.xml" Id="Rbc508e4b3df94d40" /><Relationship Type="http://schemas.openxmlformats.org/officeDocument/2006/relationships/notesSlide" Target="/ppt/notesSlides/notesSlide5.xml" Id="R40fba271e9204c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d9e1c37c2a4fff" /><Relationship Type="http://schemas.openxmlformats.org/officeDocument/2006/relationships/notesSlide" Target="/ppt/notesSlides/notesSlide6.xml" Id="R73d3e6848deb4d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9702be7dc341fb" /><Relationship Type="http://schemas.openxmlformats.org/officeDocument/2006/relationships/chart" Target="/ppt/slides/charts/chart2.xml" Id="R6f15811444a24f1c" /><Relationship Type="http://schemas.openxmlformats.org/officeDocument/2006/relationships/notesSlide" Target="/ppt/notesSlides/notesSlide7.xml" Id="R3a565e489adf43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e577ab988c4bcf" /><Relationship Type="http://schemas.openxmlformats.org/officeDocument/2006/relationships/image" Target="/ppt/media/image.jpeg" Id="Rd69168def0ee4f2a" /><Relationship Type="http://schemas.openxmlformats.org/officeDocument/2006/relationships/notesSlide" Target="/ppt/notesSlides/notesSlide8.xml" Id="R71a1b8cb81034e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b32b9a36154041" /><Relationship Type="http://schemas.openxmlformats.org/officeDocument/2006/relationships/notesSlide" Target="/ppt/notesSlides/notesSlide9.xml" Id="Rfb7ce2ba422d42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6b86fc2e7b4552" /><Relationship Type="http://schemas.openxmlformats.org/officeDocument/2006/relationships/notesSlide" Target="/ppt/notesSlides/notesSlide10.xml" Id="R502d6975c13f4a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9a92f29c3b4810" /><Relationship Type="http://schemas.openxmlformats.org/officeDocument/2006/relationships/notesSlide" Target="/ppt/notesSlides/notesSlide11.xml" Id="R3d50b0d1c1044b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df1ecb28314cf8" /><Relationship Type="http://schemas.openxmlformats.org/officeDocument/2006/relationships/image" Target="/ppt/media/image2.jpeg" Id="R840c8f6f0fa44e2c" /><Relationship Type="http://schemas.openxmlformats.org/officeDocument/2006/relationships/notesSlide" Target="/ppt/notesSlides/notesSlide12.xml" Id="Rab8a5973810141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553b1cc00a495c" /><Relationship Type="http://schemas.openxmlformats.org/officeDocument/2006/relationships/notesSlide" Target="/ppt/notesSlides/notesSlide13.xml" Id="Rf2066d61ed8b474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Baseline</c:v>
          </c:tx>
          <c:spPr>
            <a:solidFill xmlns:a="http://schemas.openxmlformats.org/drawingml/2006/main">
              <a:srgbClr val="376F61"/>
            </a:solidFill>
          </c:spPr>
          <c:cat>
            <c:strRef>
              <c:f>'Chart Data'!$A$2:$A$6</c:f>
              <c:strCache>
                <c:ptCount val="5"/>
                <c:pt idx="0">
                  <c:v>chicken / good / food</c:v>
                </c:pt>
                <c:pt idx="1">
                  <c:v>just / like / time</c:v>
                </c:pt>
                <c:pt idx="2">
                  <c:v>great / food / good</c:v>
                </c:pt>
                <c:pt idx="3">
                  <c:v>pizza / crust / slice</c:v>
                </c:pt>
                <c:pt idx="4">
                  <c:v>ice / cream / ice cream</c:v>
                </c:pt>
              </c:strCache>
            </c:strRef>
          </c:cat>
          <c:val>
            <c:numRef>
              <c:f>'Chart Data'!$B$2:$B$6</c:f>
              <c:numCache>
                <c:formatCode>0.0%</c:formatCode>
                <c:ptCount val="5"/>
                <c:pt idx="0">
                  <c:v>0.249</c:v>
                </c:pt>
                <c:pt idx="1">
                  <c:v>0.371</c:v>
                </c:pt>
                <c:pt idx="2">
                  <c:v>0.239</c:v>
                </c:pt>
                <c:pt idx="3">
                  <c:v>0.068</c:v>
                </c:pt>
                <c:pt idx="4">
                  <c:v>0.073</c:v>
                </c:pt>
              </c:numCache>
            </c:numRef>
          </c:val>
        </c:ser>
        <c:ser>
          <c:idx val="1"/>
          <c:order val="1"/>
          <c:tx>
            <c:v>Post-opening</c:v>
          </c:tx>
          <c:spPr>
            <a:solidFill xmlns:a="http://schemas.openxmlformats.org/drawingml/2006/main">
              <a:srgbClr val="AD7950"/>
            </a:solidFill>
          </c:spPr>
          <c:cat>
            <c:strRef>
              <c:f>'Chart Data'!$C$2:$C$6</c:f>
              <c:strCache>
                <c:ptCount val="5"/>
                <c:pt idx="0">
                  <c:v>chicken / good / food</c:v>
                </c:pt>
                <c:pt idx="1">
                  <c:v>just / like / time</c:v>
                </c:pt>
                <c:pt idx="2">
                  <c:v>great / food / good</c:v>
                </c:pt>
                <c:pt idx="3">
                  <c:v>pizza / crust / slice</c:v>
                </c:pt>
                <c:pt idx="4">
                  <c:v>ice / cream / ice cream</c:v>
                </c:pt>
              </c:strCache>
            </c:strRef>
          </c:cat>
          <c:val>
            <c:numRef>
              <c:f>'Chart Data'!$D$2:$D$6</c:f>
              <c:numCache>
                <c:formatCode>0.0%</c:formatCode>
                <c:ptCount val="5"/>
                <c:pt idx="0">
                  <c:v>0.292</c:v>
                </c:pt>
                <c:pt idx="1">
                  <c:v>0.301</c:v>
                </c:pt>
                <c:pt idx="2">
                  <c:v>0.279</c:v>
                </c:pt>
                <c:pt idx="3">
                  <c:v>0.063</c:v>
                </c:pt>
                <c:pt idx="4">
                  <c:v>0.065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3D3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D7DDD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D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43D3B"/>
                </a:solidFill>
                <a:latin typeface="Arial"/>
                <a:ea typeface="Arial"/>
                <a:cs typeface="Arial"/>
              </a:defRPr>
            </a:pPr>
          </a:p>
        </c:txPr>
        <c:crossAx val="48650112"/>
        <c:crossBetween val="between"/>
      </c:valAx>
      <c:spPr>
        <a:solidFill xmlns:a="http://schemas.openxmlformats.org/drawingml/2006/main">
          <a:srgbClr val="F5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43D3B"/>
              </a:solidFill>
              <a:latin typeface="Arial"/>
              <a:ea typeface="Arial"/>
              <a:cs typeface="Arial"/>
            </a:defRPr>
          </a:pPr>
        </a:p>
      </c:txPr>
    </c:legend>
    <c:plotVisOnly val="1"/>
  </c:chart>
  <c:spPr>
    <a:solidFill xmlns:a="http://schemas.openxmlformats.org/drawingml/2006/main">
      <a:srgbClr val="F5F3E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City-held-out MAE</c:v>
          </c:tx>
          <c:spPr>
            <a:solidFill xmlns:a="http://schemas.openxmlformats.org/drawingml/2006/main">
              <a:srgbClr val="376F61"/>
            </a:solidFill>
          </c:spPr>
          <c:cat>
            <c:strRef>
              <c:f>'Chart Data'!$A$2:$A$4</c:f>
              <c:strCache>
                <c:ptCount val="3"/>
                <c:pt idx="0">
                  <c:v>Mean benchmark</c:v>
                </c:pt>
                <c:pt idx="1">
                  <c:v>Review activity + cost</c:v>
                </c:pt>
                <c:pt idx="2">
                  <c:v>Plus learned text</c:v>
                </c:pt>
              </c:strCache>
            </c:strRef>
          </c:cat>
          <c:val>
            <c:numRef>
              <c:f>'Chart Data'!$B$2:$B$4</c:f>
              <c:numCache>
                <c:formatCode>0.0</c:formatCode>
                <c:ptCount val="3"/>
                <c:pt idx="0">
                  <c:v>58.5</c:v>
                </c:pt>
                <c:pt idx="1">
                  <c:v>45.6</c:v>
                </c:pt>
                <c:pt idx="2">
                  <c:v>46.7</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3D3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D7DDD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D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43D3B"/>
                </a:solidFill>
                <a:latin typeface="Arial"/>
                <a:ea typeface="Arial"/>
                <a:cs typeface="Arial"/>
              </a:defRPr>
            </a:pPr>
          </a:p>
        </c:txPr>
        <c:crossAx val="48650112"/>
        <c:crossBetween val="between"/>
      </c:valAx>
      <c:spPr>
        <a:solidFill xmlns:a="http://schemas.openxmlformats.org/drawingml/2006/main">
          <a:srgbClr val="F5F3ED"/>
        </a:solidFill>
        <a:ln xmlns:a="http://schemas.openxmlformats.org/drawingml/2006/main" w="0">
          <a:noFill/>
        </a:ln>
      </c:spPr>
    </c:plotArea>
    <c:plotVisOnly val="1"/>
  </c:chart>
  <c:spPr>
    <a:solidFill xmlns:a="http://schemas.openxmlformats.org/drawingml/2006/main">
      <a:srgbClr val="F5F3E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3D3B"/>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EE73E2DB-5A92-47F1-9934-32573EAD0F61}"/>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C4BA"/>
                </a:solidFill>
                <a:latin typeface="Arial"/>
                <a:ea typeface="Arial"/>
                <a:cs typeface="Arial"/>
              </a:defRPr>
            </a:pPr>
            <a:r>
              <a:rPr sz="1275" b="0">
                <a:solidFill>
                  <a:srgbClr val="AFC4BA"/>
                </a:solidFill>
                <a:latin typeface="Arial"/>
                <a:ea typeface="Arial"/>
                <a:cs typeface="Arial"/>
              </a:rPr>
              <a:t>01</a:t>
            </a:r>
          </a:p>
        </p:txBody>
      </p:sp>
      <p:sp>
        <p:nvSpPr>
          <p:cNvPr id="2" name="Public Investment&#10;Evidence">
            <a:extLst xmlns:a="http://schemas.openxmlformats.org/drawingml/2006/main">
              <a:ext uri="{FF2B5EF4-FFF2-40B4-BE49-F238E27FC236}">
                <a16:creationId xmlns:a16="http://schemas.microsoft.com/office/drawing/2014/main" id="{8AB2C541-F66E-42C6-B099-91BA493030D4}"/>
              </a:ext>
            </a:extLst>
          </p:cNvPr>
          <p:cNvSpPr>
            <a:spLocks xmlns:a="http://schemas.openxmlformats.org/drawingml/2006/main" noGrp="1"/>
          </p:cNvSpPr>
          <p:nvPr/>
        </p:nvSpPr>
        <p:spPr>
          <a:xfrm xmlns:a="http://schemas.openxmlformats.org/drawingml/2006/main">
            <a:off x="609600" y="13525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F5F3ED"/>
                </a:solidFill>
                <a:latin typeface="Arial"/>
                <a:ea typeface="Arial"/>
                <a:cs typeface="Arial"/>
              </a:defRPr>
            </a:pPr>
            <a:r>
              <a:rPr sz="5850" b="1">
                <a:solidFill>
                  <a:srgbClr val="F5F3ED"/>
                </a:solidFill>
                <a:latin typeface="Arial"/>
                <a:ea typeface="Arial"/>
                <a:cs typeface="Arial"/>
              </a:rPr>
              <a:t>Public Investment</a:t>
            </a:r>
          </a:p>
          <a:p xmlns:a="http://schemas.openxmlformats.org/drawingml/2006/main">
            <a:pPr>
              <a:defRPr sz="5850" b="1">
                <a:solidFill>
                  <a:srgbClr val="F5F3ED"/>
                </a:solidFill>
                <a:latin typeface="Arial"/>
                <a:ea typeface="Arial"/>
                <a:cs typeface="Arial"/>
              </a:defRPr>
            </a:pPr>
            <a:r>
              <a:rPr sz="5850" b="1">
                <a:solidFill>
                  <a:srgbClr val="F5F3ED"/>
                </a:solidFill>
                <a:latin typeface="Arial"/>
                <a:ea typeface="Arial"/>
                <a:cs typeface="Arial"/>
              </a:rPr>
              <a:t>Evidence</a:t>
            </a:r>
          </a:p>
        </p:txBody>
      </p:sp>
      <p:sp>
        <p:nvSpPr>
          <p:cNvPr id="3" name="Unstructured reviews for public-proj">
            <a:extLst xmlns:a="http://schemas.openxmlformats.org/drawingml/2006/main">
              <a:ext uri="{FF2B5EF4-FFF2-40B4-BE49-F238E27FC236}">
                <a16:creationId xmlns:a16="http://schemas.microsoft.com/office/drawing/2014/main" id="{58D96BAA-384B-4D33-A346-9BA1EF32C32E}"/>
              </a:ext>
            </a:extLst>
          </p:cNvPr>
          <p:cNvSpPr>
            <a:spLocks xmlns:a="http://schemas.openxmlformats.org/drawingml/2006/main" noGrp="1"/>
          </p:cNvSpPr>
          <p:nvPr/>
        </p:nvSpPr>
        <p:spPr>
          <a:xfrm xmlns:a="http://schemas.openxmlformats.org/drawingml/2006/main">
            <a:off x="647700" y="34480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C6D9CD"/>
                </a:solidFill>
                <a:latin typeface="Arial"/>
                <a:ea typeface="Arial"/>
                <a:cs typeface="Arial"/>
              </a:defRPr>
            </a:pPr>
            <a:r>
              <a:rPr sz="2625" b="0">
                <a:solidFill>
                  <a:srgbClr val="C6D9CD"/>
                </a:solidFill>
                <a:latin typeface="Arial"/>
                <a:ea typeface="Arial"/>
                <a:cs typeface="Arial"/>
              </a:rPr>
              <a:t>Unstructured reviews for public-project analysis</a:t>
            </a:r>
          </a:p>
        </p:txBody>
      </p:sp>
      <p:sp>
        <p:nvSpPr>
          <p:cNvPr id="4" name="CIS 509   Team 4">
            <a:extLst xmlns:a="http://schemas.openxmlformats.org/drawingml/2006/main">
              <a:ext uri="{FF2B5EF4-FFF2-40B4-BE49-F238E27FC236}">
                <a16:creationId xmlns:a16="http://schemas.microsoft.com/office/drawing/2014/main" id="{DEC93CFA-1C9E-4436-92E3-0FDFC2042E5D}"/>
              </a:ext>
            </a:extLst>
          </p:cNvPr>
          <p:cNvSpPr>
            <a:spLocks xmlns:a="http://schemas.openxmlformats.org/drawingml/2006/main" noGrp="1"/>
          </p:cNvSpPr>
          <p:nvPr/>
        </p:nvSpPr>
        <p:spPr>
          <a:xfrm xmlns:a="http://schemas.openxmlformats.org/drawingml/2006/main">
            <a:off x="647700" y="543877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5F3ED"/>
                </a:solidFill>
                <a:latin typeface="Arial"/>
                <a:ea typeface="Arial"/>
                <a:cs typeface="Arial"/>
              </a:defRPr>
            </a:pPr>
            <a:r>
              <a:rPr sz="1875" b="0">
                <a:solidFill>
                  <a:srgbClr val="F5F3ED"/>
                </a:solidFill>
                <a:latin typeface="Arial"/>
                <a:ea typeface="Arial"/>
                <a:cs typeface="Arial"/>
              </a:rPr>
              <a:t>CIS 509   Team 4</a:t>
            </a:r>
          </a:p>
        </p:txBody>
      </p:sp>
      <p:sp>
        <p:nvSpPr>
          <p:cNvPr id="5" name="John Wheeler, Ryan Wolff, Cameron An">
            <a:extLst xmlns:a="http://schemas.openxmlformats.org/drawingml/2006/main">
              <a:ext uri="{FF2B5EF4-FFF2-40B4-BE49-F238E27FC236}">
                <a16:creationId xmlns:a16="http://schemas.microsoft.com/office/drawing/2014/main" id="{41B805AB-80DD-4FC0-9009-C51AEEFDE592}"/>
              </a:ext>
            </a:extLst>
          </p:cNvPr>
          <p:cNvSpPr>
            <a:spLocks xmlns:a="http://schemas.openxmlformats.org/drawingml/2006/main" noGrp="1"/>
          </p:cNvSpPr>
          <p:nvPr/>
        </p:nvSpPr>
        <p:spPr>
          <a:xfrm xmlns:a="http://schemas.openxmlformats.org/drawingml/2006/main">
            <a:off x="647700" y="58197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6D9CD"/>
                </a:solidFill>
                <a:latin typeface="Arial"/>
                <a:ea typeface="Arial"/>
                <a:cs typeface="Arial"/>
              </a:defRPr>
            </a:pPr>
            <a:r>
              <a:rPr sz="1725" b="0">
                <a:solidFill>
                  <a:srgbClr val="C6D9CD"/>
                </a:solidFill>
                <a:latin typeface="Arial"/>
                <a:ea typeface="Arial"/>
                <a:cs typeface="Arial"/>
              </a:rPr>
              <a:t>John Wheeler, Ryan Wolff, Cameron Anthony</a:t>
            </a:r>
          </a:p>
        </p:txBody>
      </p:sp>
    </p:spTree>
    <p:extLst>
      <p:ext uri="{BB962C8B-B14F-4D97-AF65-F5344CB8AC3E}">
        <p14:creationId xmlns:p14="http://schemas.microsoft.com/office/powerpoint/2010/main" val="519777707"/>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9" name="The goal: a better-informed project ">
            <a:extLst xmlns:a="http://schemas.openxmlformats.org/drawingml/2006/main">
              <a:ext uri="{FF2B5EF4-FFF2-40B4-BE49-F238E27FC236}">
                <a16:creationId xmlns:a16="http://schemas.microsoft.com/office/drawing/2014/main" id="{51B3D48C-DB83-4B98-AC82-B4BCDC7EAC1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The goal: a better-informed project proposal</a:t>
            </a:r>
          </a:p>
        </p:txBody>
      </p:sp>
      <p:sp>
        <p:nvSpPr>
          <p:cNvPr id="2" name="02">
            <a:extLst xmlns:a="http://schemas.openxmlformats.org/drawingml/2006/main">
              <a:ext uri="{FF2B5EF4-FFF2-40B4-BE49-F238E27FC236}">
                <a16:creationId xmlns:a16="http://schemas.microsoft.com/office/drawing/2014/main" id="{0EB68D31-DCF5-467A-BC24-239B1B7B237B}"/>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02</a:t>
            </a:r>
          </a:p>
        </p:txBody>
      </p:sp>
      <p:sp>
        <p:nvSpPr>
          <p:cNvPr id="3" name="“If we build a project here, what lo">
            <a:extLst xmlns:a="http://schemas.openxmlformats.org/drawingml/2006/main">
              <a:ext uri="{FF2B5EF4-FFF2-40B4-BE49-F238E27FC236}">
                <a16:creationId xmlns:a16="http://schemas.microsoft.com/office/drawing/2014/main" id="{980BFDF5-2182-4D0B-A4B1-87891B69086C}"/>
              </a:ext>
            </a:extLst>
          </p:cNvPr>
          <p:cNvSpPr>
            <a:spLocks xmlns:a="http://schemas.openxmlformats.org/drawingml/2006/main" noGrp="1"/>
          </p:cNvSpPr>
          <p:nvPr/>
        </p:nvSpPr>
        <p:spPr>
          <a:xfrm xmlns:a="http://schemas.openxmlformats.org/drawingml/2006/main">
            <a:off x="609600" y="158115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43D3B"/>
                </a:solidFill>
                <a:latin typeface="Arial"/>
                <a:ea typeface="Arial"/>
                <a:cs typeface="Arial"/>
              </a:defRPr>
            </a:pPr>
            <a:r>
              <a:rPr sz="2925" b="1">
                <a:solidFill>
                  <a:srgbClr val="243D3B"/>
                </a:solidFill>
                <a:latin typeface="Arial"/>
                <a:ea typeface="Arial"/>
                <a:cs typeface="Arial"/>
              </a:rPr>
              <a:t>“If we build a project here, what local activity</a:t>
            </a:r>
          </a:p>
          <a:p xmlns:a="http://schemas.openxmlformats.org/drawingml/2006/main">
            <a:pPr>
              <a:defRPr sz="2925" b="1">
                <a:solidFill>
                  <a:srgbClr val="243D3B"/>
                </a:solidFill>
                <a:latin typeface="Arial"/>
                <a:ea typeface="Arial"/>
                <a:cs typeface="Arial"/>
              </a:defRPr>
            </a:pPr>
            <a:r>
              <a:rPr sz="2925" b="1">
                <a:solidFill>
                  <a:srgbClr val="243D3B"/>
                </a:solidFill>
                <a:latin typeface="Arial"/>
                <a:ea typeface="Arial"/>
                <a:cs typeface="Arial"/>
              </a:rPr>
              <a:t>might follow per dollar?”</a:t>
            </a:r>
          </a:p>
        </p:txBody>
      </p:sp>
      <p:sp>
        <p:nvSpPr>
          <p:cNvPr id="4" name="Completed projects">
            <a:extLst xmlns:a="http://schemas.openxmlformats.org/drawingml/2006/main">
              <a:ext uri="{FF2B5EF4-FFF2-40B4-BE49-F238E27FC236}">
                <a16:creationId xmlns:a16="http://schemas.microsoft.com/office/drawing/2014/main" id="{1E9F5668-45B1-4C74-B653-E7A4E2B6D3B0}"/>
              </a:ext>
            </a:extLst>
          </p:cNvPr>
          <p:cNvSpPr>
            <a:spLocks xmlns:a="http://schemas.openxmlformats.org/drawingml/2006/main" noGrp="1"/>
          </p:cNvSpPr>
          <p:nvPr/>
        </p:nvSpPr>
        <p:spPr>
          <a:xfrm xmlns:a="http://schemas.openxmlformats.org/drawingml/2006/main">
            <a:off x="609600" y="32766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76F61"/>
                </a:solidFill>
                <a:latin typeface="Arial"/>
                <a:ea typeface="Arial"/>
                <a:cs typeface="Arial"/>
              </a:defRPr>
            </a:pPr>
            <a:r>
              <a:rPr sz="2400" b="1">
                <a:solidFill>
                  <a:srgbClr val="376F61"/>
                </a:solidFill>
                <a:latin typeface="Arial"/>
                <a:ea typeface="Arial"/>
                <a:cs typeface="Arial"/>
              </a:rPr>
              <a:t>Completed projects</a:t>
            </a:r>
          </a:p>
        </p:txBody>
      </p:sp>
      <p:sp>
        <p:nvSpPr>
          <p:cNvPr id="5" name="Inspect outcomes, review language,&#10;c">
            <a:extLst xmlns:a="http://schemas.openxmlformats.org/drawingml/2006/main">
              <a:ext uri="{FF2B5EF4-FFF2-40B4-BE49-F238E27FC236}">
                <a16:creationId xmlns:a16="http://schemas.microsoft.com/office/drawing/2014/main" id="{E5CCBE6B-8534-40F1-AB1A-67FB3207DFF8}"/>
              </a:ext>
            </a:extLst>
          </p:cNvPr>
          <p:cNvSpPr>
            <a:spLocks xmlns:a="http://schemas.openxmlformats.org/drawingml/2006/main" noGrp="1"/>
          </p:cNvSpPr>
          <p:nvPr/>
        </p:nvSpPr>
        <p:spPr>
          <a:xfrm xmlns:a="http://schemas.openxmlformats.org/drawingml/2006/main">
            <a:off x="609600" y="390525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Inspect outcomes, review language,</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coverage and source assumptions.</a:t>
            </a:r>
          </a:p>
        </p:txBody>
      </p:sp>
      <p:sp>
        <p:nvSpPr>
          <p:cNvPr id="6" name="Proposed projects">
            <a:extLst xmlns:a="http://schemas.openxmlformats.org/drawingml/2006/main">
              <a:ext uri="{FF2B5EF4-FFF2-40B4-BE49-F238E27FC236}">
                <a16:creationId xmlns:a16="http://schemas.microsoft.com/office/drawing/2014/main" id="{93034111-D68B-426C-BA3A-F98C2D985521}"/>
              </a:ext>
            </a:extLst>
          </p:cNvPr>
          <p:cNvSpPr>
            <a:spLocks xmlns:a="http://schemas.openxmlformats.org/drawingml/2006/main" noGrp="1"/>
          </p:cNvSpPr>
          <p:nvPr/>
        </p:nvSpPr>
        <p:spPr>
          <a:xfrm xmlns:a="http://schemas.openxmlformats.org/drawingml/2006/main">
            <a:off x="6543675" y="32766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76F61"/>
                </a:solidFill>
                <a:latin typeface="Arial"/>
                <a:ea typeface="Arial"/>
                <a:cs typeface="Arial"/>
              </a:defRPr>
            </a:pPr>
            <a:r>
              <a:rPr sz="2400" b="1">
                <a:solidFill>
                  <a:srgbClr val="376F61"/>
                </a:solidFill>
                <a:latin typeface="Arial"/>
                <a:ea typeface="Arial"/>
                <a:cs typeface="Arial"/>
              </a:rPr>
              <a:t>Proposed projects</a:t>
            </a:r>
          </a:p>
        </p:txBody>
      </p:sp>
      <p:sp>
        <p:nvSpPr>
          <p:cNvPr id="7" name="Enter local conditions, compare case">
            <a:extLst xmlns:a="http://schemas.openxmlformats.org/drawingml/2006/main">
              <a:ext uri="{FF2B5EF4-FFF2-40B4-BE49-F238E27FC236}">
                <a16:creationId xmlns:a16="http://schemas.microsoft.com/office/drawing/2014/main" id="{80968604-BE8D-4128-9757-ADAE657A16F5}"/>
              </a:ext>
            </a:extLst>
          </p:cNvPr>
          <p:cNvSpPr>
            <a:spLocks xmlns:a="http://schemas.openxmlformats.org/drawingml/2006/main" noGrp="1"/>
          </p:cNvSpPr>
          <p:nvPr/>
        </p:nvSpPr>
        <p:spPr>
          <a:xfrm xmlns:a="http://schemas.openxmlformats.org/drawingml/2006/main">
            <a:off x="6543675" y="390525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Enter local conditions, compare cases</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and examine an experimental estimate.</a:t>
            </a:r>
          </a:p>
        </p:txBody>
      </p:sp>
      <p:sp>
        <p:nvSpPr>
          <p:cNvPr id="8" name="Current outcome: growth-adjusted Yel">
            <a:extLst xmlns:a="http://schemas.openxmlformats.org/drawingml/2006/main">
              <a:ext uri="{FF2B5EF4-FFF2-40B4-BE49-F238E27FC236}">
                <a16:creationId xmlns:a16="http://schemas.microsoft.com/office/drawing/2014/main" id="{EBBCF486-81B2-4E5B-8090-9FD873588B78}"/>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Current outcome: growth-adjusted Yelp review activity per $1 million of reported cost</a:t>
            </a:r>
          </a:p>
        </p:txBody>
      </p:sp>
    </p:spTree>
    <p:extLst>
      <p:ext uri="{BB962C8B-B14F-4D97-AF65-F5344CB8AC3E}">
        <p14:creationId xmlns:p14="http://schemas.microsoft.com/office/powerpoint/2010/main" val="609605842"/>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2" name="Large text coverage, small predictio">
            <a:extLst xmlns:a="http://schemas.openxmlformats.org/drawingml/2006/main">
              <a:ext uri="{FF2B5EF4-FFF2-40B4-BE49-F238E27FC236}">
                <a16:creationId xmlns:a16="http://schemas.microsoft.com/office/drawing/2014/main" id="{92EBECC9-FC8A-4584-B72D-0245512C9310}"/>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Large text coverage, small prediction sample</a:t>
            </a:r>
          </a:p>
        </p:txBody>
      </p:sp>
      <p:sp>
        <p:nvSpPr>
          <p:cNvPr id="2" name="03">
            <a:extLst xmlns:a="http://schemas.openxmlformats.org/drawingml/2006/main">
              <a:ext uri="{FF2B5EF4-FFF2-40B4-BE49-F238E27FC236}">
                <a16:creationId xmlns:a16="http://schemas.microsoft.com/office/drawing/2014/main" id="{FF289D97-5441-4DD6-ADD0-228A6DA21B98}"/>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03</a:t>
            </a:r>
          </a:p>
        </p:txBody>
      </p:sp>
      <p:sp>
        <p:nvSpPr>
          <p:cNvPr id="3" name="1.06M">
            <a:extLst xmlns:a="http://schemas.openxmlformats.org/drawingml/2006/main">
              <a:ext uri="{FF2B5EF4-FFF2-40B4-BE49-F238E27FC236}">
                <a16:creationId xmlns:a16="http://schemas.microsoft.com/office/drawing/2014/main" id="{CF854328-CDB3-4120-89A3-8982BE9EDC26}"/>
              </a:ext>
            </a:extLst>
          </p:cNvPr>
          <p:cNvSpPr>
            <a:spLocks xmlns:a="http://schemas.openxmlformats.org/drawingml/2006/main" noGrp="1"/>
          </p:cNvSpPr>
          <p:nvPr/>
        </p:nvSpPr>
        <p:spPr>
          <a:xfrm xmlns:a="http://schemas.openxmlformats.org/drawingml/2006/main">
            <a:off x="609600" y="176212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76F61"/>
                </a:solidFill>
                <a:latin typeface="Arial"/>
                <a:ea typeface="Arial"/>
                <a:cs typeface="Arial"/>
              </a:defRPr>
            </a:pPr>
            <a:r>
              <a:rPr sz="5700" b="1">
                <a:solidFill>
                  <a:srgbClr val="376F61"/>
                </a:solidFill>
                <a:latin typeface="Arial"/>
                <a:ea typeface="Arial"/>
                <a:cs typeface="Arial"/>
              </a:rPr>
              <a:t>1.06M</a:t>
            </a:r>
          </a:p>
        </p:txBody>
      </p:sp>
      <p:sp>
        <p:nvSpPr>
          <p:cNvPr id="4" name="unique reviews scored">
            <a:extLst xmlns:a="http://schemas.openxmlformats.org/drawingml/2006/main">
              <a:ext uri="{FF2B5EF4-FFF2-40B4-BE49-F238E27FC236}">
                <a16:creationId xmlns:a16="http://schemas.microsoft.com/office/drawing/2014/main" id="{405514AA-F77A-48A0-AB4C-874996D12264}"/>
              </a:ext>
            </a:extLst>
          </p:cNvPr>
          <p:cNvSpPr>
            <a:spLocks xmlns:a="http://schemas.openxmlformats.org/drawingml/2006/main" noGrp="1"/>
          </p:cNvSpPr>
          <p:nvPr/>
        </p:nvSpPr>
        <p:spPr>
          <a:xfrm xmlns:a="http://schemas.openxmlformats.org/drawingml/2006/main">
            <a:off x="609600" y="2857500"/>
            <a:ext cx="3381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unique reviews scored</a:t>
            </a:r>
          </a:p>
        </p:txBody>
      </p:sp>
      <p:sp>
        <p:nvSpPr>
          <p:cNvPr id="5" name="11">
            <a:extLst xmlns:a="http://schemas.openxmlformats.org/drawingml/2006/main">
              <a:ext uri="{FF2B5EF4-FFF2-40B4-BE49-F238E27FC236}">
                <a16:creationId xmlns:a16="http://schemas.microsoft.com/office/drawing/2014/main" id="{562C483A-9BD0-4676-AE3B-90CBAB0367BB}"/>
              </a:ext>
            </a:extLst>
          </p:cNvPr>
          <p:cNvSpPr>
            <a:spLocks xmlns:a="http://schemas.openxmlformats.org/drawingml/2006/main" noGrp="1"/>
          </p:cNvSpPr>
          <p:nvPr/>
        </p:nvSpPr>
        <p:spPr>
          <a:xfrm xmlns:a="http://schemas.openxmlformats.org/drawingml/2006/main">
            <a:off x="4543425" y="17621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76F61"/>
                </a:solidFill>
                <a:latin typeface="Arial"/>
                <a:ea typeface="Arial"/>
                <a:cs typeface="Arial"/>
              </a:defRPr>
            </a:pPr>
            <a:r>
              <a:rPr sz="5700" b="1">
                <a:solidFill>
                  <a:srgbClr val="376F61"/>
                </a:solidFill>
                <a:latin typeface="Arial"/>
                <a:ea typeface="Arial"/>
                <a:cs typeface="Arial"/>
              </a:rPr>
              <a:t>11</a:t>
            </a:r>
          </a:p>
        </p:txBody>
      </p:sp>
      <p:sp>
        <p:nvSpPr>
          <p:cNvPr id="6" name="projects across 7 cities">
            <a:extLst xmlns:a="http://schemas.openxmlformats.org/drawingml/2006/main">
              <a:ext uri="{FF2B5EF4-FFF2-40B4-BE49-F238E27FC236}">
                <a16:creationId xmlns:a16="http://schemas.microsoft.com/office/drawing/2014/main" id="{76CDB3AC-E554-4D78-AEF9-A75707F273F0}"/>
              </a:ext>
            </a:extLst>
          </p:cNvPr>
          <p:cNvSpPr>
            <a:spLocks xmlns:a="http://schemas.openxmlformats.org/drawingml/2006/main" noGrp="1"/>
          </p:cNvSpPr>
          <p:nvPr/>
        </p:nvSpPr>
        <p:spPr>
          <a:xfrm xmlns:a="http://schemas.openxmlformats.org/drawingml/2006/main">
            <a:off x="4543425" y="28575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projects across 7 cities</a:t>
            </a:r>
          </a:p>
        </p:txBody>
      </p:sp>
      <p:sp>
        <p:nvSpPr>
          <p:cNvPr id="7" name="10">
            <a:extLst xmlns:a="http://schemas.openxmlformats.org/drawingml/2006/main">
              <a:ext uri="{FF2B5EF4-FFF2-40B4-BE49-F238E27FC236}">
                <a16:creationId xmlns:a16="http://schemas.microsoft.com/office/drawing/2014/main" id="{796B2556-CD94-4882-B674-96D3860A1A5E}"/>
              </a:ext>
            </a:extLst>
          </p:cNvPr>
          <p:cNvSpPr>
            <a:spLocks xmlns:a="http://schemas.openxmlformats.org/drawingml/2006/main" noGrp="1"/>
          </p:cNvSpPr>
          <p:nvPr/>
        </p:nvSpPr>
        <p:spPr>
          <a:xfrm xmlns:a="http://schemas.openxmlformats.org/drawingml/2006/main">
            <a:off x="8477250" y="17621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AD7950"/>
                </a:solidFill>
                <a:latin typeface="Arial"/>
                <a:ea typeface="Arial"/>
                <a:cs typeface="Arial"/>
              </a:defRPr>
            </a:pPr>
            <a:r>
              <a:rPr sz="5700" b="1">
                <a:solidFill>
                  <a:srgbClr val="AD7950"/>
                </a:solidFill>
                <a:latin typeface="Arial"/>
                <a:ea typeface="Arial"/>
                <a:cs typeface="Arial"/>
              </a:rPr>
              <a:t>10</a:t>
            </a:r>
          </a:p>
        </p:txBody>
      </p:sp>
      <p:sp>
        <p:nvSpPr>
          <p:cNvPr id="8" name="eligible project outcomes">
            <a:extLst xmlns:a="http://schemas.openxmlformats.org/drawingml/2006/main">
              <a:ext uri="{FF2B5EF4-FFF2-40B4-BE49-F238E27FC236}">
                <a16:creationId xmlns:a16="http://schemas.microsoft.com/office/drawing/2014/main" id="{4C178E5C-D640-4E76-A6D2-029C37A3B473}"/>
              </a:ext>
            </a:extLst>
          </p:cNvPr>
          <p:cNvSpPr>
            <a:spLocks xmlns:a="http://schemas.openxmlformats.org/drawingml/2006/main" noGrp="1"/>
          </p:cNvSpPr>
          <p:nvPr/>
        </p:nvSpPr>
        <p:spPr>
          <a:xfrm xmlns:a="http://schemas.openxmlformats.org/drawingml/2006/main">
            <a:off x="8477250" y="28575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eligible project outcomes</a:t>
            </a:r>
          </a:p>
        </p:txBody>
      </p:sp>
      <p:sp>
        <p:nvSpPr>
          <p:cNvPr id="9" name="Learned-topic analysis uses 23,691 s">
            <a:extLst xmlns:a="http://schemas.openxmlformats.org/drawingml/2006/main">
              <a:ext uri="{FF2B5EF4-FFF2-40B4-BE49-F238E27FC236}">
                <a16:creationId xmlns:a16="http://schemas.microsoft.com/office/drawing/2014/main" id="{ECEA5B2D-21C8-4AC5-BBD9-E1D19BABA0D1}"/>
              </a:ext>
            </a:extLst>
          </p:cNvPr>
          <p:cNvSpPr>
            <a:spLocks xmlns:a="http://schemas.openxmlformats.org/drawingml/2006/main" noGrp="1"/>
          </p:cNvSpPr>
          <p:nvPr/>
        </p:nvSpPr>
        <p:spPr>
          <a:xfrm xmlns:a="http://schemas.openxmlformats.org/drawingml/2006/main">
            <a:off x="609600" y="42386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43D3B"/>
                </a:solidFill>
                <a:latin typeface="Arial"/>
                <a:ea typeface="Arial"/>
                <a:cs typeface="Arial"/>
              </a:defRPr>
            </a:pPr>
            <a:r>
              <a:rPr sz="2550" b="1">
                <a:solidFill>
                  <a:srgbClr val="243D3B"/>
                </a:solidFill>
                <a:latin typeface="Arial"/>
                <a:ea typeface="Arial"/>
                <a:cs typeface="Arial"/>
              </a:rPr>
              <a:t>Learned-topic analysis uses 23,691 sampled reviews</a:t>
            </a:r>
          </a:p>
        </p:txBody>
      </p:sp>
      <p:sp>
        <p:nvSpPr>
          <p:cNvPr id="10" name="10,971 baseline reviews fit the desc">
            <a:extLst xmlns:a="http://schemas.openxmlformats.org/drawingml/2006/main">
              <a:ext uri="{FF2B5EF4-FFF2-40B4-BE49-F238E27FC236}">
                <a16:creationId xmlns:a16="http://schemas.microsoft.com/office/drawing/2014/main" id="{F55F4A4C-1AD3-4866-83E6-B2580602FCFC}"/>
              </a:ext>
            </a:extLst>
          </p:cNvPr>
          <p:cNvSpPr>
            <a:spLocks xmlns:a="http://schemas.openxmlformats.org/drawingml/2006/main" noGrp="1"/>
          </p:cNvSpPr>
          <p:nvPr/>
        </p:nvSpPr>
        <p:spPr>
          <a:xfrm xmlns:a="http://schemas.openxmlformats.org/drawingml/2006/main">
            <a:off x="609600" y="4895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43D3B"/>
                </a:solidFill>
                <a:latin typeface="Arial"/>
                <a:ea typeface="Arial"/>
                <a:cs typeface="Arial"/>
              </a:defRPr>
            </a:pPr>
            <a:r>
              <a:rPr sz="2100" b="0">
                <a:solidFill>
                  <a:srgbClr val="243D3B"/>
                </a:solidFill>
                <a:latin typeface="Arial"/>
                <a:ea typeface="Arial"/>
                <a:cs typeface="Arial"/>
              </a:rPr>
              <a:t>10,971 baseline reviews fit the descriptive vocabulary and topics.</a:t>
            </a:r>
          </a:p>
          <a:p xmlns:a="http://schemas.openxmlformats.org/drawingml/2006/main">
            <a:pPr>
              <a:defRPr sz="2100" b="0">
                <a:solidFill>
                  <a:srgbClr val="243D3B"/>
                </a:solidFill>
                <a:latin typeface="Arial"/>
                <a:ea typeface="Arial"/>
                <a:cs typeface="Arial"/>
              </a:defRPr>
            </a:pPr>
            <a:r>
              <a:rPr sz="2100" b="0">
                <a:solidFill>
                  <a:srgbClr val="243D3B"/>
                </a:solidFill>
                <a:latin typeface="Arial"/>
                <a:ea typeface="Arial"/>
                <a:cs typeface="Arial"/>
              </a:rPr>
              <a:t>The archive describes historical business-review activity.</a:t>
            </a:r>
          </a:p>
        </p:txBody>
      </p:sp>
      <p:sp>
        <p:nvSpPr>
          <p:cNvPr id="11" name="Yelp archive vintage: January 2022. ">
            <a:extLst xmlns:a="http://schemas.openxmlformats.org/drawingml/2006/main">
              <a:ext uri="{FF2B5EF4-FFF2-40B4-BE49-F238E27FC236}">
                <a16:creationId xmlns:a16="http://schemas.microsoft.com/office/drawing/2014/main" id="{48F89A9D-A15C-47CE-82F7-998514C308B6}"/>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Yelp archive vintage: January 2022. Reviews overlap across some project catchments.</a:t>
            </a:r>
          </a:p>
        </p:txBody>
      </p:sp>
    </p:spTree>
    <p:extLst>
      <p:ext uri="{BB962C8B-B14F-4D97-AF65-F5344CB8AC3E}">
        <p14:creationId xmlns:p14="http://schemas.microsoft.com/office/powerpoint/2010/main" val="1724288184"/>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1" name="Review text becomes place-specific e">
            <a:extLst xmlns:a="http://schemas.openxmlformats.org/drawingml/2006/main">
              <a:ext uri="{FF2B5EF4-FFF2-40B4-BE49-F238E27FC236}">
                <a16:creationId xmlns:a16="http://schemas.microsoft.com/office/drawing/2014/main" id="{E26ADBE7-6954-4CA2-86FC-EF24825856AA}"/>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Review text becomes place-specific evidence</a:t>
            </a:r>
          </a:p>
        </p:txBody>
      </p:sp>
      <p:sp>
        <p:nvSpPr>
          <p:cNvPr id="2" name="04">
            <a:extLst xmlns:a="http://schemas.openxmlformats.org/drawingml/2006/main">
              <a:ext uri="{FF2B5EF4-FFF2-40B4-BE49-F238E27FC236}">
                <a16:creationId xmlns:a16="http://schemas.microsoft.com/office/drawing/2014/main" id="{902FE0C8-FDAD-4CD2-951B-57151548C133}"/>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04</a:t>
            </a:r>
          </a:p>
        </p:txBody>
      </p:sp>
      <p:sp>
        <p:nvSpPr>
          <p:cNvPr id="3" name="“The only unfavorable part was the s">
            <a:extLst xmlns:a="http://schemas.openxmlformats.org/drawingml/2006/main">
              <a:ext uri="{FF2B5EF4-FFF2-40B4-BE49-F238E27FC236}">
                <a16:creationId xmlns:a16="http://schemas.microsoft.com/office/drawing/2014/main" id="{C4A7B3F4-0A51-4006-8EE9-45FF8C709F22}"/>
              </a:ext>
            </a:extLst>
          </p:cNvPr>
          <p:cNvSpPr>
            <a:spLocks xmlns:a="http://schemas.openxmlformats.org/drawingml/2006/main" noGrp="1"/>
          </p:cNvSpPr>
          <p:nvPr/>
        </p:nvSpPr>
        <p:spPr>
          <a:xfrm xmlns:a="http://schemas.openxmlformats.org/drawingml/2006/main">
            <a:off x="609600" y="1762125"/>
            <a:ext cx="62674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376F61"/>
                </a:solidFill>
                <a:latin typeface="Arial"/>
                <a:ea typeface="Arial"/>
                <a:cs typeface="Arial"/>
              </a:defRPr>
            </a:pPr>
            <a:r>
              <a:rPr sz="2850" b="0">
                <a:solidFill>
                  <a:srgbClr val="376F61"/>
                </a:solidFill>
                <a:latin typeface="Arial"/>
                <a:ea typeface="Arial"/>
                <a:cs typeface="Arial"/>
              </a:rPr>
              <a:t>“The only unfavorable part was the sidewalk seating since the city hadn’t picked up the garbage.”</a:t>
            </a:r>
          </a:p>
        </p:txBody>
      </p:sp>
      <p:sp>
        <p:nvSpPr>
          <p:cNvPr id="4" name="Topic">
            <a:extLst xmlns:a="http://schemas.openxmlformats.org/drawingml/2006/main">
              <a:ext uri="{FF2B5EF4-FFF2-40B4-BE49-F238E27FC236}">
                <a16:creationId xmlns:a16="http://schemas.microsoft.com/office/drawing/2014/main" id="{BBCFC329-87AC-4FD6-8E3E-5F22E066C100}"/>
              </a:ext>
            </a:extLst>
          </p:cNvPr>
          <p:cNvSpPr>
            <a:spLocks xmlns:a="http://schemas.openxmlformats.org/drawingml/2006/main" noGrp="1"/>
          </p:cNvSpPr>
          <p:nvPr/>
        </p:nvSpPr>
        <p:spPr>
          <a:xfrm xmlns:a="http://schemas.openxmlformats.org/drawingml/2006/main">
            <a:off x="7848600" y="1685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6D66"/>
                </a:solidFill>
                <a:latin typeface="Arial"/>
                <a:ea typeface="Arial"/>
                <a:cs typeface="Arial"/>
              </a:defRPr>
            </a:pPr>
            <a:r>
              <a:rPr sz="1725" b="0">
                <a:solidFill>
                  <a:srgbClr val="5C6D66"/>
                </a:solidFill>
                <a:latin typeface="Arial"/>
                <a:ea typeface="Arial"/>
                <a:cs typeface="Arial"/>
              </a:rPr>
              <a:t>Topic</a:t>
            </a:r>
          </a:p>
        </p:txBody>
      </p:sp>
      <p:sp>
        <p:nvSpPr>
          <p:cNvPr id="5" name="Cleanliness / maintenance">
            <a:extLst xmlns:a="http://schemas.openxmlformats.org/drawingml/2006/main">
              <a:ext uri="{FF2B5EF4-FFF2-40B4-BE49-F238E27FC236}">
                <a16:creationId xmlns:a16="http://schemas.microsoft.com/office/drawing/2014/main" id="{81E71663-DF33-4527-938E-39A19C229C9A}"/>
              </a:ext>
            </a:extLst>
          </p:cNvPr>
          <p:cNvSpPr>
            <a:spLocks xmlns:a="http://schemas.openxmlformats.org/drawingml/2006/main" noGrp="1"/>
          </p:cNvSpPr>
          <p:nvPr/>
        </p:nvSpPr>
        <p:spPr>
          <a:xfrm xmlns:a="http://schemas.openxmlformats.org/drawingml/2006/main">
            <a:off x="7848600" y="2095500"/>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43D3B"/>
                </a:solidFill>
                <a:latin typeface="Arial"/>
                <a:ea typeface="Arial"/>
                <a:cs typeface="Arial"/>
              </a:defRPr>
            </a:pPr>
            <a:r>
              <a:rPr sz="2325" b="1">
                <a:solidFill>
                  <a:srgbClr val="243D3B"/>
                </a:solidFill>
                <a:latin typeface="Arial"/>
                <a:ea typeface="Arial"/>
                <a:cs typeface="Arial"/>
              </a:rPr>
              <a:t>Cleanliness / maintenance</a:t>
            </a:r>
          </a:p>
        </p:txBody>
      </p:sp>
      <p:sp>
        <p:nvSpPr>
          <p:cNvPr id="6" name="Target">
            <a:extLst xmlns:a="http://schemas.openxmlformats.org/drawingml/2006/main">
              <a:ext uri="{FF2B5EF4-FFF2-40B4-BE49-F238E27FC236}">
                <a16:creationId xmlns:a16="http://schemas.microsoft.com/office/drawing/2014/main" id="{05848E41-DCC1-49C0-9AF1-FF3645D3D591}"/>
              </a:ext>
            </a:extLst>
          </p:cNvPr>
          <p:cNvSpPr>
            <a:spLocks xmlns:a="http://schemas.openxmlformats.org/drawingml/2006/main" noGrp="1"/>
          </p:cNvSpPr>
          <p:nvPr/>
        </p:nvSpPr>
        <p:spPr>
          <a:xfrm xmlns:a="http://schemas.openxmlformats.org/drawingml/2006/main">
            <a:off x="7848600" y="3095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6D66"/>
                </a:solidFill>
                <a:latin typeface="Arial"/>
                <a:ea typeface="Arial"/>
                <a:cs typeface="Arial"/>
              </a:defRPr>
            </a:pPr>
            <a:r>
              <a:rPr sz="1725" b="0">
                <a:solidFill>
                  <a:srgbClr val="5C6D66"/>
                </a:solidFill>
                <a:latin typeface="Arial"/>
                <a:ea typeface="Arial"/>
                <a:cs typeface="Arial"/>
              </a:rPr>
              <a:t>Target</a:t>
            </a:r>
          </a:p>
        </p:txBody>
      </p:sp>
      <p:sp>
        <p:nvSpPr>
          <p:cNvPr id="7" name="Surrounding area">
            <a:extLst xmlns:a="http://schemas.openxmlformats.org/drawingml/2006/main">
              <a:ext uri="{FF2B5EF4-FFF2-40B4-BE49-F238E27FC236}">
                <a16:creationId xmlns:a16="http://schemas.microsoft.com/office/drawing/2014/main" id="{41F95C19-313D-453D-AA08-70DBA3A2A5D2}"/>
              </a:ext>
            </a:extLst>
          </p:cNvPr>
          <p:cNvSpPr>
            <a:spLocks xmlns:a="http://schemas.openxmlformats.org/drawingml/2006/main" noGrp="1"/>
          </p:cNvSpPr>
          <p:nvPr/>
        </p:nvSpPr>
        <p:spPr>
          <a:xfrm xmlns:a="http://schemas.openxmlformats.org/drawingml/2006/main">
            <a:off x="7848600" y="35052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43D3B"/>
                </a:solidFill>
                <a:latin typeface="Arial"/>
                <a:ea typeface="Arial"/>
                <a:cs typeface="Arial"/>
              </a:defRPr>
            </a:pPr>
            <a:r>
              <a:rPr sz="2325" b="1">
                <a:solidFill>
                  <a:srgbClr val="243D3B"/>
                </a:solidFill>
                <a:latin typeface="Arial"/>
                <a:ea typeface="Arial"/>
                <a:cs typeface="Arial"/>
              </a:rPr>
              <a:t>Surrounding area</a:t>
            </a:r>
          </a:p>
        </p:txBody>
      </p:sp>
      <p:sp>
        <p:nvSpPr>
          <p:cNvPr id="8" name="Clause polarity">
            <a:extLst xmlns:a="http://schemas.openxmlformats.org/drawingml/2006/main">
              <a:ext uri="{FF2B5EF4-FFF2-40B4-BE49-F238E27FC236}">
                <a16:creationId xmlns:a16="http://schemas.microsoft.com/office/drawing/2014/main" id="{F73661CC-1EFD-471C-A9F1-BF97A1A8E41A}"/>
              </a:ext>
            </a:extLst>
          </p:cNvPr>
          <p:cNvSpPr>
            <a:spLocks xmlns:a="http://schemas.openxmlformats.org/drawingml/2006/main" noGrp="1"/>
          </p:cNvSpPr>
          <p:nvPr/>
        </p:nvSpPr>
        <p:spPr>
          <a:xfrm xmlns:a="http://schemas.openxmlformats.org/drawingml/2006/main">
            <a:off x="7848600" y="44005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6D66"/>
                </a:solidFill>
                <a:latin typeface="Arial"/>
                <a:ea typeface="Arial"/>
                <a:cs typeface="Arial"/>
              </a:defRPr>
            </a:pPr>
            <a:r>
              <a:rPr sz="1725" b="0">
                <a:solidFill>
                  <a:srgbClr val="5C6D66"/>
                </a:solidFill>
                <a:latin typeface="Arial"/>
                <a:ea typeface="Arial"/>
                <a:cs typeface="Arial"/>
              </a:rPr>
              <a:t>Clause polarity</a:t>
            </a:r>
          </a:p>
        </p:txBody>
      </p:sp>
      <p:sp>
        <p:nvSpPr>
          <p:cNvPr id="9" name="Negative">
            <a:extLst xmlns:a="http://schemas.openxmlformats.org/drawingml/2006/main">
              <a:ext uri="{FF2B5EF4-FFF2-40B4-BE49-F238E27FC236}">
                <a16:creationId xmlns:a16="http://schemas.microsoft.com/office/drawing/2014/main" id="{FE78C633-68F5-42CF-B9FD-AD8FB8CCA898}"/>
              </a:ext>
            </a:extLst>
          </p:cNvPr>
          <p:cNvSpPr>
            <a:spLocks xmlns:a="http://schemas.openxmlformats.org/drawingml/2006/main" noGrp="1"/>
          </p:cNvSpPr>
          <p:nvPr/>
        </p:nvSpPr>
        <p:spPr>
          <a:xfrm xmlns:a="http://schemas.openxmlformats.org/drawingml/2006/main">
            <a:off x="7848600" y="48101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43D3B"/>
                </a:solidFill>
                <a:latin typeface="Arial"/>
                <a:ea typeface="Arial"/>
                <a:cs typeface="Arial"/>
              </a:defRPr>
            </a:pPr>
            <a:r>
              <a:rPr sz="2325" b="1">
                <a:solidFill>
                  <a:srgbClr val="243D3B"/>
                </a:solidFill>
                <a:latin typeface="Arial"/>
                <a:ea typeface="Arial"/>
                <a:cs typeface="Arial"/>
              </a:rPr>
              <a:t>Negative</a:t>
            </a:r>
          </a:p>
        </p:txBody>
      </p:sp>
      <p:sp>
        <p:nvSpPr>
          <p:cNvPr id="10" name="Illustrative Rail Park review excerp">
            <a:extLst xmlns:a="http://schemas.openxmlformats.org/drawingml/2006/main">
              <a:ext uri="{FF2B5EF4-FFF2-40B4-BE49-F238E27FC236}">
                <a16:creationId xmlns:a16="http://schemas.microsoft.com/office/drawing/2014/main" id="{5D04CC87-6BC9-4C14-A08E-FCF09375F07C}"/>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Illustrative Rail Park review excerpt. Rule labels remain provisional pending human validation.</a:t>
            </a:r>
          </a:p>
        </p:txBody>
      </p:sp>
    </p:spTree>
    <p:extLst>
      <p:ext uri="{BB962C8B-B14F-4D97-AF65-F5344CB8AC3E}">
        <p14:creationId xmlns:p14="http://schemas.microsoft.com/office/powerpoint/2010/main" val="1844790621"/>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Learned topics expose what reviews d">
            <a:extLst xmlns:a="http://schemas.openxmlformats.org/drawingml/2006/main">
              <a:ext uri="{FF2B5EF4-FFF2-40B4-BE49-F238E27FC236}">
                <a16:creationId xmlns:a16="http://schemas.microsoft.com/office/drawing/2014/main" id="{0DF11DF4-6E33-429F-9422-7C0F6BEA06CC}"/>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Learned topics expose what reviews discuss</a:t>
            </a:r>
          </a:p>
        </p:txBody>
      </p:sp>
      <p:sp>
        <p:nvSpPr>
          <p:cNvPr id="2" name="05">
            <a:extLst xmlns:a="http://schemas.openxmlformats.org/drawingml/2006/main">
              <a:ext uri="{FF2B5EF4-FFF2-40B4-BE49-F238E27FC236}">
                <a16:creationId xmlns:a16="http://schemas.microsoft.com/office/drawing/2014/main" id="{E93599C0-DBC5-47B5-8A92-AEDA8DB4AE1E}"/>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05</a:t>
            </a:r>
          </a:p>
        </p:txBody>
      </p:sp>
      <p:sp>
        <p:nvSpPr>
          <p:cNvPr id="3" name="TF-IDF unigrams and bigrams with fiv">
            <a:extLst xmlns:a="http://schemas.openxmlformats.org/drawingml/2006/main">
              <a:ext uri="{FF2B5EF4-FFF2-40B4-BE49-F238E27FC236}">
                <a16:creationId xmlns:a16="http://schemas.microsoft.com/office/drawing/2014/main" id="{EB0171CB-4CBB-4A0E-8007-70B705AD2D08}"/>
              </a:ext>
            </a:extLst>
          </p:cNvPr>
          <p:cNvSpPr>
            <a:spLocks xmlns:a="http://schemas.openxmlformats.org/drawingml/2006/main" noGrp="1"/>
          </p:cNvSpPr>
          <p:nvPr/>
        </p:nvSpPr>
        <p:spPr>
          <a:xfrm xmlns:a="http://schemas.openxmlformats.org/drawingml/2006/main">
            <a:off x="60960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6F61"/>
                </a:solidFill>
                <a:latin typeface="Arial"/>
                <a:ea typeface="Arial"/>
                <a:cs typeface="Arial"/>
              </a:defRPr>
            </a:pPr>
            <a:r>
              <a:rPr sz="1875" b="0">
                <a:solidFill>
                  <a:srgbClr val="376F61"/>
                </a:solidFill>
                <a:latin typeface="Arial"/>
                <a:ea typeface="Arial"/>
                <a:cs typeface="Arial"/>
              </a:rPr>
              <a:t>TF-IDF unigrams and bigrams with five NMF topics</a:t>
            </a:r>
          </a:p>
        </p:txBody>
      </p:sp>
      <p:graphicFrame>
        <p:nvGraphicFramePr>
          <p:cNvPr id="9" name="Chart"/>
          <p:cNvGraphicFramePr/>
          <p:nvPr/>
        </p:nvGraphicFramePr>
        <p:xfrm>
          <a:off xmlns:a="http://schemas.openxmlformats.org/drawingml/2006/main" x="609600" y="1619250"/>
          <a:ext xmlns:a="http://schemas.openxmlformats.org/drawingml/2006/main" cx="10477500" cy="4048125"/>
        </p:xfrm>
        <a:graphic xmlns:a="http://schemas.openxmlformats.org/drawingml/2006/main">
          <a:graphicData uri="http://schemas.openxmlformats.org/drawingml/2006/chart">
            <c:chart xmlns:r="http://schemas.openxmlformats.org/officeDocument/2006/relationships" xmlns:c="http://schemas.openxmlformats.org/drawingml/2006/chart" r:id="Rbc508e4b3df94d40"/>
          </a:graphicData>
        </a:graphic>
      </p:graphicFrame>
      <p:sp>
        <p:nvSpPr>
          <p:cNvPr id="5" name="Dilworth Park: 1,200 sampled reviews">
            <a:extLst xmlns:a="http://schemas.openxmlformats.org/drawingml/2006/main">
              <a:ext uri="{FF2B5EF4-FFF2-40B4-BE49-F238E27FC236}">
                <a16:creationId xmlns:a16="http://schemas.microsoft.com/office/drawing/2014/main" id="{D313B62D-D18D-46E4-AB81-063765FD13BB}"/>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Dilworth Park: 1,200 sampled reviews per period. Mean normalized topic weight.</a:t>
            </a:r>
          </a:p>
        </p:txBody>
      </p:sp>
    </p:spTree>
    <p:extLst>
      <p:ext uri="{BB962C8B-B14F-4D97-AF65-F5344CB8AC3E}">
        <p14:creationId xmlns:p14="http://schemas.microsoft.com/office/powerpoint/2010/main" val="26814741"/>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Raw growth can trail the comparison ">
            <a:extLst xmlns:a="http://schemas.openxmlformats.org/drawingml/2006/main">
              <a:ext uri="{FF2B5EF4-FFF2-40B4-BE49-F238E27FC236}">
                <a16:creationId xmlns:a16="http://schemas.microsoft.com/office/drawing/2014/main" id="{029E89D1-B2BA-4CC8-ABAA-9C855A73DEDD}"/>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Raw growth can trail the comparison area</a:t>
            </a:r>
          </a:p>
        </p:txBody>
      </p:sp>
      <p:sp>
        <p:nvSpPr>
          <p:cNvPr id="2" name="06">
            <a:extLst xmlns:a="http://schemas.openxmlformats.org/drawingml/2006/main">
              <a:ext uri="{FF2B5EF4-FFF2-40B4-BE49-F238E27FC236}">
                <a16:creationId xmlns:a16="http://schemas.microsoft.com/office/drawing/2014/main" id="{091C2C2A-BE6A-4103-9642-0CDDABF55087}"/>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06</a:t>
            </a:r>
          </a:p>
        </p:txBody>
      </p:sp>
      <p:graphicFrame>
        <p:nvGraphicFramePr>
          <p:cNvPr id="10" name=""/>
          <p:cNvGraphicFramePr/>
          <p:nvPr/>
        </p:nvGraphicFramePr>
        <p:xfrm>
          <a:off xmlns:a="http://schemas.openxmlformats.org/drawingml/2006/main" x="609600" y="1704975"/>
          <a:ext xmlns:a="http://schemas.openxmlformats.org/drawingml/2006/main" cx="7239000" cy="2752725"/>
        </p:xfrm>
        <a:graphic xmlns:a="http://schemas.openxmlformats.org/drawingml/2006/main">
          <a:graphicData uri="http://schemas.openxmlformats.org/drawingml/2006/table">
            <a:tbl>
              <a:tblPr/>
              <a:tblGrid>
                <a:gridCol w="5381625"/>
                <a:gridCol w="1857375"/>
              </a:tblGrid>
              <a:tr h="688181">
                <a:tc>
                  <a:txBody>
                    <a:bodyPr lIns="152400" tIns="95250" rIns="114300" bIns="95250"/>
                    <a:lstStyle/>
                    <a:p>
                      <a:r>
                        <a:rPr sz="1875" b="1">
                          <a:solidFill>
                            <a:srgbClr val="FFFDF8"/>
                          </a:solidFill>
                          <a:latin typeface="Arial"/>
                          <a:ea typeface="Arial"/>
                          <a:cs typeface="Arial"/>
                        </a:rPr>
                        <a:t>Sun Link review counts</a:t>
                      </a:r>
                    </a:p>
                  </a:txBody>
                  <a:tcPr marL="91440" marR="91440" marT="45720" marB="45720" anchor="ctr">
                    <a:solidFill>
                      <a:srgbClr val="243D3B"/>
                    </a:solidFill>
                  </a:tcPr>
                </a:tc>
                <a:tc>
                  <a:txBody>
                    <a:bodyPr lIns="152400" tIns="95250" rIns="114300" bIns="95250"/>
                    <a:lstStyle/>
                    <a:p>
                      <a:r>
                        <a:rPr sz="1875" b="1">
                          <a:solidFill>
                            <a:srgbClr val="FFFDF8"/>
                          </a:solidFill>
                          <a:latin typeface="Arial"/>
                          <a:ea typeface="Arial"/>
                          <a:cs typeface="Arial"/>
                        </a:rPr>
                        <a:t>Reviews</a:t>
                      </a:r>
                    </a:p>
                  </a:txBody>
                  <a:tcPr marL="91440" marR="91440" marT="45720" marB="45720" anchor="ctr">
                    <a:solidFill>
                      <a:srgbClr val="243D3B"/>
                    </a:solidFill>
                  </a:tcPr>
                </a:tc>
              </a:tr>
              <a:tr h="688181">
                <a:tc>
                  <a:txBody>
                    <a:bodyPr lIns="152400" tIns="95250" rIns="114300" bIns="95250"/>
                    <a:lstStyle/>
                    <a:p>
                      <a:r>
                        <a:rPr sz="1875" b="0">
                          <a:solidFill>
                            <a:srgbClr val="243D3B"/>
                          </a:solidFill>
                          <a:latin typeface="Arial"/>
                          <a:ea typeface="Arial"/>
                          <a:cs typeface="Arial"/>
                        </a:rPr>
                        <a:t>Nearby baseline, 2010–2011</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3,807</a:t>
                      </a:r>
                    </a:p>
                  </a:txBody>
                  <a:tcPr marL="91440" marR="91440" marT="45720" marB="45720" anchor="ctr">
                    <a:solidFill>
                      <a:srgbClr val="FFFDF8"/>
                    </a:solidFill>
                  </a:tcPr>
                </a:tc>
              </a:tr>
              <a:tr h="688181">
                <a:tc>
                  <a:txBody>
                    <a:bodyPr lIns="152400" tIns="95250" rIns="114300" bIns="95250"/>
                    <a:lstStyle/>
                    <a:p>
                      <a:r>
                        <a:rPr sz="1875" b="0">
                          <a:solidFill>
                            <a:srgbClr val="243D3B"/>
                          </a:solidFill>
                          <a:latin typeface="Arial"/>
                          <a:ea typeface="Arial"/>
                          <a:cs typeface="Arial"/>
                        </a:rPr>
                        <a:t>Nearby post, 2015–2016</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10,943</a:t>
                      </a:r>
                    </a:p>
                  </a:txBody>
                  <a:tcPr marL="91440" marR="91440" marT="45720" marB="45720" anchor="ctr">
                    <a:solidFill>
                      <a:srgbClr val="F5F3ED"/>
                    </a:solidFill>
                  </a:tcPr>
                </a:tc>
              </a:tr>
              <a:tr h="688181">
                <a:tc>
                  <a:txBody>
                    <a:bodyPr lIns="152400" tIns="95250" rIns="114300" bIns="95250"/>
                    <a:lstStyle/>
                    <a:p>
                      <a:r>
                        <a:rPr sz="1875" b="0">
                          <a:solidFill>
                            <a:srgbClr val="243D3B"/>
                          </a:solidFill>
                          <a:latin typeface="Arial"/>
                          <a:ea typeface="Arial"/>
                          <a:cs typeface="Arial"/>
                        </a:rPr>
                        <a:t>Expected post from comparison growth</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13,150.3</a:t>
                      </a:r>
                    </a:p>
                  </a:txBody>
                  <a:tcPr marL="91440" marR="91440" marT="45720" marB="45720" anchor="ctr">
                    <a:solidFill>
                      <a:srgbClr val="FFFDF8"/>
                    </a:solidFill>
                  </a:tcPr>
                </a:tc>
              </a:tr>
            </a:tbl>
          </a:graphicData>
        </a:graphic>
      </p:graphicFrame>
      <p:sp>
        <p:nvSpPr>
          <p:cNvPr id="4" name="−11.2">
            <a:extLst xmlns:a="http://schemas.openxmlformats.org/drawingml/2006/main">
              <a:ext uri="{FF2B5EF4-FFF2-40B4-BE49-F238E27FC236}">
                <a16:creationId xmlns:a16="http://schemas.microsoft.com/office/drawing/2014/main" id="{54C0A83C-BA84-45DA-9E97-A2172A2E566E}"/>
              </a:ext>
            </a:extLst>
          </p:cNvPr>
          <p:cNvSpPr>
            <a:spLocks xmlns:a="http://schemas.openxmlformats.org/drawingml/2006/main" noGrp="1"/>
          </p:cNvSpPr>
          <p:nvPr/>
        </p:nvSpPr>
        <p:spPr>
          <a:xfrm xmlns:a="http://schemas.openxmlformats.org/drawingml/2006/main">
            <a:off x="8296275" y="20383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AD7950"/>
                </a:solidFill>
                <a:latin typeface="Arial"/>
                <a:ea typeface="Arial"/>
                <a:cs typeface="Arial"/>
              </a:defRPr>
            </a:pPr>
            <a:r>
              <a:rPr sz="5550" b="1">
                <a:solidFill>
                  <a:srgbClr val="AD7950"/>
                </a:solidFill>
                <a:latin typeface="Arial"/>
                <a:ea typeface="Arial"/>
                <a:cs typeface="Arial"/>
              </a:rPr>
              <a:t>−11.2</a:t>
            </a:r>
          </a:p>
        </p:txBody>
      </p:sp>
      <p:sp>
        <p:nvSpPr>
          <p:cNvPr id="5" name="adjusted reviews&#10;per $1M">
            <a:extLst xmlns:a="http://schemas.openxmlformats.org/drawingml/2006/main">
              <a:ext uri="{FF2B5EF4-FFF2-40B4-BE49-F238E27FC236}">
                <a16:creationId xmlns:a16="http://schemas.microsoft.com/office/drawing/2014/main" id="{1100C81F-535E-427D-B3CF-0BCFB173D5D6}"/>
              </a:ext>
            </a:extLst>
          </p:cNvPr>
          <p:cNvSpPr>
            <a:spLocks xmlns:a="http://schemas.openxmlformats.org/drawingml/2006/main" noGrp="1"/>
          </p:cNvSpPr>
          <p:nvPr/>
        </p:nvSpPr>
        <p:spPr>
          <a:xfrm xmlns:a="http://schemas.openxmlformats.org/drawingml/2006/main">
            <a:off x="8382000" y="308610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43D3B"/>
                </a:solidFill>
                <a:latin typeface="Arial"/>
                <a:ea typeface="Arial"/>
                <a:cs typeface="Arial"/>
              </a:defRPr>
            </a:pPr>
            <a:r>
              <a:rPr sz="2250" b="0">
                <a:solidFill>
                  <a:srgbClr val="243D3B"/>
                </a:solidFill>
                <a:latin typeface="Arial"/>
                <a:ea typeface="Arial"/>
                <a:cs typeface="Arial"/>
              </a:rPr>
              <a:t>adjusted reviews</a:t>
            </a:r>
          </a:p>
          <a:p xmlns:a="http://schemas.openxmlformats.org/drawingml/2006/main">
            <a:pPr>
              <a:defRPr sz="2250" b="0">
                <a:solidFill>
                  <a:srgbClr val="243D3B"/>
                </a:solidFill>
                <a:latin typeface="Arial"/>
                <a:ea typeface="Arial"/>
                <a:cs typeface="Arial"/>
              </a:defRPr>
            </a:pPr>
            <a:r>
              <a:rPr sz="2250" b="0">
                <a:solidFill>
                  <a:srgbClr val="243D3B"/>
                </a:solidFill>
                <a:latin typeface="Arial"/>
                <a:ea typeface="Arial"/>
                <a:cs typeface="Arial"/>
              </a:rPr>
              <a:t>per $1M</a:t>
            </a:r>
          </a:p>
        </p:txBody>
      </p:sp>
      <p:sp>
        <p:nvSpPr>
          <p:cNvPr id="6" name="CE = (observed nearby post − expecte">
            <a:extLst xmlns:a="http://schemas.openxmlformats.org/drawingml/2006/main">
              <a:ext uri="{FF2B5EF4-FFF2-40B4-BE49-F238E27FC236}">
                <a16:creationId xmlns:a16="http://schemas.microsoft.com/office/drawing/2014/main" id="{82D96FEB-5D39-42FD-BE3E-9B1E86EA9A7F}"/>
              </a:ext>
            </a:extLst>
          </p:cNvPr>
          <p:cNvSpPr>
            <a:spLocks xmlns:a="http://schemas.openxmlformats.org/drawingml/2006/main" noGrp="1"/>
          </p:cNvSpPr>
          <p:nvPr/>
        </p:nvSpPr>
        <p:spPr>
          <a:xfrm xmlns:a="http://schemas.openxmlformats.org/drawingml/2006/main">
            <a:off x="609600" y="50577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43D3B"/>
                </a:solidFill>
                <a:latin typeface="Arial"/>
                <a:ea typeface="Arial"/>
                <a:cs typeface="Arial"/>
              </a:defRPr>
            </a:pPr>
            <a:r>
              <a:rPr sz="2175" b="1">
                <a:solidFill>
                  <a:srgbClr val="243D3B"/>
                </a:solidFill>
                <a:latin typeface="Arial"/>
                <a:ea typeface="Arial"/>
                <a:cs typeface="Arial"/>
              </a:rPr>
              <a:t>CE = (observed nearby post − expected nearby post) ÷ cost in $M</a:t>
            </a:r>
          </a:p>
        </p:txBody>
      </p:sp>
      <p:sp>
        <p:nvSpPr>
          <p:cNvPr id="7" name="Descriptive comparison. Other neighb">
            <a:extLst xmlns:a="http://schemas.openxmlformats.org/drawingml/2006/main">
              <a:ext uri="{FF2B5EF4-FFF2-40B4-BE49-F238E27FC236}">
                <a16:creationId xmlns:a16="http://schemas.microsoft.com/office/drawing/2014/main" id="{76EF03CB-5A2E-44BA-885E-8B53F3344246}"/>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Descriptive comparison. Other neighborhood changes can influence review activity.</a:t>
            </a:r>
          </a:p>
        </p:txBody>
      </p:sp>
    </p:spTree>
    <p:extLst>
      <p:ext uri="{BB962C8B-B14F-4D97-AF65-F5344CB8AC3E}">
        <p14:creationId xmlns:p14="http://schemas.microsoft.com/office/powerpoint/2010/main" val="1933268285"/>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Advanced text did not improve the fo">
            <a:extLst xmlns:a="http://schemas.openxmlformats.org/drawingml/2006/main">
              <a:ext uri="{FF2B5EF4-FFF2-40B4-BE49-F238E27FC236}">
                <a16:creationId xmlns:a16="http://schemas.microsoft.com/office/drawing/2014/main" id="{97E076E4-6083-4C8C-8263-B51968641C7E}"/>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Advanced text did not improve the forecast</a:t>
            </a:r>
          </a:p>
        </p:txBody>
      </p:sp>
      <p:sp>
        <p:nvSpPr>
          <p:cNvPr id="2" name="07">
            <a:extLst xmlns:a="http://schemas.openxmlformats.org/drawingml/2006/main">
              <a:ext uri="{FF2B5EF4-FFF2-40B4-BE49-F238E27FC236}">
                <a16:creationId xmlns:a16="http://schemas.microsoft.com/office/drawing/2014/main" id="{050579E2-ED13-4126-9A35-BC9FD55B219B}"/>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07</a:t>
            </a:r>
          </a:p>
        </p:txBody>
      </p:sp>
      <p:graphicFrame>
        <p:nvGraphicFramePr>
          <p:cNvPr id="8" name="Chart"/>
          <p:cNvGraphicFramePr/>
          <p:nvPr/>
        </p:nvGraphicFramePr>
        <p:xfrm>
          <a:off xmlns:a="http://schemas.openxmlformats.org/drawingml/2006/main" x="609600" y="1724025"/>
          <a:ext xmlns:a="http://schemas.openxmlformats.org/drawingml/2006/main" cx="10515600" cy="3333750"/>
        </p:xfrm>
        <a:graphic xmlns:a="http://schemas.openxmlformats.org/drawingml/2006/main">
          <a:graphicData uri="http://schemas.openxmlformats.org/drawingml/2006/chart">
            <c:chart xmlns:r="http://schemas.openxmlformats.org/officeDocument/2006/relationships" xmlns:c="http://schemas.openxmlformats.org/drawingml/2006/chart" r:id="R6f15811444a24f1c"/>
          </a:graphicData>
        </a:graphic>
      </p:graphicFrame>
      <p:sp>
        <p:nvSpPr>
          <p:cNvPr id="4" name="Text adds interpretable evidence. It">
            <a:extLst xmlns:a="http://schemas.openxmlformats.org/drawingml/2006/main">
              <a:ext uri="{FF2B5EF4-FFF2-40B4-BE49-F238E27FC236}">
                <a16:creationId xmlns:a16="http://schemas.microsoft.com/office/drawing/2014/main" id="{B7F22787-C86B-456A-8AA7-3B4050E8E4D6}"/>
              </a:ext>
            </a:extLst>
          </p:cNvPr>
          <p:cNvSpPr>
            <a:spLocks xmlns:a="http://schemas.openxmlformats.org/drawingml/2006/main" noGrp="1"/>
          </p:cNvSpPr>
          <p:nvPr/>
        </p:nvSpPr>
        <p:spPr>
          <a:xfrm xmlns:a="http://schemas.openxmlformats.org/drawingml/2006/main">
            <a:off x="609600" y="5238750"/>
            <a:ext cx="10877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43D3B"/>
                </a:solidFill>
                <a:latin typeface="Arial"/>
                <a:ea typeface="Arial"/>
                <a:cs typeface="Arial"/>
              </a:defRPr>
            </a:pPr>
            <a:r>
              <a:rPr sz="2325" b="1">
                <a:solidFill>
                  <a:srgbClr val="243D3B"/>
                </a:solidFill>
                <a:latin typeface="Arial"/>
                <a:ea typeface="Arial"/>
                <a:cs typeface="Arial"/>
              </a:rPr>
              <a:t>Text adds interpretable evidence. It did not improve prediction in this sample.</a:t>
            </a:r>
          </a:p>
        </p:txBody>
      </p:sp>
      <p:sp>
        <p:nvSpPr>
          <p:cNvPr id="5" name="Mean absolute error in adjusted revi">
            <a:extLst xmlns:a="http://schemas.openxmlformats.org/drawingml/2006/main">
              <a:ext uri="{FF2B5EF4-FFF2-40B4-BE49-F238E27FC236}">
                <a16:creationId xmlns:a16="http://schemas.microsoft.com/office/drawing/2014/main" id="{9440CE18-4722-41B7-94B2-F56EEF5DBADF}"/>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Mean absolute error in adjusted reviews / $1M. Ten eligible project outcomes.</a:t>
            </a:r>
          </a:p>
        </p:txBody>
      </p:sp>
    </p:spTree>
    <p:extLst>
      <p:ext uri="{BB962C8B-B14F-4D97-AF65-F5344CB8AC3E}">
        <p14:creationId xmlns:p14="http://schemas.microsoft.com/office/powerpoint/2010/main" val="1239571573"/>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9" name="Live demo: from a project record to ">
            <a:extLst xmlns:a="http://schemas.openxmlformats.org/drawingml/2006/main">
              <a:ext uri="{FF2B5EF4-FFF2-40B4-BE49-F238E27FC236}">
                <a16:creationId xmlns:a16="http://schemas.microsoft.com/office/drawing/2014/main" id="{1D54FE1B-A097-4663-AFB1-6B22198C3A5E}"/>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Live demo: from a project record to a proposal</a:t>
            </a:r>
          </a:p>
        </p:txBody>
      </p:sp>
      <p:sp>
        <p:nvSpPr>
          <p:cNvPr id="2" name="08">
            <a:extLst xmlns:a="http://schemas.openxmlformats.org/drawingml/2006/main">
              <a:ext uri="{FF2B5EF4-FFF2-40B4-BE49-F238E27FC236}">
                <a16:creationId xmlns:a16="http://schemas.microsoft.com/office/drawing/2014/main" id="{C307C805-D63A-4288-9BBC-4BAF3694D259}"/>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08</a:t>
            </a:r>
          </a:p>
        </p:txBody>
      </p:sp>
      <p:sp>
        <p:nvSpPr>
          <p:cNvPr id="3" name="1   Inspect the historical evidence">
            <a:extLst xmlns:a="http://schemas.openxmlformats.org/drawingml/2006/main">
              <a:ext uri="{FF2B5EF4-FFF2-40B4-BE49-F238E27FC236}">
                <a16:creationId xmlns:a16="http://schemas.microsoft.com/office/drawing/2014/main" id="{400DD109-8905-45A0-AE1C-3FDE22866E3D}"/>
              </a:ext>
            </a:extLst>
          </p:cNvPr>
          <p:cNvSpPr>
            <a:spLocks xmlns:a="http://schemas.openxmlformats.org/drawingml/2006/main" noGrp="1"/>
          </p:cNvSpPr>
          <p:nvPr/>
        </p:nvSpPr>
        <p:spPr>
          <a:xfrm xmlns:a="http://schemas.openxmlformats.org/drawingml/2006/main">
            <a:off x="609600" y="189547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43D3B"/>
                </a:solidFill>
                <a:latin typeface="Arial"/>
                <a:ea typeface="Arial"/>
                <a:cs typeface="Arial"/>
              </a:defRPr>
            </a:pPr>
            <a:r>
              <a:rPr sz="2400" b="1">
                <a:solidFill>
                  <a:srgbClr val="243D3B"/>
                </a:solidFill>
                <a:latin typeface="Arial"/>
                <a:ea typeface="Arial"/>
                <a:cs typeface="Arial"/>
              </a:rPr>
              <a:t>1   Inspect the historical evidence</a:t>
            </a:r>
          </a:p>
        </p:txBody>
      </p:sp>
      <p:sp>
        <p:nvSpPr>
          <p:cNvPr id="4" name="Dilworth outcome, geometry and learn">
            <a:extLst xmlns:a="http://schemas.openxmlformats.org/drawingml/2006/main">
              <a:ext uri="{FF2B5EF4-FFF2-40B4-BE49-F238E27FC236}">
                <a16:creationId xmlns:a16="http://schemas.microsoft.com/office/drawing/2014/main" id="{B4E4EFFA-ABEF-42EE-B799-E0BBE034DB31}"/>
              </a:ext>
            </a:extLst>
          </p:cNvPr>
          <p:cNvSpPr>
            <a:spLocks xmlns:a="http://schemas.openxmlformats.org/drawingml/2006/main" noGrp="1"/>
          </p:cNvSpPr>
          <p:nvPr/>
        </p:nvSpPr>
        <p:spPr>
          <a:xfrm xmlns:a="http://schemas.openxmlformats.org/drawingml/2006/main">
            <a:off x="1057275" y="2581275"/>
            <a:ext cx="6667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D3B"/>
                </a:solidFill>
                <a:latin typeface="Arial"/>
                <a:ea typeface="Arial"/>
                <a:cs typeface="Arial"/>
              </a:defRPr>
            </a:pPr>
            <a:r>
              <a:rPr sz="2025" b="0">
                <a:solidFill>
                  <a:srgbClr val="243D3B"/>
                </a:solidFill>
                <a:latin typeface="Arial"/>
                <a:ea typeface="Arial"/>
                <a:cs typeface="Arial"/>
              </a:rPr>
              <a:t>Dilworth outcome, geometry and learned review topics</a:t>
            </a:r>
          </a:p>
        </p:txBody>
      </p:sp>
      <p:sp>
        <p:nvSpPr>
          <p:cNvPr id="5" name="2   Test a documented scenario">
            <a:extLst xmlns:a="http://schemas.openxmlformats.org/drawingml/2006/main">
              <a:ext uri="{FF2B5EF4-FFF2-40B4-BE49-F238E27FC236}">
                <a16:creationId xmlns:a16="http://schemas.microsoft.com/office/drawing/2014/main" id="{396FC14D-500E-45E4-8A20-64A53DDB0C12}"/>
              </a:ext>
            </a:extLst>
          </p:cNvPr>
          <p:cNvSpPr>
            <a:spLocks xmlns:a="http://schemas.openxmlformats.org/drawingml/2006/main" noGrp="1"/>
          </p:cNvSpPr>
          <p:nvPr/>
        </p:nvSpPr>
        <p:spPr>
          <a:xfrm xmlns:a="http://schemas.openxmlformats.org/drawingml/2006/main">
            <a:off x="609600" y="349567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43D3B"/>
                </a:solidFill>
                <a:latin typeface="Arial"/>
                <a:ea typeface="Arial"/>
                <a:cs typeface="Arial"/>
              </a:defRPr>
            </a:pPr>
            <a:r>
              <a:rPr sz="2400" b="1">
                <a:solidFill>
                  <a:srgbClr val="243D3B"/>
                </a:solidFill>
                <a:latin typeface="Arial"/>
                <a:ea typeface="Arial"/>
                <a:cs typeface="Arial"/>
              </a:rPr>
              <a:t>2   Test a documented scenario</a:t>
            </a:r>
          </a:p>
        </p:txBody>
      </p:sp>
      <p:sp>
        <p:nvSpPr>
          <p:cNvPr id="6" name="Change the budget, inspect support, ">
            <a:extLst xmlns:a="http://schemas.openxmlformats.org/drawingml/2006/main">
              <a:ext uri="{FF2B5EF4-FFF2-40B4-BE49-F238E27FC236}">
                <a16:creationId xmlns:a16="http://schemas.microsoft.com/office/drawing/2014/main" id="{64F4901C-4328-4045-AF3E-61DBC03A75EA}"/>
              </a:ext>
            </a:extLst>
          </p:cNvPr>
          <p:cNvSpPr>
            <a:spLocks xmlns:a="http://schemas.openxmlformats.org/drawingml/2006/main" noGrp="1"/>
          </p:cNvSpPr>
          <p:nvPr/>
        </p:nvSpPr>
        <p:spPr>
          <a:xfrm xmlns:a="http://schemas.openxmlformats.org/drawingml/2006/main">
            <a:off x="1057275" y="4181475"/>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D3B"/>
                </a:solidFill>
                <a:latin typeface="Arial"/>
                <a:ea typeface="Arial"/>
                <a:cs typeface="Arial"/>
              </a:defRPr>
            </a:pPr>
            <a:r>
              <a:rPr sz="2025" b="0">
                <a:solidFill>
                  <a:srgbClr val="243D3B"/>
                </a:solidFill>
                <a:latin typeface="Arial"/>
                <a:ea typeface="Arial"/>
                <a:cs typeface="Arial"/>
              </a:rPr>
              <a:t>Change the budget, inspect support, then export</a:t>
            </a:r>
          </a:p>
        </p:txBody>
      </p:sp>
      <p:sp>
        <p:nvSpPr>
          <p:cNvPr id="7" name="Live demonstration: 3 minutes">
            <a:extLst xmlns:a="http://schemas.openxmlformats.org/drawingml/2006/main">
              <a:ext uri="{FF2B5EF4-FFF2-40B4-BE49-F238E27FC236}">
                <a16:creationId xmlns:a16="http://schemas.microsoft.com/office/drawing/2014/main" id="{BAE5EE68-BF2B-460B-A7D7-7120DFBE83BF}"/>
              </a:ext>
            </a:extLst>
          </p:cNvPr>
          <p:cNvSpPr>
            <a:spLocks xmlns:a="http://schemas.openxmlformats.org/drawingml/2006/main" noGrp="1"/>
          </p:cNvSpPr>
          <p:nvPr/>
        </p:nvSpPr>
        <p:spPr>
          <a:xfrm xmlns:a="http://schemas.openxmlformats.org/drawingml/2006/main">
            <a:off x="609600" y="5619750"/>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76F61"/>
                </a:solidFill>
                <a:latin typeface="Arial"/>
                <a:ea typeface="Arial"/>
                <a:cs typeface="Arial"/>
              </a:defRPr>
            </a:pPr>
            <a:r>
              <a:rPr sz="1950" b="0">
                <a:solidFill>
                  <a:srgbClr val="376F61"/>
                </a:solidFill>
                <a:latin typeface="Arial"/>
                <a:ea typeface="Arial"/>
                <a:cs typeface="Arial"/>
              </a:rPr>
              <a:t>Live demonstration: 3 minutes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69168def0ee4f2a"/>
          <a:stretch xmlns:a="http://schemas.openxmlformats.org/drawingml/2006/main"/>
        </p:blipFill>
        <p:spPr>
          <a:xfrm xmlns:a="http://schemas.openxmlformats.org/drawingml/2006/main">
            <a:off x="8965779" y="1476375"/>
            <a:ext cx="2156668" cy="4667250"/>
          </a:xfrm>
          <a:prstGeom xmlns:a="http://schemas.openxmlformats.org/drawingml/2006/main" prst="rect">
            <a:avLst/>
          </a:prstGeom>
        </p:spPr>
      </p:pic>
    </p:spTree>
    <p:extLst>
      <p:ext uri="{BB962C8B-B14F-4D97-AF65-F5344CB8AC3E}">
        <p14:creationId xmlns:p14="http://schemas.microsoft.com/office/powerpoint/2010/main" val="348054620"/>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The current estimate needs stronger ">
            <a:extLst xmlns:a="http://schemas.openxmlformats.org/drawingml/2006/main">
              <a:ext uri="{FF2B5EF4-FFF2-40B4-BE49-F238E27FC236}">
                <a16:creationId xmlns:a16="http://schemas.microsoft.com/office/drawing/2014/main" id="{0C222B19-BD04-47E8-BC57-445F903E6CE6}"/>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The current estimate needs stronger evidence</a:t>
            </a:r>
          </a:p>
        </p:txBody>
      </p:sp>
      <p:sp>
        <p:nvSpPr>
          <p:cNvPr id="2" name="09">
            <a:extLst xmlns:a="http://schemas.openxmlformats.org/drawingml/2006/main">
              <a:ext uri="{FF2B5EF4-FFF2-40B4-BE49-F238E27FC236}">
                <a16:creationId xmlns:a16="http://schemas.microsoft.com/office/drawing/2014/main" id="{A96AF7BB-68E8-4DE5-BE96-961290DFF536}"/>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09</a:t>
            </a:r>
          </a:p>
        </p:txBody>
      </p:sp>
      <p:graphicFrame>
        <p:nvGraphicFramePr>
          <p:cNvPr id="8" name=""/>
          <p:cNvGraphicFramePr/>
          <p:nvPr/>
        </p:nvGraphicFramePr>
        <p:xfrm>
          <a:off xmlns:a="http://schemas.openxmlformats.org/drawingml/2006/main" x="609600" y="1647825"/>
          <a:ext xmlns:a="http://schemas.openxmlformats.org/drawingml/2006/main" cx="10972800" cy="2743200"/>
        </p:xfrm>
        <a:graphic xmlns:a="http://schemas.openxmlformats.org/drawingml/2006/main">
          <a:graphicData uri="http://schemas.openxmlformats.org/drawingml/2006/table">
            <a:tbl>
              <a:tblPr/>
              <a:tblGrid>
                <a:gridCol w="7258050"/>
                <a:gridCol w="1857375"/>
                <a:gridCol w="1857375"/>
              </a:tblGrid>
              <a:tr h="685800">
                <a:tc>
                  <a:txBody>
                    <a:bodyPr lIns="152400" tIns="95250" rIns="114300" bIns="95250"/>
                    <a:lstStyle/>
                    <a:p>
                      <a:r>
                        <a:rPr sz="1875" b="1">
                          <a:solidFill>
                            <a:srgbClr val="FFFDF8"/>
                          </a:solidFill>
                          <a:latin typeface="Arial"/>
                          <a:ea typeface="Arial"/>
                          <a:cs typeface="Arial"/>
                        </a:rPr>
                        <a:t>City-held-out MAE</a:t>
                      </a:r>
                    </a:p>
                  </a:txBody>
                  <a:tcPr marL="91440" marR="91440" marT="45720" marB="45720" anchor="ctr">
                    <a:solidFill>
                      <a:srgbClr val="243D3B"/>
                    </a:solidFill>
                  </a:tcPr>
                </a:tc>
                <a:tc>
                  <a:txBody>
                    <a:bodyPr lIns="152400" tIns="95250" rIns="114300" bIns="95250"/>
                    <a:lstStyle/>
                    <a:p>
                      <a:r>
                        <a:rPr sz="1875" b="1">
                          <a:solidFill>
                            <a:srgbClr val="FFFDF8"/>
                          </a:solidFill>
                          <a:latin typeface="Arial"/>
                          <a:ea typeface="Arial"/>
                          <a:cs typeface="Arial"/>
                        </a:rPr>
                        <a:t>Model</a:t>
                      </a:r>
                    </a:p>
                  </a:txBody>
                  <a:tcPr marL="91440" marR="91440" marT="45720" marB="45720" anchor="ctr">
                    <a:solidFill>
                      <a:srgbClr val="243D3B"/>
                    </a:solidFill>
                  </a:tcPr>
                </a:tc>
                <a:tc>
                  <a:txBody>
                    <a:bodyPr lIns="152400" tIns="95250" rIns="114300" bIns="95250"/>
                    <a:lstStyle/>
                    <a:p>
                      <a:r>
                        <a:rPr sz="1875" b="1">
                          <a:solidFill>
                            <a:srgbClr val="FFFDF8"/>
                          </a:solidFill>
                          <a:latin typeface="Arial"/>
                          <a:ea typeface="Arial"/>
                          <a:cs typeface="Arial"/>
                        </a:rPr>
                        <a:t>Mean</a:t>
                      </a:r>
                    </a:p>
                  </a:txBody>
                  <a:tcPr marL="91440" marR="91440" marT="45720" marB="45720" anchor="ctr">
                    <a:solidFill>
                      <a:srgbClr val="243D3B"/>
                    </a:solidFill>
                  </a:tcPr>
                </a:tc>
              </a:tr>
              <a:tr h="685800">
                <a:tc>
                  <a:txBody>
                    <a:bodyPr lIns="152400" tIns="95250" rIns="114300" bIns="95250"/>
                    <a:lstStyle/>
                    <a:p>
                      <a:r>
                        <a:rPr sz="1875" b="0">
                          <a:solidFill>
                            <a:srgbClr val="243D3B"/>
                          </a:solidFill>
                          <a:latin typeface="Arial"/>
                          <a:ea typeface="Arial"/>
                          <a:cs typeface="Arial"/>
                        </a:rPr>
                        <a:t>All 10 projects</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45.6</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58.5</a:t>
                      </a:r>
                    </a:p>
                  </a:txBody>
                  <a:tcPr marL="91440" marR="91440" marT="45720" marB="45720" anchor="ctr">
                    <a:solidFill>
                      <a:srgbClr val="FFFDF8"/>
                    </a:solidFill>
                  </a:tcPr>
                </a:tc>
              </a:tr>
              <a:tr h="685800">
                <a:tc>
                  <a:txBody>
                    <a:bodyPr lIns="152400" tIns="95250" rIns="114300" bIns="95250"/>
                    <a:lstStyle/>
                    <a:p>
                      <a:r>
                        <a:rPr sz="1875" b="0">
                          <a:solidFill>
                            <a:srgbClr val="243D3B"/>
                          </a:solidFill>
                          <a:latin typeface="Arial"/>
                          <a:ea typeface="Arial"/>
                          <a:cs typeface="Arial"/>
                        </a:rPr>
                        <a:t>Exclude pandemic windows, 8 cases</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60.3</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59.5</a:t>
                      </a:r>
                    </a:p>
                  </a:txBody>
                  <a:tcPr marL="91440" marR="91440" marT="45720" marB="45720" anchor="ctr">
                    <a:solidFill>
                      <a:srgbClr val="F5F3ED"/>
                    </a:solidFill>
                  </a:tcPr>
                </a:tc>
              </a:tr>
              <a:tr h="685800">
                <a:tc>
                  <a:txBody>
                    <a:bodyPr lIns="152400" tIns="95250" rIns="114300" bIns="95250"/>
                    <a:lstStyle/>
                    <a:p>
                      <a:r>
                        <a:rPr sz="1875" b="0">
                          <a:solidFill>
                            <a:srgbClr val="243D3B"/>
                          </a:solidFill>
                          <a:latin typeface="Arial"/>
                          <a:ea typeface="Arial"/>
                          <a:cs typeface="Arial"/>
                        </a:rPr>
                        <a:t>Also exclude construction overlap, 7 cases</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70.2</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61.6</a:t>
                      </a:r>
                    </a:p>
                  </a:txBody>
                  <a:tcPr marL="91440" marR="91440" marT="45720" marB="45720" anchor="ctr">
                    <a:solidFill>
                      <a:srgbClr val="FFFDF8"/>
                    </a:solidFill>
                  </a:tcPr>
                </a:tc>
              </a:tr>
            </a:tbl>
          </a:graphicData>
        </a:graphic>
      </p:graphicFrame>
      <p:sp>
        <p:nvSpPr>
          <p:cNvPr id="4" name="The predictive advantage does not su">
            <a:extLst xmlns:a="http://schemas.openxmlformats.org/drawingml/2006/main">
              <a:ext uri="{FF2B5EF4-FFF2-40B4-BE49-F238E27FC236}">
                <a16:creationId xmlns:a16="http://schemas.microsoft.com/office/drawing/2014/main" id="{CF6893CE-99C2-4079-82DB-906B982372B5}"/>
              </a:ext>
            </a:extLst>
          </p:cNvPr>
          <p:cNvSpPr>
            <a:spLocks xmlns:a="http://schemas.openxmlformats.org/drawingml/2006/main" noGrp="1"/>
          </p:cNvSpPr>
          <p:nvPr/>
        </p:nvSpPr>
        <p:spPr>
          <a:xfrm xmlns:a="http://schemas.openxmlformats.org/drawingml/2006/main">
            <a:off x="609600" y="47148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D7950"/>
                </a:solidFill>
                <a:latin typeface="Arial"/>
                <a:ea typeface="Arial"/>
                <a:cs typeface="Arial"/>
              </a:defRPr>
            </a:pPr>
            <a:r>
              <a:rPr sz="2400" b="1">
                <a:solidFill>
                  <a:srgbClr val="AD7950"/>
                </a:solidFill>
                <a:latin typeface="Arial"/>
                <a:ea typeface="Arial"/>
                <a:cs typeface="Arial"/>
              </a:rPr>
              <a:t>The predictive advantage does not survive these timing exclusions.</a:t>
            </a:r>
          </a:p>
        </p:txBody>
      </p:sp>
      <p:sp>
        <p:nvSpPr>
          <p:cNvPr id="5" name="Five geometry proxies remain. Curren">
            <a:extLst xmlns:a="http://schemas.openxmlformats.org/drawingml/2006/main">
              <a:ext uri="{FF2B5EF4-FFF2-40B4-BE49-F238E27FC236}">
                <a16:creationId xmlns:a16="http://schemas.microsoft.com/office/drawing/2014/main" id="{3CEFAEE3-0177-424F-8C63-E8C07D52A136}"/>
              </a:ext>
            </a:extLst>
          </p:cNvPr>
          <p:cNvSpPr>
            <a:spLocks xmlns:a="http://schemas.openxmlformats.org/drawingml/2006/main" noGrp="1"/>
          </p:cNvSpPr>
          <p:nvPr/>
        </p:nvSpPr>
        <p:spPr>
          <a:xfrm xmlns:a="http://schemas.openxmlformats.org/drawingml/2006/main">
            <a:off x="609600" y="56483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43D3B"/>
                </a:solidFill>
                <a:latin typeface="Arial"/>
                <a:ea typeface="Arial"/>
                <a:cs typeface="Arial"/>
              </a:defRPr>
            </a:pPr>
            <a:r>
              <a:rPr sz="1875" b="0">
                <a:solidFill>
                  <a:srgbClr val="243D3B"/>
                </a:solidFill>
                <a:latin typeface="Arial"/>
                <a:ea typeface="Arial"/>
                <a:cs typeface="Arial"/>
              </a:rPr>
              <a:t>Five geometry proxies remain. Current proposals need fresh local measurements.</a:t>
            </a:r>
          </a:p>
        </p:txBody>
      </p:sp>
    </p:spTree>
    <p:extLst>
      <p:ext uri="{BB962C8B-B14F-4D97-AF65-F5344CB8AC3E}">
        <p14:creationId xmlns:p14="http://schemas.microsoft.com/office/powerpoint/2010/main" val="1076028218"/>
      </p:ext>
    </p:extLst>
  </p:cSld>
</p:sld>
</file>

<file path=ppt/slides/slide10.xml><?xml version="1.0" encoding="utf-8"?>
<p:sld xmlns:p="http://schemas.openxmlformats.org/presentationml/2006/main">
  <p:cSld>
    <p:bg>
      <p:bgPr>
        <a:solidFill xmlns:a="http://schemas.openxmlformats.org/drawingml/2006/main">
          <a:srgbClr val="243D3B"/>
        </a:solidFill>
      </p:bgPr>
    </p:bg>
    <p:spTree>
      <p:nvGrpSpPr>
        <p:cNvPr id="1" name=""/>
        <p:cNvGrpSpPr/>
        <p:nvPr/>
      </p:nvGrpSpPr>
      <p:grpSpPr>
        <a:xfrm xmlns:a="http://schemas.openxmlformats.org/drawingml/2006/main"/>
      </p:grpSpPr>
      <p:sp>
        <p:nvSpPr>
          <p:cNvPr id="6" name="A usable foundation for public-proje">
            <a:extLst xmlns:a="http://schemas.openxmlformats.org/drawingml/2006/main">
              <a:ext uri="{FF2B5EF4-FFF2-40B4-BE49-F238E27FC236}">
                <a16:creationId xmlns:a16="http://schemas.microsoft.com/office/drawing/2014/main" id="{D1195DAA-AD22-4195-81BC-7F8018DC9BD6}"/>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5F3ED"/>
                </a:solidFill>
                <a:latin typeface="Arial"/>
                <a:ea typeface="Arial"/>
                <a:cs typeface="Arial"/>
              </a:defRPr>
            </a:pPr>
            <a:r>
              <a:rPr sz="3450" b="1">
                <a:solidFill>
                  <a:srgbClr val="F5F3ED"/>
                </a:solidFill>
                <a:latin typeface="Arial"/>
                <a:ea typeface="Arial"/>
                <a:cs typeface="Arial"/>
              </a:rPr>
              <a:t>A usable foundation for public-project planning</a:t>
            </a:r>
          </a:p>
        </p:txBody>
      </p:sp>
      <p:sp>
        <p:nvSpPr>
          <p:cNvPr id="2" name="10">
            <a:extLst xmlns:a="http://schemas.openxmlformats.org/drawingml/2006/main">
              <a:ext uri="{FF2B5EF4-FFF2-40B4-BE49-F238E27FC236}">
                <a16:creationId xmlns:a16="http://schemas.microsoft.com/office/drawing/2014/main" id="{24D63BCB-8967-4D60-BCC3-7EB1DE11D9CB}"/>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C4BA"/>
                </a:solidFill>
                <a:latin typeface="Arial"/>
                <a:ea typeface="Arial"/>
                <a:cs typeface="Arial"/>
              </a:defRPr>
            </a:pPr>
            <a:r>
              <a:rPr sz="1275" b="0">
                <a:solidFill>
                  <a:srgbClr val="AFC4BA"/>
                </a:solidFill>
                <a:latin typeface="Arial"/>
                <a:ea typeface="Arial"/>
                <a:cs typeface="Arial"/>
              </a:rPr>
              <a:t>10</a:t>
            </a:r>
          </a:p>
        </p:txBody>
      </p:sp>
      <p:sp>
        <p:nvSpPr>
          <p:cNvPr id="3" name="Review language becomes evidence&#10;tha">
            <a:extLst xmlns:a="http://schemas.openxmlformats.org/drawingml/2006/main">
              <a:ext uri="{FF2B5EF4-FFF2-40B4-BE49-F238E27FC236}">
                <a16:creationId xmlns:a16="http://schemas.microsoft.com/office/drawing/2014/main" id="{BEAC0244-3423-465E-B499-C1BB5994121B}"/>
              </a:ext>
            </a:extLst>
          </p:cNvPr>
          <p:cNvSpPr>
            <a:spLocks xmlns:a="http://schemas.openxmlformats.org/drawingml/2006/main" noGrp="1"/>
          </p:cNvSpPr>
          <p:nvPr/>
        </p:nvSpPr>
        <p:spPr>
          <a:xfrm xmlns:a="http://schemas.openxmlformats.org/drawingml/2006/main">
            <a:off x="609600" y="1838325"/>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F5F3ED"/>
                </a:solidFill>
                <a:latin typeface="Arial"/>
                <a:ea typeface="Arial"/>
                <a:cs typeface="Arial"/>
              </a:defRPr>
            </a:pPr>
            <a:r>
              <a:rPr sz="3375" b="1">
                <a:solidFill>
                  <a:srgbClr val="F5F3ED"/>
                </a:solidFill>
                <a:latin typeface="Arial"/>
                <a:ea typeface="Arial"/>
                <a:cs typeface="Arial"/>
              </a:rPr>
              <a:t>Review language becomes evidence</a:t>
            </a:r>
          </a:p>
          <a:p xmlns:a="http://schemas.openxmlformats.org/drawingml/2006/main">
            <a:pPr>
              <a:defRPr sz="3375" b="1">
                <a:solidFill>
                  <a:srgbClr val="F5F3ED"/>
                </a:solidFill>
                <a:latin typeface="Arial"/>
                <a:ea typeface="Arial"/>
                <a:cs typeface="Arial"/>
              </a:defRPr>
            </a:pPr>
            <a:r>
              <a:rPr sz="3375" b="1">
                <a:solidFill>
                  <a:srgbClr val="F5F3ED"/>
                </a:solidFill>
                <a:latin typeface="Arial"/>
                <a:ea typeface="Arial"/>
                <a:cs typeface="Arial"/>
              </a:rPr>
              <a:t>that an official can inspect.</a:t>
            </a:r>
          </a:p>
        </p:txBody>
      </p:sp>
      <p:sp>
        <p:nvSpPr>
          <p:cNvPr id="4" name="Today: compare historical projects a">
            <a:extLst xmlns:a="http://schemas.openxmlformats.org/drawingml/2006/main">
              <a:ext uri="{FF2B5EF4-FFF2-40B4-BE49-F238E27FC236}">
                <a16:creationId xmlns:a16="http://schemas.microsoft.com/office/drawing/2014/main" id="{50D53330-D124-4EDF-A0EF-B2F1CFDCC0AE}"/>
              </a:ext>
            </a:extLst>
          </p:cNvPr>
          <p:cNvSpPr>
            <a:spLocks xmlns:a="http://schemas.openxmlformats.org/drawingml/2006/main" noGrp="1"/>
          </p:cNvSpPr>
          <p:nvPr/>
        </p:nvSpPr>
        <p:spPr>
          <a:xfrm xmlns:a="http://schemas.openxmlformats.org/drawingml/2006/main">
            <a:off x="609600" y="36480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1E0D4"/>
                </a:solidFill>
                <a:latin typeface="Arial"/>
                <a:ea typeface="Arial"/>
                <a:cs typeface="Arial"/>
              </a:defRPr>
            </a:pPr>
            <a:r>
              <a:rPr sz="2250" b="0">
                <a:solidFill>
                  <a:srgbClr val="D1E0D4"/>
                </a:solidFill>
                <a:latin typeface="Arial"/>
                <a:ea typeface="Arial"/>
                <a:cs typeface="Arial"/>
              </a:rPr>
              <a:t>Today: compare historical projects and explore assumptions.</a:t>
            </a:r>
          </a:p>
        </p:txBody>
      </p:sp>
      <p:sp>
        <p:nvSpPr>
          <p:cNvPr id="5" name="Next: pilot one measured proposal, t">
            <a:extLst xmlns:a="http://schemas.openxmlformats.org/drawingml/2006/main">
              <a:ext uri="{FF2B5EF4-FFF2-40B4-BE49-F238E27FC236}">
                <a16:creationId xmlns:a16="http://schemas.microsoft.com/office/drawing/2014/main" id="{0519A1B2-0DF6-43B3-80AD-933C24598A7B}"/>
              </a:ext>
            </a:extLst>
          </p:cNvPr>
          <p:cNvSpPr>
            <a:spLocks xmlns:a="http://schemas.openxmlformats.org/drawingml/2006/main" noGrp="1"/>
          </p:cNvSpPr>
          <p:nvPr/>
        </p:nvSpPr>
        <p:spPr>
          <a:xfrm xmlns:a="http://schemas.openxmlformats.org/drawingml/2006/main">
            <a:off x="609600" y="4762500"/>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5F3ED"/>
                </a:solidFill>
                <a:latin typeface="Arial"/>
                <a:ea typeface="Arial"/>
                <a:cs typeface="Arial"/>
              </a:defRPr>
            </a:pPr>
            <a:r>
              <a:rPr sz="2400" b="0">
                <a:solidFill>
                  <a:srgbClr val="F5F3ED"/>
                </a:solidFill>
                <a:latin typeface="Arial"/>
                <a:ea typeface="Arial"/>
                <a:cs typeface="Arial"/>
              </a:rPr>
              <a:t>Next: pilot one measured proposal, then validate</a:t>
            </a:r>
          </a:p>
          <a:p xmlns:a="http://schemas.openxmlformats.org/drawingml/2006/main">
            <a:pPr>
              <a:defRPr sz="2400" b="0">
                <a:solidFill>
                  <a:srgbClr val="F5F3ED"/>
                </a:solidFill>
                <a:latin typeface="Arial"/>
                <a:ea typeface="Arial"/>
                <a:cs typeface="Arial"/>
              </a:defRPr>
            </a:pPr>
            <a:r>
              <a:rPr sz="2400" b="0">
                <a:solidFill>
                  <a:srgbClr val="F5F3ED"/>
                </a:solidFill>
                <a:latin typeface="Arial"/>
                <a:ea typeface="Arial"/>
                <a:cs typeface="Arial"/>
              </a:rPr>
              <a:t>with more projects and independently labeled text.</a:t>
            </a:r>
          </a:p>
        </p:txBody>
      </p:sp>
    </p:spTree>
    <p:extLst>
      <p:ext uri="{BB962C8B-B14F-4D97-AF65-F5344CB8AC3E}">
        <p14:creationId xmlns:p14="http://schemas.microsoft.com/office/powerpoint/2010/main" val="375577221"/>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Appendix: model comparisons and inpu">
            <a:extLst xmlns:a="http://schemas.openxmlformats.org/drawingml/2006/main">
              <a:ext uri="{FF2B5EF4-FFF2-40B4-BE49-F238E27FC236}">
                <a16:creationId xmlns:a16="http://schemas.microsoft.com/office/drawing/2014/main" id="{36962514-F095-4B46-995D-8F869F99904A}"/>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Appendix: model comparisons and inputs</a:t>
            </a:r>
          </a:p>
        </p:txBody>
      </p:sp>
      <p:sp>
        <p:nvSpPr>
          <p:cNvPr id="2" name="11">
            <a:extLst xmlns:a="http://schemas.openxmlformats.org/drawingml/2006/main">
              <a:ext uri="{FF2B5EF4-FFF2-40B4-BE49-F238E27FC236}">
                <a16:creationId xmlns:a16="http://schemas.microsoft.com/office/drawing/2014/main" id="{6587EFB1-1182-4022-A133-C41E3ABB3C05}"/>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11</a:t>
            </a:r>
          </a:p>
        </p:txBody>
      </p:sp>
      <p:graphicFrame>
        <p:nvGraphicFramePr>
          <p:cNvPr id="8" name=""/>
          <p:cNvGraphicFramePr/>
          <p:nvPr/>
        </p:nvGraphicFramePr>
        <p:xfrm>
          <a:off xmlns:a="http://schemas.openxmlformats.org/drawingml/2006/main" x="609600" y="1524000"/>
          <a:ext xmlns:a="http://schemas.openxmlformats.org/drawingml/2006/main" cx="10972800" cy="3543300"/>
        </p:xfrm>
        <a:graphic xmlns:a="http://schemas.openxmlformats.org/drawingml/2006/main">
          <a:graphicData uri="http://schemas.openxmlformats.org/drawingml/2006/table">
            <a:tbl>
              <a:tblPr/>
              <a:tblGrid>
                <a:gridCol w="6972300"/>
                <a:gridCol w="2000250"/>
                <a:gridCol w="2000250"/>
              </a:tblGrid>
              <a:tr h="590550">
                <a:tc>
                  <a:txBody>
                    <a:bodyPr lIns="152400" tIns="95250" rIns="114300" bIns="95250"/>
                    <a:lstStyle/>
                    <a:p>
                      <a:r>
                        <a:rPr sz="1875" b="1">
                          <a:solidFill>
                            <a:srgbClr val="FFFDF8"/>
                          </a:solidFill>
                          <a:latin typeface="Arial"/>
                          <a:ea typeface="Arial"/>
                          <a:cs typeface="Arial"/>
                        </a:rPr>
                        <a:t>Predictor</a:t>
                      </a:r>
                    </a:p>
                  </a:txBody>
                  <a:tcPr marL="91440" marR="91440" marT="45720" marB="45720" anchor="ctr">
                    <a:solidFill>
                      <a:srgbClr val="243D3B"/>
                    </a:solidFill>
                  </a:tcPr>
                </a:tc>
                <a:tc>
                  <a:txBody>
                    <a:bodyPr lIns="152400" tIns="95250" rIns="114300" bIns="95250"/>
                    <a:lstStyle/>
                    <a:p>
                      <a:r>
                        <a:rPr sz="1875" b="1">
                          <a:solidFill>
                            <a:srgbClr val="FFFDF8"/>
                          </a:solidFill>
                          <a:latin typeface="Arial"/>
                          <a:ea typeface="Arial"/>
                          <a:cs typeface="Arial"/>
                        </a:rPr>
                        <a:t>Project MAE</a:t>
                      </a:r>
                    </a:p>
                  </a:txBody>
                  <a:tcPr marL="91440" marR="91440" marT="45720" marB="45720" anchor="ctr">
                    <a:solidFill>
                      <a:srgbClr val="243D3B"/>
                    </a:solidFill>
                  </a:tcPr>
                </a:tc>
                <a:tc>
                  <a:txBody>
                    <a:bodyPr lIns="152400" tIns="95250" rIns="114300" bIns="95250"/>
                    <a:lstStyle/>
                    <a:p>
                      <a:r>
                        <a:rPr sz="1875" b="1">
                          <a:solidFill>
                            <a:srgbClr val="FFFDF8"/>
                          </a:solidFill>
                          <a:latin typeface="Arial"/>
                          <a:ea typeface="Arial"/>
                          <a:cs typeface="Arial"/>
                        </a:rPr>
                        <a:t>City MAE</a:t>
                      </a:r>
                    </a:p>
                  </a:txBody>
                  <a:tcPr marL="91440" marR="91440" marT="45720" marB="45720" anchor="ctr">
                    <a:solidFill>
                      <a:srgbClr val="243D3B"/>
                    </a:solidFill>
                  </a:tcPr>
                </a:tc>
              </a:tr>
              <a:tr h="590550">
                <a:tc>
                  <a:txBody>
                    <a:bodyPr lIns="152400" tIns="95250" rIns="114300" bIns="95250"/>
                    <a:lstStyle/>
                    <a:p>
                      <a:r>
                        <a:rPr sz="1875" b="0">
                          <a:solidFill>
                            <a:srgbClr val="243D3B"/>
                          </a:solidFill>
                          <a:latin typeface="Arial"/>
                          <a:ea typeface="Arial"/>
                          <a:cs typeface="Arial"/>
                        </a:rPr>
                        <a:t>Mean benchmark</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61.62</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58.48</a:t>
                      </a:r>
                    </a:p>
                  </a:txBody>
                  <a:tcPr marL="91440" marR="91440" marT="45720" marB="45720" anchor="ctr">
                    <a:solidFill>
                      <a:srgbClr val="FFFDF8"/>
                    </a:solidFill>
                  </a:tcPr>
                </a:tc>
              </a:tr>
              <a:tr h="590550">
                <a:tc>
                  <a:txBody>
                    <a:bodyPr lIns="152400" tIns="95250" rIns="114300" bIns="95250"/>
                    <a:lstStyle/>
                    <a:p>
                      <a:r>
                        <a:rPr sz="1875" b="0">
                          <a:solidFill>
                            <a:srgbClr val="243D3B"/>
                          </a:solidFill>
                          <a:latin typeface="Arial"/>
                          <a:ea typeface="Arial"/>
                          <a:cs typeface="Arial"/>
                        </a:rPr>
                        <a:t>Review activity + cost</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49.33</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45.61</a:t>
                      </a:r>
                    </a:p>
                  </a:txBody>
                  <a:tcPr marL="91440" marR="91440" marT="45720" marB="45720" anchor="ctr">
                    <a:solidFill>
                      <a:srgbClr val="F5F3ED"/>
                    </a:solidFill>
                  </a:tcPr>
                </a:tc>
              </a:tr>
              <a:tr h="590550">
                <a:tc>
                  <a:txBody>
                    <a:bodyPr lIns="152400" tIns="95250" rIns="114300" bIns="95250"/>
                    <a:lstStyle/>
                    <a:p>
                      <a:r>
                        <a:rPr sz="1875" b="0">
                          <a:solidFill>
                            <a:srgbClr val="243D3B"/>
                          </a:solidFill>
                          <a:latin typeface="Arial"/>
                          <a:ea typeface="Arial"/>
                          <a:cs typeface="Arial"/>
                        </a:rPr>
                        <a:t>Plus rule text</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53.10</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48.19</a:t>
                      </a:r>
                    </a:p>
                  </a:txBody>
                  <a:tcPr marL="91440" marR="91440" marT="45720" marB="45720" anchor="ctr">
                    <a:solidFill>
                      <a:srgbClr val="FFFDF8"/>
                    </a:solidFill>
                  </a:tcPr>
                </a:tc>
              </a:tr>
              <a:tr h="590550">
                <a:tc>
                  <a:txBody>
                    <a:bodyPr lIns="152400" tIns="95250" rIns="114300" bIns="95250"/>
                    <a:lstStyle/>
                    <a:p>
                      <a:r>
                        <a:rPr sz="1875" b="0">
                          <a:solidFill>
                            <a:srgbClr val="243D3B"/>
                          </a:solidFill>
                          <a:latin typeface="Arial"/>
                          <a:ea typeface="Arial"/>
                          <a:cs typeface="Arial"/>
                        </a:rPr>
                        <a:t>Plus earlier trend</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51.52</a:t>
                      </a:r>
                    </a:p>
                  </a:txBody>
                  <a:tcPr marL="91440" marR="91440" marT="45720" marB="45720" anchor="ctr">
                    <a:solidFill>
                      <a:srgbClr val="F5F3ED"/>
                    </a:solidFill>
                  </a:tcPr>
                </a:tc>
                <a:tc>
                  <a:txBody>
                    <a:bodyPr lIns="152400" tIns="95250" rIns="114300" bIns="95250"/>
                    <a:lstStyle/>
                    <a:p>
                      <a:r>
                        <a:rPr sz="1875" b="0">
                          <a:solidFill>
                            <a:srgbClr val="243D3B"/>
                          </a:solidFill>
                          <a:latin typeface="Arial"/>
                          <a:ea typeface="Arial"/>
                          <a:cs typeface="Arial"/>
                        </a:rPr>
                        <a:t>46.26</a:t>
                      </a:r>
                    </a:p>
                  </a:txBody>
                  <a:tcPr marL="91440" marR="91440" marT="45720" marB="45720" anchor="ctr">
                    <a:solidFill>
                      <a:srgbClr val="F5F3ED"/>
                    </a:solidFill>
                  </a:tcPr>
                </a:tc>
              </a:tr>
              <a:tr h="590550">
                <a:tc>
                  <a:txBody>
                    <a:bodyPr lIns="152400" tIns="95250" rIns="114300" bIns="95250"/>
                    <a:lstStyle/>
                    <a:p>
                      <a:r>
                        <a:rPr sz="1875" b="0">
                          <a:solidFill>
                            <a:srgbClr val="243D3B"/>
                          </a:solidFill>
                          <a:latin typeface="Arial"/>
                          <a:ea typeface="Arial"/>
                          <a:cs typeface="Arial"/>
                        </a:rPr>
                        <a:t>Plus learned text</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53.04</a:t>
                      </a:r>
                    </a:p>
                  </a:txBody>
                  <a:tcPr marL="91440" marR="91440" marT="45720" marB="45720" anchor="ctr">
                    <a:solidFill>
                      <a:srgbClr val="FFFDF8"/>
                    </a:solidFill>
                  </a:tcPr>
                </a:tc>
                <a:tc>
                  <a:txBody>
                    <a:bodyPr lIns="152400" tIns="95250" rIns="114300" bIns="95250"/>
                    <a:lstStyle/>
                    <a:p>
                      <a:r>
                        <a:rPr sz="1875" b="0">
                          <a:solidFill>
                            <a:srgbClr val="243D3B"/>
                          </a:solidFill>
                          <a:latin typeface="Arial"/>
                          <a:ea typeface="Arial"/>
                          <a:cs typeface="Arial"/>
                        </a:rPr>
                        <a:t>46.67</a:t>
                      </a:r>
                    </a:p>
                  </a:txBody>
                  <a:tcPr marL="91440" marR="91440" marT="45720" marB="45720" anchor="ctr">
                    <a:solidFill>
                      <a:srgbClr val="FFFDF8"/>
                    </a:solidFill>
                  </a:tcPr>
                </a:tc>
              </a:tr>
            </a:tbl>
          </a:graphicData>
        </a:graphic>
      </p:graphicFrame>
      <p:sp>
        <p:nvSpPr>
          <p:cNvPr id="4" name="Baseline inputs: cost, reviewed busi">
            <a:extLst xmlns:a="http://schemas.openxmlformats.org/drawingml/2006/main">
              <a:ext uri="{FF2B5EF4-FFF2-40B4-BE49-F238E27FC236}">
                <a16:creationId xmlns:a16="http://schemas.microsoft.com/office/drawing/2014/main" id="{D7A16C52-9424-4F21-8C17-98508891E6D6}"/>
              </a:ext>
            </a:extLst>
          </p:cNvPr>
          <p:cNvSpPr>
            <a:spLocks xmlns:a="http://schemas.openxmlformats.org/drawingml/2006/main" noGrp="1"/>
          </p:cNvSpPr>
          <p:nvPr/>
        </p:nvSpPr>
        <p:spPr>
          <a:xfrm xmlns:a="http://schemas.openxmlformats.org/drawingml/2006/main">
            <a:off x="609600" y="54483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D3B"/>
                </a:solidFill>
                <a:latin typeface="Arial"/>
                <a:ea typeface="Arial"/>
                <a:cs typeface="Arial"/>
              </a:defRPr>
            </a:pPr>
            <a:r>
              <a:rPr sz="2025" b="0">
                <a:solidFill>
                  <a:srgbClr val="243D3B"/>
                </a:solidFill>
                <a:latin typeface="Arial"/>
                <a:ea typeface="Arial"/>
                <a:cs typeface="Arial"/>
              </a:rPr>
              <a:t>Baseline inputs: cost, reviewed businesses and reviews per reviewed business</a:t>
            </a:r>
          </a:p>
        </p:txBody>
      </p:sp>
      <p:sp>
        <p:nvSpPr>
          <p:cNvPr id="5" name="All errors use adjusted reviews / $1">
            <a:extLst xmlns:a="http://schemas.openxmlformats.org/drawingml/2006/main">
              <a:ext uri="{FF2B5EF4-FFF2-40B4-BE49-F238E27FC236}">
                <a16:creationId xmlns:a16="http://schemas.microsoft.com/office/drawing/2014/main" id="{F7DB2F5E-822B-483F-85A4-DB97F8735251}"/>
              </a:ext>
            </a:extLst>
          </p:cNvPr>
          <p:cNvSpPr>
            <a:spLocks xmlns:a="http://schemas.openxmlformats.org/drawingml/2006/main" noGrp="1"/>
          </p:cNvSpPr>
          <p:nvPr/>
        </p:nvSpPr>
        <p:spPr>
          <a:xfrm xmlns:a="http://schemas.openxmlformats.org/drawingml/2006/main">
            <a:off x="609600" y="61722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C6D66"/>
                </a:solidFill>
                <a:latin typeface="Arial"/>
                <a:ea typeface="Arial"/>
                <a:cs typeface="Arial"/>
              </a:defRPr>
            </a:pPr>
            <a:r>
              <a:rPr sz="1350" b="0">
                <a:solidFill>
                  <a:srgbClr val="5C6D66"/>
                </a:solidFill>
                <a:latin typeface="Arial"/>
                <a:ea typeface="Arial"/>
                <a:cs typeface="Arial"/>
              </a:rPr>
              <a:t>All errors use adjusted reviews / $1M. Evaluation remains exploratory.</a:t>
            </a:r>
          </a:p>
        </p:txBody>
      </p:sp>
    </p:spTree>
    <p:extLst>
      <p:ext uri="{BB962C8B-B14F-4D97-AF65-F5344CB8AC3E}">
        <p14:creationId xmlns:p14="http://schemas.microsoft.com/office/powerpoint/2010/main" val="1649134951"/>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4" name="Appendix: learned-text demo fallback">
            <a:extLst xmlns:a="http://schemas.openxmlformats.org/drawingml/2006/main">
              <a:ext uri="{FF2B5EF4-FFF2-40B4-BE49-F238E27FC236}">
                <a16:creationId xmlns:a16="http://schemas.microsoft.com/office/drawing/2014/main" id="{134F712E-B7D9-47FA-8317-86D230FAF8DD}"/>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Appendix: learned-text demo fallback</a:t>
            </a:r>
          </a:p>
        </p:txBody>
      </p:sp>
      <p:sp>
        <p:nvSpPr>
          <p:cNvPr id="2" name="12">
            <a:extLst xmlns:a="http://schemas.openxmlformats.org/drawingml/2006/main">
              <a:ext uri="{FF2B5EF4-FFF2-40B4-BE49-F238E27FC236}">
                <a16:creationId xmlns:a16="http://schemas.microsoft.com/office/drawing/2014/main" id="{CC3A8DDD-E9BA-4239-9DEE-FA3E1DB51855}"/>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12</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40c8f6f0fa44e2c"/>
          <a:stretch xmlns:a="http://schemas.openxmlformats.org/drawingml/2006/main"/>
        </p:blipFill>
        <p:spPr>
          <a:xfrm xmlns:a="http://schemas.openxmlformats.org/drawingml/2006/main">
            <a:off x="2286000" y="1476375"/>
            <a:ext cx="7620000" cy="4762500"/>
          </a:xfrm>
          <a:prstGeom xmlns:a="http://schemas.openxmlformats.org/drawingml/2006/main" prst="rect">
            <a:avLst/>
          </a:prstGeom>
        </p:spPr>
      </p:pic>
    </p:spTree>
    <p:extLst>
      <p:ext uri="{BB962C8B-B14F-4D97-AF65-F5344CB8AC3E}">
        <p14:creationId xmlns:p14="http://schemas.microsoft.com/office/powerpoint/2010/main" val="1212073079"/>
      </p:ext>
    </p:extLst>
  </p:cSld>
</p:sld>
</file>

<file path=ppt/slides/slide1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Appendix: validation and remaining w">
            <a:extLst xmlns:a="http://schemas.openxmlformats.org/drawingml/2006/main">
              <a:ext uri="{FF2B5EF4-FFF2-40B4-BE49-F238E27FC236}">
                <a16:creationId xmlns:a16="http://schemas.microsoft.com/office/drawing/2014/main" id="{F2309081-2BA4-4FE9-B9B4-DCB433504F27}"/>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43D3B"/>
                </a:solidFill>
                <a:latin typeface="Arial"/>
                <a:ea typeface="Arial"/>
                <a:cs typeface="Arial"/>
              </a:defRPr>
            </a:pPr>
            <a:r>
              <a:rPr sz="3450" b="1">
                <a:solidFill>
                  <a:srgbClr val="243D3B"/>
                </a:solidFill>
                <a:latin typeface="Arial"/>
                <a:ea typeface="Arial"/>
                <a:cs typeface="Arial"/>
              </a:rPr>
              <a:t>Appendix: validation and remaining work</a:t>
            </a:r>
          </a:p>
        </p:txBody>
      </p:sp>
      <p:sp>
        <p:nvSpPr>
          <p:cNvPr id="2" name="13">
            <a:extLst xmlns:a="http://schemas.openxmlformats.org/drawingml/2006/main">
              <a:ext uri="{FF2B5EF4-FFF2-40B4-BE49-F238E27FC236}">
                <a16:creationId xmlns:a16="http://schemas.microsoft.com/office/drawing/2014/main" id="{633A8485-4E86-4FA2-A805-CD5EB3C1C036}"/>
              </a:ext>
            </a:extLst>
          </p:cNvPr>
          <p:cNvSpPr>
            <a:spLocks xmlns:a="http://schemas.openxmlformats.org/drawingml/2006/main" noGrp="1"/>
          </p:cNvSpPr>
          <p:nvPr/>
        </p:nvSpPr>
        <p:spPr>
          <a:xfrm xmlns:a="http://schemas.openxmlformats.org/drawingml/2006/main">
            <a:off x="11144250" y="63722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C6D66"/>
                </a:solidFill>
                <a:latin typeface="Arial"/>
                <a:ea typeface="Arial"/>
                <a:cs typeface="Arial"/>
              </a:defRPr>
            </a:pPr>
            <a:r>
              <a:rPr sz="1275" b="0">
                <a:solidFill>
                  <a:srgbClr val="5C6D66"/>
                </a:solidFill>
                <a:latin typeface="Arial"/>
                <a:ea typeface="Arial"/>
                <a:cs typeface="Arial"/>
              </a:rPr>
              <a:t>13</a:t>
            </a:r>
          </a:p>
        </p:txBody>
      </p:sp>
      <p:sp>
        <p:nvSpPr>
          <p:cNvPr id="3" name="Implemented">
            <a:extLst xmlns:a="http://schemas.openxmlformats.org/drawingml/2006/main">
              <a:ext uri="{FF2B5EF4-FFF2-40B4-BE49-F238E27FC236}">
                <a16:creationId xmlns:a16="http://schemas.microsoft.com/office/drawing/2014/main" id="{57DF723F-8E53-4A72-8FC1-B448F074AED5}"/>
              </a:ext>
            </a:extLst>
          </p:cNvPr>
          <p:cNvSpPr>
            <a:spLocks xmlns:a="http://schemas.openxmlformats.org/drawingml/2006/main" noGrp="1"/>
          </p:cNvSpPr>
          <p:nvPr/>
        </p:nvSpPr>
        <p:spPr>
          <a:xfrm xmlns:a="http://schemas.openxmlformats.org/drawingml/2006/main">
            <a:off x="609600" y="16859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376F61"/>
                </a:solidFill>
                <a:latin typeface="Arial"/>
                <a:ea typeface="Arial"/>
                <a:cs typeface="Arial"/>
              </a:defRPr>
            </a:pPr>
            <a:r>
              <a:rPr sz="2550" b="1">
                <a:solidFill>
                  <a:srgbClr val="376F61"/>
                </a:solidFill>
                <a:latin typeface="Arial"/>
                <a:ea typeface="Arial"/>
                <a:cs typeface="Arial"/>
              </a:rPr>
              <a:t>Implemented</a:t>
            </a:r>
          </a:p>
        </p:txBody>
      </p:sp>
      <p:sp>
        <p:nvSpPr>
          <p:cNvPr id="4" name="Baseline-only topic fitting&#10;Fold-spe">
            <a:extLst xmlns:a="http://schemas.openxmlformats.org/drawingml/2006/main">
              <a:ext uri="{FF2B5EF4-FFF2-40B4-BE49-F238E27FC236}">
                <a16:creationId xmlns:a16="http://schemas.microsoft.com/office/drawing/2014/main" id="{762AF775-14E6-47D1-BB02-846804D7EE9A}"/>
              </a:ext>
            </a:extLst>
          </p:cNvPr>
          <p:cNvSpPr>
            <a:spLocks xmlns:a="http://schemas.openxmlformats.org/drawingml/2006/main" noGrp="1"/>
          </p:cNvSpPr>
          <p:nvPr/>
        </p:nvSpPr>
        <p:spPr>
          <a:xfrm xmlns:a="http://schemas.openxmlformats.org/drawingml/2006/main">
            <a:off x="609600" y="2400300"/>
            <a:ext cx="5191125"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Baseline-only topic fitting</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Fold-specific vocabulary and NMF</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Shared-review exclusion</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Versioned profile import and export</a:t>
            </a:r>
          </a:p>
        </p:txBody>
      </p:sp>
      <p:sp>
        <p:nvSpPr>
          <p:cNvPr id="5" name="Still needed">
            <a:extLst xmlns:a="http://schemas.openxmlformats.org/drawingml/2006/main">
              <a:ext uri="{FF2B5EF4-FFF2-40B4-BE49-F238E27FC236}">
                <a16:creationId xmlns:a16="http://schemas.microsoft.com/office/drawing/2014/main" id="{DA470829-E139-4B42-9088-BF8A9A7BDFF4}"/>
              </a:ext>
            </a:extLst>
          </p:cNvPr>
          <p:cNvSpPr>
            <a:spLocks xmlns:a="http://schemas.openxmlformats.org/drawingml/2006/main" noGrp="1"/>
          </p:cNvSpPr>
          <p:nvPr/>
        </p:nvSpPr>
        <p:spPr>
          <a:xfrm xmlns:a="http://schemas.openxmlformats.org/drawingml/2006/main">
            <a:off x="6600825" y="16859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AD7950"/>
                </a:solidFill>
                <a:latin typeface="Arial"/>
                <a:ea typeface="Arial"/>
                <a:cs typeface="Arial"/>
              </a:defRPr>
            </a:pPr>
            <a:r>
              <a:rPr sz="2550" b="1">
                <a:solidFill>
                  <a:srgbClr val="AD7950"/>
                </a:solidFill>
                <a:latin typeface="Arial"/>
                <a:ea typeface="Arial"/>
                <a:cs typeface="Arial"/>
              </a:rPr>
              <a:t>Still needed</a:t>
            </a:r>
          </a:p>
        </p:txBody>
      </p:sp>
      <p:sp>
        <p:nvSpPr>
          <p:cNvPr id="6" name="Independent human text labels&#10;Verifi">
            <a:extLst xmlns:a="http://schemas.openxmlformats.org/drawingml/2006/main">
              <a:ext uri="{FF2B5EF4-FFF2-40B4-BE49-F238E27FC236}">
                <a16:creationId xmlns:a16="http://schemas.microsoft.com/office/drawing/2014/main" id="{EBE2FC2C-D441-4DFD-9900-66A05F24225B}"/>
              </a:ext>
            </a:extLst>
          </p:cNvPr>
          <p:cNvSpPr>
            <a:spLocks xmlns:a="http://schemas.openxmlformats.org/drawingml/2006/main" noGrp="1"/>
          </p:cNvSpPr>
          <p:nvPr/>
        </p:nvSpPr>
        <p:spPr>
          <a:xfrm xmlns:a="http://schemas.openxmlformats.org/drawingml/2006/main">
            <a:off x="6600825" y="2400300"/>
            <a:ext cx="4953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Independent human text labels</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Verified historical footprints</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Current, broader project coverage</a:t>
            </a:r>
          </a:p>
          <a:p xmlns:a="http://schemas.openxmlformats.org/drawingml/2006/main">
            <a:pPr>
              <a:defRPr sz="2175" b="0">
                <a:solidFill>
                  <a:srgbClr val="243D3B"/>
                </a:solidFill>
                <a:latin typeface="Arial"/>
                <a:ea typeface="Arial"/>
                <a:cs typeface="Arial"/>
              </a:defRPr>
            </a:pPr>
            <a:r>
              <a:rPr sz="2175" b="0">
                <a:solidFill>
                  <a:srgbClr val="243D3B"/>
                </a:solidFill>
                <a:latin typeface="Arial"/>
                <a:ea typeface="Arial"/>
                <a:cs typeface="Arial"/>
              </a:rPr>
              <a:t>Independent forecast validation</a:t>
            </a:r>
          </a:p>
        </p:txBody>
      </p:sp>
      <p:sp>
        <p:nvSpPr>
          <p:cNvPr id="7" name="The historical error span is empiric">
            <a:extLst xmlns:a="http://schemas.openxmlformats.org/drawingml/2006/main">
              <a:ext uri="{FF2B5EF4-FFF2-40B4-BE49-F238E27FC236}">
                <a16:creationId xmlns:a16="http://schemas.microsoft.com/office/drawing/2014/main" id="{DDB80D72-3E42-4D47-B8C2-18C8CEC483E9}"/>
              </a:ext>
            </a:extLst>
          </p:cNvPr>
          <p:cNvSpPr>
            <a:spLocks xmlns:a="http://schemas.openxmlformats.org/drawingml/2006/main" noGrp="1"/>
          </p:cNvSpPr>
          <p:nvPr/>
        </p:nvSpPr>
        <p:spPr>
          <a:xfrm xmlns:a="http://schemas.openxmlformats.org/drawingml/2006/main">
            <a:off x="609600" y="54387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43D3B"/>
                </a:solidFill>
                <a:latin typeface="Arial"/>
                <a:ea typeface="Arial"/>
                <a:cs typeface="Arial"/>
              </a:defRPr>
            </a:pPr>
            <a:r>
              <a:rPr sz="2025" b="1">
                <a:solidFill>
                  <a:srgbClr val="243D3B"/>
                </a:solidFill>
                <a:latin typeface="Arial"/>
                <a:ea typeface="Arial"/>
                <a:cs typeface="Arial"/>
              </a:rPr>
              <a:t>The historical error span is empirical, with no calibrated coverage guarantee.</a:t>
            </a:r>
          </a:p>
        </p:txBody>
      </p:sp>
    </p:spTree>
    <p:extLst>
      <p:ext uri="{BB962C8B-B14F-4D97-AF65-F5344CB8AC3E}">
        <p14:creationId xmlns:p14="http://schemas.microsoft.com/office/powerpoint/2010/main" val="1395678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2026-09-26T05:50:01.9540000Z</dcterms:created>
  <dcterms:modified xsi:type="dcterms:W3CDTF">2026-09-26T05:50:01.9540000Z</dcterms:modified>
</coreProperties>
</file>