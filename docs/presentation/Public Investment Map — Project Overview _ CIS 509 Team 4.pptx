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2000"/>
  <p:notesSz cx="6858000" cy="9144000"/>
  <p:embeddedFontLst>
    <p:embeddedFont>
      <p:font typeface="Nunito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134502A-B179-4CCE-84E0-B1C01C1024C8}">
  <a:tblStyle styleId="{A134502A-B179-4CCE-84E0-B1C01C1024C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NunitoSans-bold.fntdata"/><Relationship Id="rId27" Type="http://schemas.openxmlformats.org/officeDocument/2006/relationships/font" Target="fonts/Nunito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Sans-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Nunito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n01_title: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3" name="Google Shape;13;n01_title: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Ryan</a:t>
            </a:r>
            <a:endParaRPr/>
          </a:p>
          <a:p>
            <a:pPr indent="0" lvl="0" marL="0" rtl="0" algn="l">
              <a:spcBef>
                <a:spcPts val="0"/>
              </a:spcBef>
              <a:spcAft>
                <a:spcPts val="0"/>
              </a:spcAft>
              <a:buNone/>
            </a:pPr>
            <a:r>
              <a:rPr lang="en-US"/>
              <a:t>Hi everyone. We’re Team 4, and our project is called Place Lab.</a:t>
            </a:r>
            <a:endParaRPr/>
          </a:p>
          <a:p>
            <a:pPr indent="-317500" lvl="0" marL="457200" rtl="0" algn="l">
              <a:spcBef>
                <a:spcPts val="0"/>
              </a:spcBef>
              <a:spcAft>
                <a:spcPts val="0"/>
              </a:spcAft>
              <a:buSzPts val="1400"/>
              <a:buChar char="●"/>
            </a:pPr>
            <a:r>
              <a:rPr lang="en-US"/>
              <a:t>We help planners understand an area and explore what happened around past public investments.</a:t>
            </a:r>
            <a:endParaRPr/>
          </a:p>
          <a:p>
            <a:pPr indent="-317500" lvl="0" marL="457200" rtl="0" algn="l">
              <a:spcBef>
                <a:spcPts val="0"/>
              </a:spcBef>
              <a:spcAft>
                <a:spcPts val="0"/>
              </a:spcAft>
              <a:buSzPts val="1400"/>
              <a:buChar char="●"/>
            </a:pPr>
            <a:r>
              <a:rPr lang="en-US"/>
              <a:t>We combine historical Yelp reviews, Census data, and public project records in an interactive map.</a:t>
            </a:r>
            <a:endParaRPr/>
          </a:p>
          <a:p>
            <a:pPr indent="-317500" lvl="0" marL="457200" rtl="0" algn="l">
              <a:spcBef>
                <a:spcPts val="0"/>
              </a:spcBef>
              <a:spcAft>
                <a:spcPts val="0"/>
              </a:spcAft>
              <a:buSzPts val="1400"/>
              <a:buChar char="●"/>
            </a:pPr>
            <a:r>
              <a:rPr lang="en-US"/>
              <a:t>I’ll introduce the problem, our data, and how we turn that information into evidence users can explore.</a:t>
            </a:r>
            <a:endParaRPr/>
          </a:p>
          <a:p>
            <a:pPr indent="0" lvl="0" marL="0" rtl="0" algn="l">
              <a:spcBef>
                <a:spcPts val="0"/>
              </a:spcBef>
              <a:spcAft>
                <a:spcPts val="0"/>
              </a:spcAft>
              <a:buNone/>
            </a:pPr>
            <a:r>
              <a:t/>
            </a:r>
            <a:endParaRPr/>
          </a:p>
        </p:txBody>
      </p:sp>
      <p:sp>
        <p:nvSpPr>
          <p:cNvPr id="14" name="Google Shape;14;n01_title: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n00_hypothesis: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24" name="Google Shape;24;n00_hypothesis: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Ryan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Our hypothesis is that better local information can help identify community needs.</a:t>
            </a:r>
            <a:endParaRPr/>
          </a:p>
          <a:p>
            <a:pPr indent="-317500" lvl="0" marL="457200" rtl="0" algn="l">
              <a:spcBef>
                <a:spcPts val="0"/>
              </a:spcBef>
              <a:spcAft>
                <a:spcPts val="0"/>
              </a:spcAft>
              <a:buSzPts val="1400"/>
              <a:buChar char="●"/>
            </a:pPr>
            <a:r>
              <a:rPr lang="en-US"/>
              <a:t>Public officials could use it to focus investment.</a:t>
            </a:r>
            <a:endParaRPr/>
          </a:p>
          <a:p>
            <a:pPr indent="-317500" lvl="0" marL="457200" rtl="0" algn="l">
              <a:spcBef>
                <a:spcPts val="0"/>
              </a:spcBef>
              <a:spcAft>
                <a:spcPts val="0"/>
              </a:spcAft>
              <a:buSzPts val="1400"/>
              <a:buChar char="●"/>
            </a:pPr>
            <a:r>
              <a:rPr lang="en-US"/>
              <a:t>Developers could understand an area before proposing a project.</a:t>
            </a:r>
            <a:endParaRPr/>
          </a:p>
          <a:p>
            <a:pPr indent="-317500" lvl="0" marL="457200" rtl="0" algn="l">
              <a:spcBef>
                <a:spcPts val="0"/>
              </a:spcBef>
              <a:spcAft>
                <a:spcPts val="0"/>
              </a:spcAft>
              <a:buSzPts val="1400"/>
              <a:buChar char="●"/>
            </a:pPr>
            <a:r>
              <a:rPr lang="en-US"/>
              <a:t>Investors could identify questions worth investigating.</a:t>
            </a:r>
            <a:endParaRPr/>
          </a:p>
          <a:p>
            <a:pPr indent="-317500" lvl="0" marL="457200" rtl="0" algn="l">
              <a:spcBef>
                <a:spcPts val="0"/>
              </a:spcBef>
              <a:spcAft>
                <a:spcPts val="0"/>
              </a:spcAft>
              <a:buSzPts val="1400"/>
              <a:buChar char="●"/>
            </a:pPr>
            <a:r>
              <a:rPr lang="en-US"/>
              <a:t>Place Lab connects area conditions, experiences described in reviews, and evidence from past projects.</a:t>
            </a:r>
            <a:endParaRPr/>
          </a:p>
          <a:p>
            <a:pPr indent="-317500" lvl="0" marL="457200" rtl="0" algn="l">
              <a:spcBef>
                <a:spcPts val="0"/>
              </a:spcBef>
              <a:spcAft>
                <a:spcPts val="0"/>
              </a:spcAft>
              <a:buSzPts val="1400"/>
              <a:buChar char="●"/>
            </a:pPr>
            <a:r>
              <a:rPr lang="en-US"/>
              <a:t>This is our proposed value. We haven’t yet evaluated whether it improves real-world decisions.</a:t>
            </a:r>
            <a:endParaRPr/>
          </a:p>
          <a:p>
            <a:pPr indent="0" lvl="0" marL="0" rtl="0" algn="l">
              <a:spcBef>
                <a:spcPts val="0"/>
              </a:spcBef>
              <a:spcAft>
                <a:spcPts val="0"/>
              </a:spcAft>
              <a:buNone/>
            </a:pPr>
            <a:r>
              <a:t/>
            </a:r>
            <a:endParaRPr/>
          </a:p>
        </p:txBody>
      </p:sp>
      <p:sp>
        <p:nvSpPr>
          <p:cNvPr id="25" name="Google Shape;25;n00_hypothesis: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n18_use: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4" name="Google Shape;44;n18_use: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Ryan</a:t>
            </a:r>
            <a:endParaRPr/>
          </a:p>
          <a:p>
            <a:pPr indent="0" lvl="0" marL="0" rtl="0" algn="l">
              <a:spcBef>
                <a:spcPts val="0"/>
              </a:spcBef>
              <a:spcAft>
                <a:spcPts val="0"/>
              </a:spcAft>
              <a:buNone/>
            </a:pPr>
            <a:r>
              <a:rPr lang="en-US" sz="1100">
                <a:solidFill>
                  <a:schemeClr val="dk1"/>
                </a:solidFill>
              </a:rPr>
              <a:t>Getting additional data or analytical services can take time.</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New York City reports median procurement cycles of </a:t>
            </a:r>
            <a:r>
              <a:rPr b="1" lang="en-US" sz="1100">
                <a:solidFill>
                  <a:schemeClr val="dk1"/>
                </a:solidFill>
              </a:rPr>
              <a:t>282 days for competitive sealed bids</a:t>
            </a:r>
            <a:r>
              <a:rPr lang="en-US" sz="1100">
                <a:solidFill>
                  <a:schemeClr val="dk1"/>
                </a:solidFill>
              </a:rPr>
              <a:t> and </a:t>
            </a:r>
            <a:r>
              <a:rPr b="1" lang="en-US" sz="1100">
                <a:solidFill>
                  <a:schemeClr val="dk1"/>
                </a:solidFill>
              </a:rPr>
              <a:t>527 days for competitive sealed proposals</a:t>
            </a:r>
            <a:r>
              <a:rPr lang="en-US"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That’s roughly nine and seventeen months.</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These are broad contract categories, not specifically data purchases.</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Place Lab could help planners explore available evidence, identify what’s missing, and define a more focused research request.</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We haven’t measured time savings. Our goal is to help planners start with better questions.</a:t>
            </a:r>
            <a:endParaRPr/>
          </a:p>
        </p:txBody>
      </p:sp>
      <p:sp>
        <p:nvSpPr>
          <p:cNvPr id="45" name="Google Shape;45;n18_use: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n02_problem: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74" name="Google Shape;74;n02_problem: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Ryan</a:t>
            </a:r>
            <a:endParaRPr/>
          </a:p>
          <a:p>
            <a:pPr indent="0" lvl="0" marL="0" rtl="0" algn="l">
              <a:spcBef>
                <a:spcPts val="0"/>
              </a:spcBef>
              <a:spcAft>
                <a:spcPts val="0"/>
              </a:spcAft>
              <a:buNone/>
            </a:pPr>
            <a:r>
              <a:rPr lang="en-US"/>
              <a:t>B</a:t>
            </a:r>
            <a:r>
              <a:rPr lang="en-US" sz="1100">
                <a:solidFill>
                  <a:schemeClr val="dk1"/>
                </a:solidFill>
              </a:rPr>
              <a:t>usiness reviews don’t always tell us about the surrounding area.</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In our random sample of </a:t>
            </a:r>
            <a:r>
              <a:rPr b="1" lang="en-US" sz="1100">
                <a:solidFill>
                  <a:schemeClr val="dk1"/>
                </a:solidFill>
              </a:rPr>
              <a:t>200 reviews, 61 mentioned the surrounding place</a:t>
            </a:r>
            <a:r>
              <a:rPr lang="en-US"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Most focused on the business itself.</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A complaint about food tells us something different from a complaint about the sidewalk outside.</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Claude Opus generated these labels, and our team reviewed them.</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This is a sample estimate, not a measurement of the entire dataset.</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That’s why we need NLP to identify what a review describes before interpreting its sentiment.</a:t>
            </a:r>
            <a:endParaRPr sz="1100">
              <a:solidFill>
                <a:schemeClr val="dk1"/>
              </a:solidFill>
            </a:endParaRPr>
          </a:p>
          <a:p>
            <a:pPr indent="0" lvl="0" marL="0" rtl="0" algn="l">
              <a:spcBef>
                <a:spcPts val="0"/>
              </a:spcBef>
              <a:spcAft>
                <a:spcPts val="0"/>
              </a:spcAft>
              <a:buNone/>
            </a:pPr>
            <a:r>
              <a:t/>
            </a:r>
            <a:endParaRPr/>
          </a:p>
        </p:txBody>
      </p:sp>
      <p:sp>
        <p:nvSpPr>
          <p:cNvPr id="75" name="Google Shape;75;n02_problem: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n04_data: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93" name="Google Shape;93;n04_data: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Ryan</a:t>
            </a:r>
            <a:endParaRPr/>
          </a:p>
          <a:p>
            <a:pPr indent="0" lvl="0" marL="0" rtl="0" algn="l">
              <a:spcBef>
                <a:spcPts val="0"/>
              </a:spcBef>
              <a:spcAft>
                <a:spcPts val="0"/>
              </a:spcAft>
              <a:buNone/>
            </a:pPr>
            <a:r>
              <a:rPr lang="en-US" sz="1100">
                <a:solidFill>
                  <a:schemeClr val="dk1"/>
                </a:solidFill>
              </a:rPr>
              <a:t>We organize the data into </a:t>
            </a:r>
            <a:r>
              <a:rPr b="1" lang="en-US" sz="1100">
                <a:solidFill>
                  <a:schemeClr val="dk1"/>
                </a:solidFill>
              </a:rPr>
              <a:t>two paths</a:t>
            </a:r>
            <a:r>
              <a:rPr lang="en-US"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The </a:t>
            </a:r>
            <a:r>
              <a:rPr b="1" lang="en-US" sz="1100">
                <a:solidFill>
                  <a:schemeClr val="dk1"/>
                </a:solidFill>
              </a:rPr>
              <a:t>area path</a:t>
            </a:r>
            <a:r>
              <a:rPr lang="en-US" sz="1100">
                <a:solidFill>
                  <a:schemeClr val="dk1"/>
                </a:solidFill>
              </a:rPr>
              <a:t> connects reviews to businesses and ZIP codes, then adds historical Census income and poverty data.</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It covers </a:t>
            </a:r>
            <a:r>
              <a:rPr b="1" lang="en-US" sz="1100">
                <a:solidFill>
                  <a:schemeClr val="dk1"/>
                </a:solidFill>
              </a:rPr>
              <a:t>196 ZCTAs across five metro areas</a:t>
            </a:r>
            <a:r>
              <a:rPr lang="en-US" sz="1100">
                <a:solidFill>
                  <a:schemeClr val="dk1"/>
                </a:solidFill>
              </a:rPr>
              <a:t>. ZCTAs are Census approximations of ZIP codes.</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The </a:t>
            </a:r>
            <a:r>
              <a:rPr b="1" lang="en-US" sz="1100">
                <a:solidFill>
                  <a:schemeClr val="dk1"/>
                </a:solidFill>
              </a:rPr>
              <a:t>project path</a:t>
            </a:r>
            <a:r>
              <a:rPr lang="en-US" sz="1100">
                <a:solidFill>
                  <a:schemeClr val="dk1"/>
                </a:solidFill>
              </a:rPr>
              <a:t> groups businesses by distance from a project and reviews by time before or after opening.</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It covers </a:t>
            </a:r>
            <a:r>
              <a:rPr b="1" lang="en-US" sz="1100">
                <a:solidFill>
                  <a:schemeClr val="dk1"/>
                </a:solidFill>
              </a:rPr>
              <a:t>11 projects across seven cities</a:t>
            </a:r>
            <a:r>
              <a:rPr lang="en-US" sz="1100">
                <a:solidFill>
                  <a:schemeClr val="dk1"/>
                </a:solidFill>
              </a:rPr>
              <a:t> and just over </a:t>
            </a:r>
            <a:r>
              <a:rPr b="1" lang="en-US" sz="1100">
                <a:solidFill>
                  <a:schemeClr val="dk1"/>
                </a:solidFill>
              </a:rPr>
              <a:t>one million distinct reviews</a:t>
            </a:r>
            <a:r>
              <a:rPr lang="en-US"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We score each review once while retaining its connections to multiple projects.</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The paths cover different populations. Census measures describe the area, not individual reviewers.</a:t>
            </a:r>
            <a:endParaRPr sz="1100">
              <a:solidFill>
                <a:schemeClr val="dk1"/>
              </a:solidFill>
            </a:endParaRPr>
          </a:p>
          <a:p>
            <a:pPr indent="0" lvl="0" marL="0" rtl="0" algn="l">
              <a:spcBef>
                <a:spcPts val="0"/>
              </a:spcBef>
              <a:spcAft>
                <a:spcPts val="0"/>
              </a:spcAft>
              <a:buNone/>
            </a:pPr>
            <a:r>
              <a:t/>
            </a:r>
            <a:endParaRPr/>
          </a:p>
        </p:txBody>
      </p:sp>
      <p:sp>
        <p:nvSpPr>
          <p:cNvPr id="94" name="Google Shape;94;n04_data: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00_overview: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p00_overview: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Ryan</a:t>
            </a:r>
            <a:endParaRPr/>
          </a:p>
          <a:p>
            <a:pPr indent="0" lvl="0" marL="0" rtl="0" algn="l">
              <a:spcBef>
                <a:spcPts val="0"/>
              </a:spcBef>
              <a:spcAft>
                <a:spcPts val="0"/>
              </a:spcAft>
              <a:buNone/>
            </a:pPr>
            <a:r>
              <a:rPr lang="en-US" sz="1100">
                <a:solidFill>
                  <a:schemeClr val="dk1"/>
                </a:solidFill>
              </a:rPr>
              <a:t>This diagram shows how the pieces fit together.</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We join reviews to businesses, locations, and dates.</a:t>
            </a:r>
            <a:endParaRPr sz="1100">
              <a:solidFill>
                <a:schemeClr val="dk1"/>
              </a:solidFill>
            </a:endParaRPr>
          </a:p>
          <a:p>
            <a:pPr indent="-298450" lvl="0" marL="457200" rtl="0" algn="l">
              <a:spcBef>
                <a:spcPts val="0"/>
              </a:spcBef>
              <a:spcAft>
                <a:spcPts val="0"/>
              </a:spcAft>
              <a:buClr>
                <a:schemeClr val="dk1"/>
              </a:buClr>
              <a:buSzPts val="1100"/>
              <a:buChar char="●"/>
            </a:pPr>
            <a:r>
              <a:rPr b="1" lang="en-US" sz="1100">
                <a:solidFill>
                  <a:schemeClr val="dk1"/>
                </a:solidFill>
              </a:rPr>
              <a:t>VADER scores sentiment</a:t>
            </a:r>
            <a:r>
              <a:rPr lang="en-US" sz="1100">
                <a:solidFill>
                  <a:schemeClr val="dk1"/>
                </a:solidFill>
              </a:rPr>
              <a:t>, while text rules identify relevant mentions.</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The area path produces ZIP-level measures with Census context.</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The project path compares nearby and farther businesses before and after a project opens.</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The dashed branch shows research checks, including topic models and a BERT-embedding classifier. The app still uses the rules.</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Python validates the results and exports </a:t>
            </a:r>
            <a:r>
              <a:rPr b="1" lang="en-US" sz="1100">
                <a:solidFill>
                  <a:schemeClr val="dk1"/>
                </a:solidFill>
              </a:rPr>
              <a:t>six data files</a:t>
            </a:r>
            <a:r>
              <a:rPr lang="en-US" sz="1100">
                <a:solidFill>
                  <a:schemeClr val="dk1"/>
                </a:solidFill>
              </a:rPr>
              <a:t> for Place Lab.</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These comparisons reveal patterns, but don’t establish causation.</a:t>
            </a:r>
            <a:endParaRPr sz="1100">
              <a:solidFill>
                <a:schemeClr val="dk1"/>
              </a:solidFill>
            </a:endParaRPr>
          </a:p>
          <a:p>
            <a:pPr indent="-298450" lvl="0" marL="457200" rtl="0" algn="l">
              <a:spcBef>
                <a:spcPts val="0"/>
              </a:spcBef>
              <a:spcAft>
                <a:spcPts val="0"/>
              </a:spcAft>
              <a:buClr>
                <a:schemeClr val="dk1"/>
              </a:buClr>
              <a:buSzPts val="1100"/>
              <a:buChar char="●"/>
            </a:pPr>
            <a:r>
              <a:rPr b="1" lang="en-US" sz="1100">
                <a:solidFill>
                  <a:schemeClr val="dk1"/>
                </a:solidFill>
              </a:rPr>
              <a:t>Handoff:</a:t>
            </a:r>
            <a:r>
              <a:rPr lang="en-US" sz="1100">
                <a:solidFill>
                  <a:schemeClr val="dk1"/>
                </a:solidFill>
              </a:rPr>
              <a:t> “Cameron will now explain how we separate business feedback from comments about the surrounding place.”</a:t>
            </a:r>
            <a:endParaRPr sz="1100">
              <a:solidFill>
                <a:schemeClr val="dk1"/>
              </a:solidFill>
            </a:endParaRPr>
          </a:p>
          <a:p>
            <a:pPr indent="-317500" lvl="0" marL="457200" rtl="0" algn="l">
              <a:spcBef>
                <a:spcPts val="0"/>
              </a:spcBef>
              <a:spcAft>
                <a:spcPts val="0"/>
              </a:spcAft>
              <a:buSzPts val="1400"/>
              <a:buChar char="●"/>
            </a:pPr>
            <a:r>
              <a:t/>
            </a:r>
            <a:endParaRPr/>
          </a:p>
        </p:txBody>
      </p:sp>
      <p:sp>
        <p:nvSpPr>
          <p:cNvPr id="123" name="Google Shape;123;p00_overview: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01_extract: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p01_extract: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Cameron</a:t>
            </a:r>
            <a:endParaRPr/>
          </a:p>
          <a:p>
            <a:pPr indent="0" lvl="0" marL="0" rtl="0" algn="l">
              <a:spcBef>
                <a:spcPts val="0"/>
              </a:spcBef>
              <a:spcAft>
                <a:spcPts val="0"/>
              </a:spcAft>
              <a:buNone/>
            </a:pPr>
            <a:r>
              <a:rPr lang="en-US"/>
              <a:t>3:20–4:25. Walk through the illustrative review sentence. Split at punctuation and conjunctions such as but, however and although. Match the nine versioned topic vocabularies. Assign business, area or unclear from explicit business/outdoor context; transit and public walking infrastructure can imply an area target. Score the whole review and each selected clause with VADER; clause polarity also checks complaint expressions and explicit negation. A topic mention is not necessarily a negative area complaint. Aggregate review flags once even when multiple clauses match. The displayed sentence is illustrative, not an attributed source quote. Rules are deployed in project evidence; map access mentions come from separate overlapping whole-review keyword rules. Source: project_text.py and build_review_topics.py; notebook §5.3.</a:t>
            </a:r>
            <a:endParaRPr/>
          </a:p>
        </p:txBody>
      </p:sp>
      <p:sp>
        <p:nvSpPr>
          <p:cNvPr id="153" name="Google Shape;153;p01_extract: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n09_topics: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n09_topics: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Cameron</a:t>
            </a:r>
            <a:endParaRPr/>
          </a:p>
          <a:p>
            <a:pPr indent="0" lvl="0" marL="0" rtl="0" algn="l">
              <a:spcBef>
                <a:spcPts val="0"/>
              </a:spcBef>
              <a:spcAft>
                <a:spcPts val="0"/>
              </a:spcAft>
              <a:buNone/>
            </a:pPr>
            <a:r>
              <a:rPr lang="en-US"/>
              <a:t>4:25–5:10. This is the notebook’s executed BERTopic analysis on 413 published rule-selected area excerpts, not the full review corpus. all-MiniLM-L6-v2 produces 384-dimensional vectors; UMAP uses five reduced dimensions and HDBSCAN minimum cluster size eight. c-TF-IDF identifies characteristic terms. Seven selected clusters are displayed; about one-third of excerpts remain unclustered and the chart is not exhaustive. Since the rules selected the excerpts, these counts cannot estimate issue prevalence among all reviews or residents. Source: review_nlp.py fit_bertopic; notebook §5.4.</a:t>
            </a:r>
            <a:endParaRPr/>
          </a:p>
        </p:txBody>
      </p:sp>
      <p:sp>
        <p:nvSpPr>
          <p:cNvPr id="172" name="Google Shape;172;n09_topics: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02_learned: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p02_learned: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Cameron</a:t>
            </a:r>
            <a:endParaRPr/>
          </a:p>
          <a:p>
            <a:pPr indent="0" lvl="0" marL="0" rtl="0" algn="l">
              <a:spcBef>
                <a:spcPts val="0"/>
              </a:spcBef>
              <a:spcAft>
                <a:spcPts val="0"/>
              </a:spcAft>
              <a:buNone/>
            </a:pPr>
            <a:r>
              <a:rPr lang="en-US"/>
              <a:t>5:10–6:00. A separate descriptive analysis samples nearby pre/post reviews: 23,691 unique selected reviews from 136,807 eligible, with at most 1,200 per project/period by stable SHA256 review-ID rank; shared selections are deduplicated. TF-IDF uses unigrams and bigrams, English stop words, sublinear term frequency, min_df 2, max_df .95 and up to 8,000 features. Five NMF topics are fitted only to 10,971 sampled nearby baseline reviews; post reviews are projected through the frozen vocabulary and basis. Show actual top terms, which often describe food, service and products. We do not rename them as verified civic issues. Topic mixtures are model weights, not calibrated mention rates. Prediction uses a separately fitted text basis inside each holdout, not this descriptive full-baseline artifact. Source: advanced_text.json and build_advanced_text.py; docs/advanced-text-method.md.</a:t>
            </a:r>
            <a:endParaRPr/>
          </a:p>
        </p:txBody>
      </p:sp>
      <p:sp>
        <p:nvSpPr>
          <p:cNvPr id="210" name="Google Shape;210;p02_learned: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n10_validation: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n10_validation: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Cameron</a:t>
            </a:r>
            <a:endParaRPr/>
          </a:p>
          <a:p>
            <a:pPr indent="0" lvl="0" marL="0" rtl="0" algn="l">
              <a:spcBef>
                <a:spcPts val="0"/>
              </a:spcBef>
              <a:spcAft>
                <a:spcPts val="0"/>
              </a:spcAft>
              <a:buNone/>
            </a:pPr>
            <a:r>
              <a:rPr lang="en-US"/>
              <a:t>6:00–6:50. Claude Opus annotated 731 items blind to rule output: 200 random reviews, 200 candidate clauses and 331 project/period/topic-enriched clauses. The team confirmed humans checked the labels and found them satisfactory. No additional independent reviewer counts or adjudication metrics are claimed. The chart uses the 514-clause, five-fold business-grouped benchmark: rules find 12 of 73 negative area clauses; MiniLM embeddings with balanced logistic regression find 51 of 73. Precision is 41.8%, with 71 false positives, so better recall does not imply a ready complaint measure. Businesses never appear in both training and held-out data within a fold. This classifier has not been applied to replace the full deployed corpus rules. Source: text_validation.py and metrics.json embedding_benchmark.</a:t>
            </a:r>
            <a:endParaRPr/>
          </a:p>
        </p:txBody>
      </p:sp>
      <p:sp>
        <p:nvSpPr>
          <p:cNvPr id="238" name="Google Shape;238;n10_validation: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03_areas: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p03_areas: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Cameron</a:t>
            </a:r>
            <a:endParaRPr/>
          </a:p>
          <a:p>
            <a:pPr indent="0" lvl="0" marL="0" rtl="0" algn="l">
              <a:spcBef>
                <a:spcPts val="0"/>
              </a:spcBef>
              <a:spcAft>
                <a:spcPts val="0"/>
              </a:spcAft>
              <a:buNone/>
            </a:pPr>
            <a:r>
              <a:rPr lang="en-US"/>
              <a:t>6:50–7:50. Join the independently prepared sentiment and access aggregates to ZCTA display geometry and historical ACS context. Fixed windows are 2012–2014 and 2019–2021. Compute sentiment from score sums divided by review counts, not unweighted quarterly averages. Activity density equals review count divided by three years and polygon km² including water. Access share is access/parking mention reviews divided by all late-period reviews, including praise and complaints. ZIP 19134 gives 56/1,702×100=3.29%. Relative sentiment subtracts the change in the rest of the study metro, excluding the selected ZIP. Require 100 reviews in every required three-year period; unsupported measures remain null. The browser timeline can use other date selections: monthly review sums and quarterly access counts, with thresholds 100 for year-or-longer windows and 50 for shorter ones. Historical ACS vintages are 2007–2011 or 2008–2012; not current conditions. Source: build_place_areas.py and place_pipeline.py.</a:t>
            </a:r>
            <a:endParaRPr/>
          </a:p>
        </p:txBody>
      </p:sp>
      <p:sp>
        <p:nvSpPr>
          <p:cNvPr id="260" name="Google Shape;260;p03_areas: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n11_did: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n11_did: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Cameron</a:t>
            </a:r>
            <a:endParaRPr/>
          </a:p>
          <a:p>
            <a:pPr indent="0" lvl="0" marL="0" rtl="0" algn="l">
              <a:spcBef>
                <a:spcPts val="0"/>
              </a:spcBef>
              <a:spcAft>
                <a:spcPts val="0"/>
              </a:spcAft>
              <a:buNone/>
            </a:pPr>
            <a:r>
              <a:rPr lang="en-US"/>
              <a:t>7:50–8:55. Construct project-specific historical outcomes with fixed near/comparison cohorts and predefined two-year windows. Sun Link near pre=3,807, near post=10,943, comparison pre=9,957, comparison post=34,394. Expected near post=3,807×34,394/9,957≈13,150. Observed is about 17% below expected. The project-model target divides the observed-minus-expected difference by reported cost in $M. Eligibility requires at least 20 nearby baseline reviewed businesses and positive nearby/comparison baseline review counts and cost. Ten of eleven projects qualify. For sentiment, subtract the comparison’s before/after change from the nearby change. Neither calculation isolates causal project effects; comparison trends, overlapping cohorts, construction and pandemic timing remain limitations. Source: build_project_evidence.py primary_outcome; notebook §4.</a:t>
            </a:r>
            <a:endParaRPr/>
          </a:p>
        </p:txBody>
      </p:sp>
      <p:sp>
        <p:nvSpPr>
          <p:cNvPr id="283" name="Google Shape;283;n11_did: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n14_model: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n14_model: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Cameron</a:t>
            </a:r>
            <a:endParaRPr/>
          </a:p>
          <a:p>
            <a:pPr indent="0" lvl="0" marL="0" rtl="0" algn="l">
              <a:spcBef>
                <a:spcPts val="0"/>
              </a:spcBef>
              <a:spcAft>
                <a:spcPts val="0"/>
              </a:spcAft>
              <a:buNone/>
            </a:pPr>
            <a:r>
              <a:rPr lang="en-US"/>
              <a:t>10:05–11:05. The independent model unit is a project, not a review: ten eligible outcomes in seven cities. Three baseline inputs are log1p project cost, reviewed-business count and reviews/business. Ridge alpha is fixed at 10 and scaling is learned inside training folds. Evaluate leave-one-project-out and leave-one-city-out against a mean predictor. The chart shows city-held-out MAE, lower is better. Advanced TF-IDF/NMF challengers refit inside each fold and remove held-out/shared review IDs; training-only imputation handles excluded text. Text challengers do not improve both holdouts. Timing sensitivity without 2020 windows gives ridge MAE 60.3 versus mean 59.5, reversing its advantage. This remains an exploratory historical model, not a validated forecast or public-budget recommendation. The site’s separate 500 m business-location sample is not a ZIP-wide impact estimate. Source: train_project_model.py, project_advanced_model.py and project_model.json.</a:t>
            </a:r>
            <a:endParaRPr/>
          </a:p>
        </p:txBody>
      </p:sp>
      <p:sp>
        <p:nvSpPr>
          <p:cNvPr id="311" name="Google Shape;311;n14_model: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n12_growth: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n12_growth: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Cameron</a:t>
            </a:r>
            <a:endParaRPr/>
          </a:p>
          <a:p>
            <a:pPr indent="0" lvl="0" marL="0" rtl="0" algn="l">
              <a:spcBef>
                <a:spcPts val="0"/>
              </a:spcBef>
              <a:spcAft>
                <a:spcPts val="0"/>
              </a:spcAft>
              <a:buNone/>
            </a:pPr>
            <a:r>
              <a:rPr lang="en-US"/>
              <a:t>8:55–9:30. Point out the split rather than read each bar. Five projects have positive comparison-adjusted review growth; five negative. Raw counts grew near nine. The useful insight is that selecting evidence and comparisons changes what a planner sees. Ten eligible outcomes are a small historical sample; review counts measure platform activity, not welfare or causal project success. Source: current project evidence export.</a:t>
            </a:r>
            <a:endParaRPr/>
          </a:p>
        </p:txBody>
      </p:sp>
      <p:sp>
        <p:nvSpPr>
          <p:cNvPr id="340" name="Google Shape;340;n12_growth: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n13_sentiment: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n13_sentiment: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Cameron</a:t>
            </a:r>
            <a:endParaRPr/>
          </a:p>
          <a:p>
            <a:pPr indent="0" lvl="0" marL="0" rtl="0" algn="l">
              <a:spcBef>
                <a:spcPts val="0"/>
              </a:spcBef>
              <a:spcAft>
                <a:spcPts val="0"/>
              </a:spcAft>
              <a:buNone/>
            </a:pPr>
            <a:r>
              <a:rPr lang="en-US"/>
              <a:t>9:30–10:05. Sentiment improved relative to the comparison area near seven of ten projects. All absolute adjusted changes are below 0.1 on the VADER compound scale. These are overall business-review sentiment changes, not direct measures of resident satisfaction, and cannot be credited to projects alone. Keep the implication high-level: precedent is useful to inspect, but this small mixed evidence base does not support reliable forecasting. The next slide walks through model evaluation and timing sensitivity.</a:t>
            </a:r>
            <a:endParaRPr/>
          </a:p>
          <a:p>
            <a:pPr indent="0" lvl="0" marL="0" rtl="0" algn="l">
              <a:spcBef>
                <a:spcPts val="0"/>
              </a:spcBef>
              <a:spcAft>
                <a:spcPts val="0"/>
              </a:spcAft>
              <a:buNone/>
            </a:pPr>
            <a:r>
              <a:t/>
            </a:r>
            <a:endParaRPr/>
          </a:p>
        </p:txBody>
      </p:sp>
      <p:sp>
        <p:nvSpPr>
          <p:cNvPr id="381" name="Google Shape;381;n13_sentiment: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n05_growth: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n05_growth: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Cameron</a:t>
            </a:r>
            <a:endParaRPr/>
          </a:p>
          <a:p>
            <a:pPr indent="0" lvl="0" marL="0" rtl="0" algn="l">
              <a:spcBef>
                <a:spcPts val="0"/>
              </a:spcBef>
              <a:spcAft>
                <a:spcPts val="0"/>
              </a:spcAft>
              <a:buNone/>
            </a:pPr>
            <a:r>
              <a:rPr lang="en-US"/>
              <a:t>Appendix. The distribution describes median ZIP review-count growth between 2012–14 and 2019–21 in each metro. Growth differs widely. The data do not identify how much is platform adoption versus real business activity, so avoid attributing it all to Yelp adoption. The historical project analysis adjusts for comparison-area growth.</a:t>
            </a:r>
            <a:endParaRPr/>
          </a:p>
        </p:txBody>
      </p:sp>
      <p:sp>
        <p:nvSpPr>
          <p:cNvPr id="422" name="Google Shape;422;n05_growth: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n06_scatter: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n06_scatter: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Second finding. Dense commercial ZIPs get good reviews, and poor ZIPs don't get worse ones. So low sentiment does not mark disadvantage. Only about three in ten reviews mention the surroundings at all. Anything civic has to be dug out of reviews written about businesses.</a:t>
            </a:r>
            <a:endParaRPr/>
          </a:p>
        </p:txBody>
      </p:sp>
      <p:sp>
        <p:nvSpPr>
          <p:cNvPr id="448" name="Google Shape;448;n06_scatter: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n17_demo: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n17_demo: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12:25–13:55. Demo: choose Philadelphia, then ZIP 19134 and the access layer. Show 56/1,702 = 3.3% access mentions, alongside the 49.0% historical poverty estimate. Access mentions include praise as well as complaints, so this identifies a question for investigation rather than proving an access deficit. The income/poverty estimates describe the area, not reviewers. Then choose Trail / greenway and The Rail Park; inspect activity versus sentiment and a definition/reliability warning. Return to the planning scenario: the planner can choose what to investigate next. If the site fails, use this slide and the previous screenshots. Sources: web/place-areas.json, 2019–21 reviews; ACS 2007–11. Leave 10–15 seconds for transitions.</a:t>
            </a:r>
            <a:endParaRPr/>
          </a:p>
        </p:txBody>
      </p:sp>
      <p:sp>
        <p:nvSpPr>
          <p:cNvPr id="464" name="Google Shape;464;n17_demo: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n21_sources: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n21_sources: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Appendix for questions. The last line is our AI-use disclosure. If asked who labeled the validation set, say Claude Opus labeled it from the text alone, without seeing our rules' output, and that human reviewers have checked the labels and found them satisfactory, as confirmed by the team.</a:t>
            </a:r>
            <a:endParaRPr/>
          </a:p>
          <a:p>
            <a:pPr indent="0" lvl="0" marL="0" rtl="0" algn="l">
              <a:spcBef>
                <a:spcPts val="0"/>
              </a:spcBef>
              <a:spcAft>
                <a:spcPts val="0"/>
              </a:spcAft>
              <a:buNone/>
            </a:pPr>
            <a:r>
              <a:t/>
            </a:r>
            <a:endParaRPr/>
          </a:p>
        </p:txBody>
      </p:sp>
      <p:sp>
        <p:nvSpPr>
          <p:cNvPr id="480" name="Google Shape;480;n21_sources: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n07_methods: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n07_methods: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VADER comes from week two. TF-IDF builds on week one's text processing and week four's word vectors, and NMF finds topics in it. BERT embeddings with BERTopic come from week six and lab four. We wrote the clause rules ourselves. They decide whether a sentence is about the area or the business.</a:t>
            </a:r>
            <a:endParaRPr/>
          </a:p>
        </p:txBody>
      </p:sp>
      <p:sp>
        <p:nvSpPr>
          <p:cNvPr id="489" name="Google Shape;489;n07_methods: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n08_rules: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n08_rules: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Start with what the rules get right. They can split one sentence between the business and the street. Then show the miss. "Nightmare" is not on our complaint list, so the rule calls the sentence neutral. Slide 10 measures how often that happens.</a:t>
            </a:r>
            <a:endParaRPr/>
          </a:p>
        </p:txBody>
      </p:sp>
      <p:sp>
        <p:nvSpPr>
          <p:cNvPr id="498" name="Google Shape;498;n08_rules: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www.nyc.gov/site/mocs/resources/citywide-indicator-reports.page" TargetMode="External"/><Relationship Id="rId4" Type="http://schemas.openxmlformats.org/officeDocument/2006/relationships/hyperlink" Target="https://strategy.data.gov/practices/" TargetMode="External"/><Relationship Id="rId5" Type="http://schemas.openxmlformats.org/officeDocument/2006/relationships/hyperlink" Target="https://www.acquisition.gov/far/12.202"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83E35"/>
        </a:solidFill>
      </p:bgPr>
    </p:bg>
    <p:spTree>
      <p:nvGrpSpPr>
        <p:cNvPr id="15" name="Shape 15"/>
        <p:cNvGrpSpPr/>
        <p:nvPr/>
      </p:nvGrpSpPr>
      <p:grpSpPr>
        <a:xfrm>
          <a:off x="0" y="0"/>
          <a:ext cx="0" cy="0"/>
          <a:chOff x="0" y="0"/>
          <a:chExt cx="0" cy="0"/>
        </a:xfrm>
      </p:grpSpPr>
      <p:pic>
        <p:nvPicPr>
          <p:cNvPr id="16" name="Google Shape;16;p3"/>
          <p:cNvPicPr preferRelativeResize="0"/>
          <p:nvPr/>
        </p:nvPicPr>
        <p:blipFill rotWithShape="1">
          <a:blip r:embed="rId3">
            <a:alphaModFix/>
          </a:blip>
          <a:srcRect b="0" l="39184" r="0" t="10482"/>
          <a:stretch/>
        </p:blipFill>
        <p:spPr>
          <a:xfrm>
            <a:off x="5831703" y="0"/>
            <a:ext cx="6360298" cy="6858001"/>
          </a:xfrm>
          <a:prstGeom prst="rect">
            <a:avLst/>
          </a:prstGeom>
          <a:noFill/>
          <a:ln>
            <a:noFill/>
          </a:ln>
        </p:spPr>
      </p:pic>
      <p:sp>
        <p:nvSpPr>
          <p:cNvPr id="17" name="Google Shape;17;p3"/>
          <p:cNvSpPr txBox="1"/>
          <p:nvPr/>
        </p:nvSpPr>
        <p:spPr>
          <a:xfrm>
            <a:off x="548640" y="1143000"/>
            <a:ext cx="51207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C4D5C4"/>
                </a:solidFill>
                <a:latin typeface="Nunito Sans"/>
                <a:ea typeface="Nunito Sans"/>
                <a:cs typeface="Nunito Sans"/>
                <a:sym typeface="Nunito Sans"/>
              </a:rPr>
              <a:t>CIS 509 · Analytics for Unstructured Data · Team 4</a:t>
            </a:r>
            <a:endParaRPr>
              <a:solidFill>
                <a:srgbClr val="C4D5C4"/>
              </a:solidFill>
              <a:latin typeface="Nunito Sans"/>
              <a:ea typeface="Nunito Sans"/>
              <a:cs typeface="Nunito Sans"/>
              <a:sym typeface="Nunito Sans"/>
            </a:endParaRPr>
          </a:p>
        </p:txBody>
      </p:sp>
      <p:sp>
        <p:nvSpPr>
          <p:cNvPr id="18" name="Google Shape;18;p3"/>
          <p:cNvSpPr txBox="1"/>
          <p:nvPr/>
        </p:nvSpPr>
        <p:spPr>
          <a:xfrm>
            <a:off x="548640" y="1600200"/>
            <a:ext cx="5120700" cy="118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6600">
                <a:solidFill>
                  <a:srgbClr val="FFFDF6"/>
                </a:solidFill>
                <a:latin typeface="Georgia"/>
                <a:ea typeface="Georgia"/>
                <a:cs typeface="Georgia"/>
                <a:sym typeface="Georgia"/>
              </a:rPr>
              <a:t>Place Lab</a:t>
            </a:r>
            <a:endParaRPr b="1" sz="6600">
              <a:solidFill>
                <a:srgbClr val="FFFDF6"/>
              </a:solidFill>
              <a:latin typeface="Georgia"/>
              <a:ea typeface="Georgia"/>
              <a:cs typeface="Georgia"/>
              <a:sym typeface="Georgia"/>
            </a:endParaRPr>
          </a:p>
        </p:txBody>
      </p:sp>
      <p:sp>
        <p:nvSpPr>
          <p:cNvPr id="19" name="Google Shape;19;p3"/>
          <p:cNvSpPr txBox="1"/>
          <p:nvPr/>
        </p:nvSpPr>
        <p:spPr>
          <a:xfrm>
            <a:off x="548640" y="2908300"/>
            <a:ext cx="4927500" cy="157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700">
                <a:solidFill>
                  <a:srgbClr val="FFFDF6"/>
                </a:solidFill>
                <a:latin typeface="Georgia"/>
                <a:ea typeface="Georgia"/>
                <a:cs typeface="Georgia"/>
                <a:sym typeface="Georgia"/>
              </a:rPr>
              <a:t>Better local evidence</a:t>
            </a:r>
            <a:endParaRPr sz="2700">
              <a:solidFill>
                <a:srgbClr val="FFFDF6"/>
              </a:solidFill>
              <a:latin typeface="Georgia"/>
              <a:ea typeface="Georgia"/>
              <a:cs typeface="Georgia"/>
              <a:sym typeface="Georgia"/>
            </a:endParaRPr>
          </a:p>
          <a:p>
            <a:pPr indent="0" lvl="0" marL="0" rtl="0" algn="l">
              <a:spcBef>
                <a:spcPts val="0"/>
              </a:spcBef>
              <a:spcAft>
                <a:spcPts val="0"/>
              </a:spcAft>
              <a:buNone/>
            </a:pPr>
            <a:r>
              <a:rPr lang="en-US" sz="2700">
                <a:solidFill>
                  <a:srgbClr val="FFFDF6"/>
                </a:solidFill>
                <a:latin typeface="Georgia"/>
                <a:ea typeface="Georgia"/>
                <a:cs typeface="Georgia"/>
                <a:sym typeface="Georgia"/>
              </a:rPr>
              <a:t>for public planning</a:t>
            </a:r>
            <a:endParaRPr sz="2700">
              <a:solidFill>
                <a:srgbClr val="FFFDF6"/>
              </a:solidFill>
              <a:latin typeface="Georgia"/>
              <a:ea typeface="Georgia"/>
              <a:cs typeface="Georgia"/>
              <a:sym typeface="Georgia"/>
            </a:endParaRPr>
          </a:p>
        </p:txBody>
      </p:sp>
      <p:sp>
        <p:nvSpPr>
          <p:cNvPr id="20" name="Google Shape;20;p3"/>
          <p:cNvSpPr txBox="1"/>
          <p:nvPr/>
        </p:nvSpPr>
        <p:spPr>
          <a:xfrm>
            <a:off x="548640" y="4892040"/>
            <a:ext cx="51207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C4D5C4"/>
                </a:solidFill>
                <a:latin typeface="Nunito Sans"/>
                <a:ea typeface="Nunito Sans"/>
                <a:cs typeface="Nunito Sans"/>
                <a:sym typeface="Nunito Sans"/>
              </a:rPr>
              <a:t>John Wheeler · Ryan Wolff · Cameron Anthony</a:t>
            </a:r>
            <a:endParaRPr sz="1600">
              <a:solidFill>
                <a:srgbClr val="C4D5C4"/>
              </a:solidFill>
              <a:latin typeface="Nunito Sans"/>
              <a:ea typeface="Nunito Sans"/>
              <a:cs typeface="Nunito Sans"/>
              <a:sym typeface="Nunito Sans"/>
            </a:endParaRPr>
          </a:p>
        </p:txBody>
      </p:sp>
      <p:sp>
        <p:nvSpPr>
          <p:cNvPr id="21" name="Google Shape;21;p3"/>
          <p:cNvSpPr txBox="1"/>
          <p:nvPr/>
        </p:nvSpPr>
        <p:spPr>
          <a:xfrm>
            <a:off x="548640" y="5303520"/>
            <a:ext cx="51207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C4D5C4"/>
                </a:solidFill>
                <a:latin typeface="Nunito Sans"/>
                <a:ea typeface="Nunito Sans"/>
                <a:cs typeface="Nunito Sans"/>
                <a:sym typeface="Nunito Sans"/>
              </a:rPr>
              <a:t>October 2026</a:t>
            </a:r>
            <a:endParaRPr>
              <a:solidFill>
                <a:srgbClr val="C4D5C4"/>
              </a:solidFill>
              <a:latin typeface="Nunito Sans"/>
              <a:ea typeface="Nunito Sans"/>
              <a:cs typeface="Nunito Sans"/>
              <a:sym typeface="Nunito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6"/>
        </a:solidFill>
      </p:bgPr>
    </p:bg>
    <p:spTree>
      <p:nvGrpSpPr>
        <p:cNvPr id="26" name="Shape 26"/>
        <p:cNvGrpSpPr/>
        <p:nvPr/>
      </p:nvGrpSpPr>
      <p:grpSpPr>
        <a:xfrm>
          <a:off x="0" y="0"/>
          <a:ext cx="0" cy="0"/>
          <a:chOff x="0" y="0"/>
          <a:chExt cx="0" cy="0"/>
        </a:xfrm>
      </p:grpSpPr>
      <p:sp>
        <p:nvSpPr>
          <p:cNvPr id="27" name="Google Shape;27;p4"/>
          <p:cNvSpPr txBox="1"/>
          <p:nvPr/>
        </p:nvSpPr>
        <p:spPr>
          <a:xfrm>
            <a:off x="11094415" y="6355080"/>
            <a:ext cx="548700" cy="384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100">
                <a:solidFill>
                  <a:srgbClr val="5A6D60"/>
                </a:solidFill>
                <a:latin typeface="Nunito Sans"/>
                <a:ea typeface="Nunito Sans"/>
                <a:cs typeface="Nunito Sans"/>
                <a:sym typeface="Nunito Sans"/>
              </a:rPr>
              <a:t>2</a:t>
            </a:r>
            <a:endParaRPr sz="1100">
              <a:solidFill>
                <a:srgbClr val="5A6D60"/>
              </a:solidFill>
              <a:latin typeface="Nunito Sans"/>
              <a:ea typeface="Nunito Sans"/>
              <a:cs typeface="Nunito Sans"/>
              <a:sym typeface="Nunito Sans"/>
            </a:endParaRPr>
          </a:p>
        </p:txBody>
      </p:sp>
      <p:sp>
        <p:nvSpPr>
          <p:cNvPr id="28" name="Google Shape;28;p4"/>
          <p:cNvSpPr txBox="1"/>
          <p:nvPr/>
        </p:nvSpPr>
        <p:spPr>
          <a:xfrm>
            <a:off x="548640" y="411480"/>
            <a:ext cx="110943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83E35"/>
                </a:solidFill>
                <a:latin typeface="Georgia"/>
                <a:ea typeface="Georgia"/>
                <a:cs typeface="Georgia"/>
                <a:sym typeface="Georgia"/>
              </a:rPr>
              <a:t>Better area data helps identify local needs</a:t>
            </a:r>
            <a:endParaRPr b="1" sz="3200">
              <a:solidFill>
                <a:srgbClr val="183E35"/>
              </a:solidFill>
              <a:latin typeface="Georgia"/>
              <a:ea typeface="Georgia"/>
              <a:cs typeface="Georgia"/>
              <a:sym typeface="Georgia"/>
            </a:endParaRPr>
          </a:p>
        </p:txBody>
      </p:sp>
      <p:sp>
        <p:nvSpPr>
          <p:cNvPr id="29" name="Google Shape;29;p4"/>
          <p:cNvSpPr/>
          <p:nvPr/>
        </p:nvSpPr>
        <p:spPr>
          <a:xfrm>
            <a:off x="548640" y="2006600"/>
            <a:ext cx="3515400" cy="2235300"/>
          </a:xfrm>
          <a:prstGeom prst="roundRect">
            <a:avLst>
              <a:gd fmla="val 16667" name="adj"/>
            </a:avLst>
          </a:prstGeom>
          <a:solidFill>
            <a:srgbClr val="F3F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 name="Google Shape;30;p4"/>
          <p:cNvSpPr txBox="1"/>
          <p:nvPr/>
        </p:nvSpPr>
        <p:spPr>
          <a:xfrm>
            <a:off x="726440" y="2171700"/>
            <a:ext cx="3159900" cy="7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rgbClr val="183E35"/>
                </a:solidFill>
                <a:latin typeface="Georgia"/>
                <a:ea typeface="Georgia"/>
                <a:cs typeface="Georgia"/>
                <a:sym typeface="Georgia"/>
              </a:rPr>
              <a:t>Public officials</a:t>
            </a:r>
            <a:endParaRPr b="1" sz="2200">
              <a:solidFill>
                <a:srgbClr val="183E35"/>
              </a:solidFill>
              <a:latin typeface="Georgia"/>
              <a:ea typeface="Georgia"/>
              <a:cs typeface="Georgia"/>
              <a:sym typeface="Georgia"/>
            </a:endParaRPr>
          </a:p>
        </p:txBody>
      </p:sp>
      <p:sp>
        <p:nvSpPr>
          <p:cNvPr id="31" name="Google Shape;31;p4"/>
          <p:cNvSpPr txBox="1"/>
          <p:nvPr/>
        </p:nvSpPr>
        <p:spPr>
          <a:xfrm>
            <a:off x="726440" y="3136900"/>
            <a:ext cx="3159900" cy="91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83E35"/>
                </a:solidFill>
                <a:latin typeface="Nunito Sans"/>
                <a:ea typeface="Nunito Sans"/>
                <a:cs typeface="Nunito Sans"/>
                <a:sym typeface="Nunito Sans"/>
              </a:rPr>
              <a:t>Identify community needs</a:t>
            </a:r>
            <a:endParaRPr sz="18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800">
                <a:solidFill>
                  <a:srgbClr val="183E35"/>
                </a:solidFill>
                <a:latin typeface="Nunito Sans"/>
                <a:ea typeface="Nunito Sans"/>
                <a:cs typeface="Nunito Sans"/>
                <a:sym typeface="Nunito Sans"/>
              </a:rPr>
              <a:t>and focus public investment.</a:t>
            </a:r>
            <a:endParaRPr sz="1800">
              <a:solidFill>
                <a:srgbClr val="183E35"/>
              </a:solidFill>
              <a:latin typeface="Nunito Sans"/>
              <a:ea typeface="Nunito Sans"/>
              <a:cs typeface="Nunito Sans"/>
              <a:sym typeface="Nunito Sans"/>
            </a:endParaRPr>
          </a:p>
        </p:txBody>
      </p:sp>
      <p:sp>
        <p:nvSpPr>
          <p:cNvPr id="32" name="Google Shape;32;p4"/>
          <p:cNvSpPr/>
          <p:nvPr/>
        </p:nvSpPr>
        <p:spPr>
          <a:xfrm>
            <a:off x="4338320" y="2006600"/>
            <a:ext cx="3515400" cy="2235300"/>
          </a:xfrm>
          <a:prstGeom prst="roundRect">
            <a:avLst>
              <a:gd fmla="val 16667" name="adj"/>
            </a:avLst>
          </a:prstGeom>
          <a:solidFill>
            <a:srgbClr val="F3F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 name="Google Shape;33;p4"/>
          <p:cNvSpPr txBox="1"/>
          <p:nvPr/>
        </p:nvSpPr>
        <p:spPr>
          <a:xfrm>
            <a:off x="4516120" y="2171700"/>
            <a:ext cx="3159900" cy="7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rgbClr val="183E35"/>
                </a:solidFill>
                <a:latin typeface="Georgia"/>
                <a:ea typeface="Georgia"/>
                <a:cs typeface="Georgia"/>
                <a:sym typeface="Georgia"/>
              </a:rPr>
              <a:t>Investment</a:t>
            </a:r>
            <a:endParaRPr b="1" sz="2200">
              <a:solidFill>
                <a:srgbClr val="183E35"/>
              </a:solidFill>
              <a:latin typeface="Georgia"/>
              <a:ea typeface="Georgia"/>
              <a:cs typeface="Georgia"/>
              <a:sym typeface="Georgia"/>
            </a:endParaRPr>
          </a:p>
          <a:p>
            <a:pPr indent="0" lvl="0" marL="0" rtl="0" algn="l">
              <a:spcBef>
                <a:spcPts val="0"/>
              </a:spcBef>
              <a:spcAft>
                <a:spcPts val="0"/>
              </a:spcAft>
              <a:buNone/>
            </a:pPr>
            <a:r>
              <a:rPr b="1" lang="en-US" sz="2200">
                <a:solidFill>
                  <a:srgbClr val="183E35"/>
                </a:solidFill>
                <a:latin typeface="Georgia"/>
                <a:ea typeface="Georgia"/>
                <a:cs typeface="Georgia"/>
                <a:sym typeface="Georgia"/>
              </a:rPr>
              <a:t>developers</a:t>
            </a:r>
            <a:endParaRPr b="1" sz="2200">
              <a:solidFill>
                <a:srgbClr val="183E35"/>
              </a:solidFill>
              <a:latin typeface="Georgia"/>
              <a:ea typeface="Georgia"/>
              <a:cs typeface="Georgia"/>
              <a:sym typeface="Georgia"/>
            </a:endParaRPr>
          </a:p>
        </p:txBody>
      </p:sp>
      <p:sp>
        <p:nvSpPr>
          <p:cNvPr id="34" name="Google Shape;34;p4"/>
          <p:cNvSpPr txBox="1"/>
          <p:nvPr/>
        </p:nvSpPr>
        <p:spPr>
          <a:xfrm>
            <a:off x="4516120" y="3136900"/>
            <a:ext cx="3159900" cy="91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83E35"/>
                </a:solidFill>
                <a:latin typeface="Nunito Sans"/>
                <a:ea typeface="Nunito Sans"/>
                <a:cs typeface="Nunito Sans"/>
                <a:sym typeface="Nunito Sans"/>
              </a:rPr>
              <a:t>Understand local needs</a:t>
            </a:r>
            <a:endParaRPr sz="18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800">
                <a:solidFill>
                  <a:srgbClr val="183E35"/>
                </a:solidFill>
                <a:latin typeface="Nunito Sans"/>
                <a:ea typeface="Nunito Sans"/>
                <a:cs typeface="Nunito Sans"/>
                <a:sym typeface="Nunito Sans"/>
              </a:rPr>
              <a:t>before proposing a project.</a:t>
            </a:r>
            <a:endParaRPr sz="1800">
              <a:solidFill>
                <a:srgbClr val="183E35"/>
              </a:solidFill>
              <a:latin typeface="Nunito Sans"/>
              <a:ea typeface="Nunito Sans"/>
              <a:cs typeface="Nunito Sans"/>
              <a:sym typeface="Nunito Sans"/>
            </a:endParaRPr>
          </a:p>
        </p:txBody>
      </p:sp>
      <p:sp>
        <p:nvSpPr>
          <p:cNvPr id="35" name="Google Shape;35;p4"/>
          <p:cNvSpPr/>
          <p:nvPr/>
        </p:nvSpPr>
        <p:spPr>
          <a:xfrm>
            <a:off x="8128000" y="2006600"/>
            <a:ext cx="3515400" cy="2235300"/>
          </a:xfrm>
          <a:prstGeom prst="roundRect">
            <a:avLst>
              <a:gd fmla="val 16667" name="adj"/>
            </a:avLst>
          </a:prstGeom>
          <a:solidFill>
            <a:srgbClr val="F3F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 name="Google Shape;36;p4"/>
          <p:cNvSpPr txBox="1"/>
          <p:nvPr/>
        </p:nvSpPr>
        <p:spPr>
          <a:xfrm>
            <a:off x="8305800" y="2171700"/>
            <a:ext cx="3159900" cy="7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rgbClr val="183E35"/>
                </a:solidFill>
                <a:latin typeface="Georgia"/>
                <a:ea typeface="Georgia"/>
                <a:cs typeface="Georgia"/>
                <a:sym typeface="Georgia"/>
              </a:rPr>
              <a:t>Investors</a:t>
            </a:r>
            <a:endParaRPr b="1" sz="2200">
              <a:solidFill>
                <a:srgbClr val="183E35"/>
              </a:solidFill>
              <a:latin typeface="Georgia"/>
              <a:ea typeface="Georgia"/>
              <a:cs typeface="Georgia"/>
              <a:sym typeface="Georgia"/>
            </a:endParaRPr>
          </a:p>
        </p:txBody>
      </p:sp>
      <p:sp>
        <p:nvSpPr>
          <p:cNvPr id="37" name="Google Shape;37;p4"/>
          <p:cNvSpPr txBox="1"/>
          <p:nvPr/>
        </p:nvSpPr>
        <p:spPr>
          <a:xfrm>
            <a:off x="8305800" y="3136900"/>
            <a:ext cx="3159900" cy="91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83E35"/>
                </a:solidFill>
                <a:latin typeface="Nunito Sans"/>
                <a:ea typeface="Nunito Sans"/>
                <a:cs typeface="Nunito Sans"/>
                <a:sym typeface="Nunito Sans"/>
              </a:rPr>
              <a:t>Assess local context and</a:t>
            </a:r>
            <a:endParaRPr sz="18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800">
                <a:solidFill>
                  <a:srgbClr val="183E35"/>
                </a:solidFill>
                <a:latin typeface="Nunito Sans"/>
                <a:ea typeface="Nunito Sans"/>
                <a:cs typeface="Nunito Sans"/>
                <a:sym typeface="Nunito Sans"/>
              </a:rPr>
              <a:t>questions worth investigating.</a:t>
            </a:r>
            <a:endParaRPr sz="1800">
              <a:solidFill>
                <a:srgbClr val="183E35"/>
              </a:solidFill>
              <a:latin typeface="Nunito Sans"/>
              <a:ea typeface="Nunito Sans"/>
              <a:cs typeface="Nunito Sans"/>
              <a:sym typeface="Nunito Sans"/>
            </a:endParaRPr>
          </a:p>
        </p:txBody>
      </p:sp>
      <p:sp>
        <p:nvSpPr>
          <p:cNvPr id="38" name="Google Shape;38;p4"/>
          <p:cNvSpPr/>
          <p:nvPr/>
        </p:nvSpPr>
        <p:spPr>
          <a:xfrm>
            <a:off x="548640" y="4572000"/>
            <a:ext cx="11094600" cy="1422300"/>
          </a:xfrm>
          <a:prstGeom prst="roundRect">
            <a:avLst>
              <a:gd fmla="val 16667" name="adj"/>
            </a:avLst>
          </a:prstGeom>
          <a:solidFill>
            <a:srgbClr val="183E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 name="Google Shape;39;p4"/>
          <p:cNvSpPr txBox="1"/>
          <p:nvPr/>
        </p:nvSpPr>
        <p:spPr>
          <a:xfrm>
            <a:off x="731520" y="4737100"/>
            <a:ext cx="107289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FFFDF6"/>
                </a:solidFill>
                <a:latin typeface="Georgia"/>
                <a:ea typeface="Georgia"/>
                <a:cs typeface="Georgia"/>
                <a:sym typeface="Georgia"/>
              </a:rPr>
              <a:t>Place Lab helps investigate local needs</a:t>
            </a:r>
            <a:endParaRPr b="1" sz="2400">
              <a:solidFill>
                <a:srgbClr val="FFFDF6"/>
              </a:solidFill>
              <a:latin typeface="Georgia"/>
              <a:ea typeface="Georgia"/>
              <a:cs typeface="Georgia"/>
              <a:sym typeface="Georgia"/>
            </a:endParaRPr>
          </a:p>
        </p:txBody>
      </p:sp>
      <p:sp>
        <p:nvSpPr>
          <p:cNvPr id="40" name="Google Shape;40;p4"/>
          <p:cNvSpPr txBox="1"/>
          <p:nvPr/>
        </p:nvSpPr>
        <p:spPr>
          <a:xfrm>
            <a:off x="731520" y="5283200"/>
            <a:ext cx="10728900" cy="6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FFFDF6"/>
                </a:solidFill>
                <a:latin typeface="Nunito Sans"/>
                <a:ea typeface="Nunito Sans"/>
                <a:cs typeface="Nunito Sans"/>
                <a:sym typeface="Nunito Sans"/>
              </a:rPr>
              <a:t>Explore area conditions, review local experiences,</a:t>
            </a:r>
            <a:endParaRPr sz="2000">
              <a:solidFill>
                <a:srgbClr val="FFFDF6"/>
              </a:solidFill>
              <a:latin typeface="Nunito Sans"/>
              <a:ea typeface="Nunito Sans"/>
              <a:cs typeface="Nunito Sans"/>
              <a:sym typeface="Nunito Sans"/>
            </a:endParaRPr>
          </a:p>
          <a:p>
            <a:pPr indent="0" lvl="0" marL="0" rtl="0" algn="l">
              <a:spcBef>
                <a:spcPts val="0"/>
              </a:spcBef>
              <a:spcAft>
                <a:spcPts val="0"/>
              </a:spcAft>
              <a:buNone/>
            </a:pPr>
            <a:r>
              <a:rPr lang="en-US" sz="2000">
                <a:solidFill>
                  <a:srgbClr val="FFFDF6"/>
                </a:solidFill>
                <a:latin typeface="Nunito Sans"/>
                <a:ea typeface="Nunito Sans"/>
                <a:cs typeface="Nunito Sans"/>
                <a:sym typeface="Nunito Sans"/>
              </a:rPr>
              <a:t>and compare evidence around past projects.</a:t>
            </a:r>
            <a:endParaRPr sz="2000">
              <a:solidFill>
                <a:srgbClr val="FFFDF6"/>
              </a:solidFill>
              <a:latin typeface="Nunito Sans"/>
              <a:ea typeface="Nunito Sans"/>
              <a:cs typeface="Nunito Sans"/>
              <a:sym typeface="Nunito Sans"/>
            </a:endParaRPr>
          </a:p>
        </p:txBody>
      </p:sp>
      <p:sp>
        <p:nvSpPr>
          <p:cNvPr id="41" name="Google Shape;41;p4"/>
          <p:cNvSpPr txBox="1"/>
          <p:nvPr/>
        </p:nvSpPr>
        <p:spPr>
          <a:xfrm>
            <a:off x="548640" y="101600"/>
            <a:ext cx="110490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5A6D60"/>
                </a:solidFill>
                <a:latin typeface="Nunito Sans"/>
                <a:ea typeface="Nunito Sans"/>
                <a:cs typeface="Nunito Sans"/>
                <a:sym typeface="Nunito Sans"/>
              </a:rPr>
              <a:t>PROJECT HYPOTHESIS</a:t>
            </a:r>
            <a:endParaRPr b="1" sz="1100">
              <a:solidFill>
                <a:srgbClr val="5A6D60"/>
              </a:solidFill>
              <a:latin typeface="Nunito Sans"/>
              <a:ea typeface="Nunito Sans"/>
              <a:cs typeface="Nunito Sans"/>
              <a:sym typeface="Nuni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6"/>
        </a:solidFill>
      </p:bgPr>
    </p:bg>
    <p:spTree>
      <p:nvGrpSpPr>
        <p:cNvPr id="46" name="Shape 46"/>
        <p:cNvGrpSpPr/>
        <p:nvPr/>
      </p:nvGrpSpPr>
      <p:grpSpPr>
        <a:xfrm>
          <a:off x="0" y="0"/>
          <a:ext cx="0" cy="0"/>
          <a:chOff x="0" y="0"/>
          <a:chExt cx="0" cy="0"/>
        </a:xfrm>
      </p:grpSpPr>
      <p:sp>
        <p:nvSpPr>
          <p:cNvPr id="47" name="Google Shape;47;p5"/>
          <p:cNvSpPr txBox="1"/>
          <p:nvPr/>
        </p:nvSpPr>
        <p:spPr>
          <a:xfrm>
            <a:off x="11094415" y="6355080"/>
            <a:ext cx="548700" cy="384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100">
                <a:solidFill>
                  <a:srgbClr val="5A6D60"/>
                </a:solidFill>
                <a:latin typeface="Nunito Sans"/>
                <a:ea typeface="Nunito Sans"/>
                <a:cs typeface="Nunito Sans"/>
                <a:sym typeface="Nunito Sans"/>
              </a:rPr>
              <a:t>3</a:t>
            </a:r>
            <a:endParaRPr sz="1100">
              <a:solidFill>
                <a:srgbClr val="5A6D60"/>
              </a:solidFill>
              <a:latin typeface="Nunito Sans"/>
              <a:ea typeface="Nunito Sans"/>
              <a:cs typeface="Nunito Sans"/>
              <a:sym typeface="Nunito Sans"/>
            </a:endParaRPr>
          </a:p>
        </p:txBody>
      </p:sp>
      <p:sp>
        <p:nvSpPr>
          <p:cNvPr id="48" name="Google Shape;48;p5"/>
          <p:cNvSpPr txBox="1"/>
          <p:nvPr/>
        </p:nvSpPr>
        <p:spPr>
          <a:xfrm>
            <a:off x="548640" y="411480"/>
            <a:ext cx="110943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83E35"/>
                </a:solidFill>
                <a:latin typeface="Georgia"/>
                <a:ea typeface="Georgia"/>
                <a:cs typeface="Georgia"/>
                <a:sym typeface="Georgia"/>
              </a:rPr>
              <a:t>Procurement takes time. Public data can inform decisions earlier.</a:t>
            </a:r>
            <a:endParaRPr b="1" sz="3200">
              <a:solidFill>
                <a:srgbClr val="183E35"/>
              </a:solidFill>
              <a:latin typeface="Georgia"/>
              <a:ea typeface="Georgia"/>
              <a:cs typeface="Georgia"/>
              <a:sym typeface="Georgia"/>
            </a:endParaRPr>
          </a:p>
        </p:txBody>
      </p:sp>
      <p:sp>
        <p:nvSpPr>
          <p:cNvPr id="49" name="Google Shape;49;p5"/>
          <p:cNvSpPr/>
          <p:nvPr/>
        </p:nvSpPr>
        <p:spPr>
          <a:xfrm>
            <a:off x="7683500" y="1803400"/>
            <a:ext cx="3962400" cy="1041300"/>
          </a:xfrm>
          <a:prstGeom prst="roundRect">
            <a:avLst>
              <a:gd fmla="val 16667" name="adj"/>
            </a:avLst>
          </a:prstGeom>
          <a:solidFill>
            <a:srgbClr val="F3F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 name="Google Shape;50;p5"/>
          <p:cNvSpPr txBox="1"/>
          <p:nvPr/>
        </p:nvSpPr>
        <p:spPr>
          <a:xfrm>
            <a:off x="7861300" y="1854200"/>
            <a:ext cx="36195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183E35"/>
                </a:solidFill>
                <a:latin typeface="Georgia"/>
                <a:ea typeface="Georgia"/>
                <a:cs typeface="Georgia"/>
                <a:sym typeface="Georgia"/>
              </a:rPr>
              <a:t>Explore early</a:t>
            </a:r>
            <a:endParaRPr b="1" sz="2100">
              <a:solidFill>
                <a:srgbClr val="183E35"/>
              </a:solidFill>
              <a:latin typeface="Georgia"/>
              <a:ea typeface="Georgia"/>
              <a:cs typeface="Georgia"/>
              <a:sym typeface="Georgia"/>
            </a:endParaRPr>
          </a:p>
        </p:txBody>
      </p:sp>
      <p:sp>
        <p:nvSpPr>
          <p:cNvPr id="51" name="Google Shape;51;p5"/>
          <p:cNvSpPr txBox="1"/>
          <p:nvPr/>
        </p:nvSpPr>
        <p:spPr>
          <a:xfrm>
            <a:off x="7861300" y="2235200"/>
            <a:ext cx="3581400" cy="6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83E35"/>
                </a:solidFill>
                <a:latin typeface="Nunito Sans"/>
                <a:ea typeface="Nunito Sans"/>
                <a:cs typeface="Nunito Sans"/>
                <a:sym typeface="Nunito Sans"/>
              </a:rPr>
              <a:t>Use available evidence to screen areas.</a:t>
            </a:r>
            <a:endParaRPr sz="1800">
              <a:solidFill>
                <a:srgbClr val="183E35"/>
              </a:solidFill>
              <a:latin typeface="Nunito Sans"/>
              <a:ea typeface="Nunito Sans"/>
              <a:cs typeface="Nunito Sans"/>
              <a:sym typeface="Nunito Sans"/>
            </a:endParaRPr>
          </a:p>
        </p:txBody>
      </p:sp>
      <p:sp>
        <p:nvSpPr>
          <p:cNvPr id="52" name="Google Shape;52;p5"/>
          <p:cNvSpPr/>
          <p:nvPr/>
        </p:nvSpPr>
        <p:spPr>
          <a:xfrm>
            <a:off x="7683500" y="2921000"/>
            <a:ext cx="3962400" cy="1041300"/>
          </a:xfrm>
          <a:prstGeom prst="roundRect">
            <a:avLst>
              <a:gd fmla="val 16667" name="adj"/>
            </a:avLst>
          </a:prstGeom>
          <a:solidFill>
            <a:srgbClr val="F3F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 name="Google Shape;53;p5"/>
          <p:cNvSpPr txBox="1"/>
          <p:nvPr/>
        </p:nvSpPr>
        <p:spPr>
          <a:xfrm>
            <a:off x="7861300" y="2971800"/>
            <a:ext cx="36195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183E35"/>
                </a:solidFill>
                <a:latin typeface="Georgia"/>
                <a:ea typeface="Georgia"/>
                <a:cs typeface="Georgia"/>
                <a:sym typeface="Georgia"/>
              </a:rPr>
              <a:t>Refine the question</a:t>
            </a:r>
            <a:endParaRPr b="1" sz="2100">
              <a:solidFill>
                <a:srgbClr val="183E35"/>
              </a:solidFill>
              <a:latin typeface="Georgia"/>
              <a:ea typeface="Georgia"/>
              <a:cs typeface="Georgia"/>
              <a:sym typeface="Georgia"/>
            </a:endParaRPr>
          </a:p>
        </p:txBody>
      </p:sp>
      <p:sp>
        <p:nvSpPr>
          <p:cNvPr id="54" name="Google Shape;54;p5"/>
          <p:cNvSpPr txBox="1"/>
          <p:nvPr/>
        </p:nvSpPr>
        <p:spPr>
          <a:xfrm>
            <a:off x="7861300" y="3352800"/>
            <a:ext cx="3581400" cy="6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83E35"/>
                </a:solidFill>
                <a:latin typeface="Nunito Sans"/>
                <a:ea typeface="Nunito Sans"/>
                <a:cs typeface="Nunito Sans"/>
                <a:sym typeface="Nunito Sans"/>
              </a:rPr>
              <a:t>Identify what still needs investigation.</a:t>
            </a:r>
            <a:endParaRPr sz="1800">
              <a:solidFill>
                <a:srgbClr val="183E35"/>
              </a:solidFill>
              <a:latin typeface="Nunito Sans"/>
              <a:ea typeface="Nunito Sans"/>
              <a:cs typeface="Nunito Sans"/>
              <a:sym typeface="Nunito Sans"/>
            </a:endParaRPr>
          </a:p>
        </p:txBody>
      </p:sp>
      <p:sp>
        <p:nvSpPr>
          <p:cNvPr id="55" name="Google Shape;55;p5"/>
          <p:cNvSpPr/>
          <p:nvPr/>
        </p:nvSpPr>
        <p:spPr>
          <a:xfrm>
            <a:off x="7683500" y="4038600"/>
            <a:ext cx="3962400" cy="1041300"/>
          </a:xfrm>
          <a:prstGeom prst="roundRect">
            <a:avLst>
              <a:gd fmla="val 16667" name="adj"/>
            </a:avLst>
          </a:prstGeom>
          <a:solidFill>
            <a:srgbClr val="F3F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5"/>
          <p:cNvSpPr txBox="1"/>
          <p:nvPr/>
        </p:nvSpPr>
        <p:spPr>
          <a:xfrm>
            <a:off x="7861300" y="4089400"/>
            <a:ext cx="36195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183E35"/>
                </a:solidFill>
                <a:latin typeface="Georgia"/>
                <a:ea typeface="Georgia"/>
                <a:cs typeface="Georgia"/>
                <a:sym typeface="Georgia"/>
              </a:rPr>
              <a:t>Narrow the request</a:t>
            </a:r>
            <a:endParaRPr b="1" sz="2100">
              <a:solidFill>
                <a:srgbClr val="183E35"/>
              </a:solidFill>
              <a:latin typeface="Georgia"/>
              <a:ea typeface="Georgia"/>
              <a:cs typeface="Georgia"/>
              <a:sym typeface="Georgia"/>
            </a:endParaRPr>
          </a:p>
        </p:txBody>
      </p:sp>
      <p:sp>
        <p:nvSpPr>
          <p:cNvPr id="57" name="Google Shape;57;p5"/>
          <p:cNvSpPr txBox="1"/>
          <p:nvPr/>
        </p:nvSpPr>
        <p:spPr>
          <a:xfrm>
            <a:off x="7861300" y="4470400"/>
            <a:ext cx="3581400" cy="6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83E35"/>
                </a:solidFill>
                <a:latin typeface="Nunito Sans"/>
                <a:ea typeface="Nunito Sans"/>
                <a:cs typeface="Nunito Sans"/>
                <a:sym typeface="Nunito Sans"/>
              </a:rPr>
              <a:t>Specify the data or analysis to commission.</a:t>
            </a:r>
            <a:endParaRPr sz="1800">
              <a:solidFill>
                <a:srgbClr val="183E35"/>
              </a:solidFill>
              <a:latin typeface="Nunito Sans"/>
              <a:ea typeface="Nunito Sans"/>
              <a:cs typeface="Nunito Sans"/>
              <a:sym typeface="Nunito Sans"/>
            </a:endParaRPr>
          </a:p>
        </p:txBody>
      </p:sp>
      <p:sp>
        <p:nvSpPr>
          <p:cNvPr id="58" name="Google Shape;58;p5"/>
          <p:cNvSpPr/>
          <p:nvPr/>
        </p:nvSpPr>
        <p:spPr>
          <a:xfrm>
            <a:off x="548640" y="5346700"/>
            <a:ext cx="11094600" cy="850800"/>
          </a:xfrm>
          <a:prstGeom prst="roundRect">
            <a:avLst>
              <a:gd fmla="val 16667" name="adj"/>
            </a:avLst>
          </a:prstGeom>
          <a:solidFill>
            <a:srgbClr val="183E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 name="Google Shape;59;p5"/>
          <p:cNvSpPr txBox="1"/>
          <p:nvPr/>
        </p:nvSpPr>
        <p:spPr>
          <a:xfrm>
            <a:off x="731520" y="5372100"/>
            <a:ext cx="107187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300">
                <a:solidFill>
                  <a:srgbClr val="FFFDF6"/>
                </a:solidFill>
                <a:latin typeface="Georgia"/>
                <a:ea typeface="Georgia"/>
                <a:cs typeface="Georgia"/>
                <a:sym typeface="Georgia"/>
              </a:rPr>
              <a:t>Our goal: better evidence before investment</a:t>
            </a:r>
            <a:endParaRPr b="1" sz="2300">
              <a:solidFill>
                <a:srgbClr val="FFFDF6"/>
              </a:solidFill>
              <a:latin typeface="Georgia"/>
              <a:ea typeface="Georgia"/>
              <a:cs typeface="Georgia"/>
              <a:sym typeface="Georgia"/>
            </a:endParaRPr>
          </a:p>
        </p:txBody>
      </p:sp>
      <p:sp>
        <p:nvSpPr>
          <p:cNvPr id="60" name="Google Shape;60;p5"/>
          <p:cNvSpPr txBox="1"/>
          <p:nvPr/>
        </p:nvSpPr>
        <p:spPr>
          <a:xfrm>
            <a:off x="731520" y="5753100"/>
            <a:ext cx="107187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rgbClr val="FFFDF6"/>
                </a:solidFill>
                <a:latin typeface="Nunito Sans"/>
                <a:ea typeface="Nunito Sans"/>
                <a:cs typeface="Nunito Sans"/>
                <a:sym typeface="Nunito Sans"/>
              </a:rPr>
              <a:t>Use public data to focus the next investigation.</a:t>
            </a:r>
            <a:endParaRPr sz="1900">
              <a:solidFill>
                <a:srgbClr val="FFFDF6"/>
              </a:solidFill>
              <a:latin typeface="Nunito Sans"/>
              <a:ea typeface="Nunito Sans"/>
              <a:cs typeface="Nunito Sans"/>
              <a:sym typeface="Nunito Sans"/>
            </a:endParaRPr>
          </a:p>
        </p:txBody>
      </p:sp>
      <p:sp>
        <p:nvSpPr>
          <p:cNvPr id="61" name="Google Shape;61;p5"/>
          <p:cNvSpPr txBox="1"/>
          <p:nvPr/>
        </p:nvSpPr>
        <p:spPr>
          <a:xfrm>
            <a:off x="548640" y="101600"/>
            <a:ext cx="110490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5A6D60"/>
                </a:solidFill>
                <a:latin typeface="Nunito Sans"/>
                <a:ea typeface="Nunito Sans"/>
                <a:cs typeface="Nunito Sans"/>
                <a:sym typeface="Nunito Sans"/>
              </a:rPr>
              <a:t>WHAT PROBLEM ARE WE SOLVING?</a:t>
            </a:r>
            <a:endParaRPr b="1" sz="1100">
              <a:solidFill>
                <a:srgbClr val="5A6D60"/>
              </a:solidFill>
              <a:latin typeface="Nunito Sans"/>
              <a:ea typeface="Nunito Sans"/>
              <a:cs typeface="Nunito Sans"/>
              <a:sym typeface="Nunito Sans"/>
            </a:endParaRPr>
          </a:p>
        </p:txBody>
      </p:sp>
      <p:sp>
        <p:nvSpPr>
          <p:cNvPr id="62" name="Google Shape;62;p5"/>
          <p:cNvSpPr txBox="1"/>
          <p:nvPr/>
        </p:nvSpPr>
        <p:spPr>
          <a:xfrm>
            <a:off x="548640" y="1803400"/>
            <a:ext cx="67311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5A6D60"/>
                </a:solidFill>
                <a:latin typeface="Nunito Sans"/>
                <a:ea typeface="Nunito Sans"/>
                <a:cs typeface="Nunito Sans"/>
                <a:sym typeface="Nunito Sans"/>
              </a:rPr>
              <a:t>NYC FY2026 · median procurement cycle</a:t>
            </a:r>
            <a:endParaRPr sz="1800">
              <a:solidFill>
                <a:srgbClr val="5A6D60"/>
              </a:solidFill>
              <a:latin typeface="Nunito Sans"/>
              <a:ea typeface="Nunito Sans"/>
              <a:cs typeface="Nunito Sans"/>
              <a:sym typeface="Nunito Sans"/>
            </a:endParaRPr>
          </a:p>
        </p:txBody>
      </p:sp>
      <p:sp>
        <p:nvSpPr>
          <p:cNvPr id="63" name="Google Shape;63;p5"/>
          <p:cNvSpPr txBox="1"/>
          <p:nvPr/>
        </p:nvSpPr>
        <p:spPr>
          <a:xfrm>
            <a:off x="548640" y="2781300"/>
            <a:ext cx="2298600" cy="9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100">
                <a:solidFill>
                  <a:srgbClr val="183E35"/>
                </a:solidFill>
                <a:latin typeface="Nunito Sans"/>
                <a:ea typeface="Nunito Sans"/>
                <a:cs typeface="Nunito Sans"/>
                <a:sym typeface="Nunito Sans"/>
              </a:rPr>
              <a:t>Competitive</a:t>
            </a:r>
            <a:endParaRPr sz="21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2100">
                <a:solidFill>
                  <a:srgbClr val="183E35"/>
                </a:solidFill>
                <a:latin typeface="Nunito Sans"/>
                <a:ea typeface="Nunito Sans"/>
                <a:cs typeface="Nunito Sans"/>
                <a:sym typeface="Nunito Sans"/>
              </a:rPr>
              <a:t>sealed bids</a:t>
            </a:r>
            <a:endParaRPr sz="2100">
              <a:solidFill>
                <a:srgbClr val="183E35"/>
              </a:solidFill>
              <a:latin typeface="Nunito Sans"/>
              <a:ea typeface="Nunito Sans"/>
              <a:cs typeface="Nunito Sans"/>
              <a:sym typeface="Nunito Sans"/>
            </a:endParaRPr>
          </a:p>
        </p:txBody>
      </p:sp>
      <p:sp>
        <p:nvSpPr>
          <p:cNvPr id="64" name="Google Shape;64;p5"/>
          <p:cNvSpPr/>
          <p:nvPr/>
        </p:nvSpPr>
        <p:spPr>
          <a:xfrm>
            <a:off x="2921000" y="2895600"/>
            <a:ext cx="1671300" cy="558900"/>
          </a:xfrm>
          <a:prstGeom prst="rect">
            <a:avLst/>
          </a:prstGeom>
          <a:solidFill>
            <a:srgbClr val="B9C2B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5"/>
          <p:cNvSpPr txBox="1"/>
          <p:nvPr/>
        </p:nvSpPr>
        <p:spPr>
          <a:xfrm>
            <a:off x="4706620" y="2857500"/>
            <a:ext cx="1473300" cy="72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rgbClr val="183E35"/>
                </a:solidFill>
                <a:latin typeface="Nunito Sans"/>
                <a:ea typeface="Nunito Sans"/>
                <a:cs typeface="Nunito Sans"/>
                <a:sym typeface="Nunito Sans"/>
              </a:rPr>
              <a:t>282 days</a:t>
            </a:r>
            <a:endParaRPr b="1" sz="2200">
              <a:solidFill>
                <a:srgbClr val="183E35"/>
              </a:solidFill>
              <a:latin typeface="Nunito Sans"/>
              <a:ea typeface="Nunito Sans"/>
              <a:cs typeface="Nunito Sans"/>
              <a:sym typeface="Nunito Sans"/>
            </a:endParaRPr>
          </a:p>
        </p:txBody>
      </p:sp>
      <p:sp>
        <p:nvSpPr>
          <p:cNvPr id="66" name="Google Shape;66;p5"/>
          <p:cNvSpPr txBox="1"/>
          <p:nvPr/>
        </p:nvSpPr>
        <p:spPr>
          <a:xfrm>
            <a:off x="548640" y="3987800"/>
            <a:ext cx="2298600" cy="9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100">
                <a:solidFill>
                  <a:srgbClr val="183E35"/>
                </a:solidFill>
                <a:latin typeface="Nunito Sans"/>
                <a:ea typeface="Nunito Sans"/>
                <a:cs typeface="Nunito Sans"/>
                <a:sym typeface="Nunito Sans"/>
              </a:rPr>
              <a:t>Competitive</a:t>
            </a:r>
            <a:endParaRPr sz="21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2100">
                <a:solidFill>
                  <a:srgbClr val="183E35"/>
                </a:solidFill>
                <a:latin typeface="Nunito Sans"/>
                <a:ea typeface="Nunito Sans"/>
                <a:cs typeface="Nunito Sans"/>
                <a:sym typeface="Nunito Sans"/>
              </a:rPr>
              <a:t>sealed proposals</a:t>
            </a:r>
            <a:endParaRPr sz="2100">
              <a:solidFill>
                <a:srgbClr val="183E35"/>
              </a:solidFill>
              <a:latin typeface="Nunito Sans"/>
              <a:ea typeface="Nunito Sans"/>
              <a:cs typeface="Nunito Sans"/>
              <a:sym typeface="Nunito Sans"/>
            </a:endParaRPr>
          </a:p>
        </p:txBody>
      </p:sp>
      <p:sp>
        <p:nvSpPr>
          <p:cNvPr id="67" name="Google Shape;67;p5"/>
          <p:cNvSpPr/>
          <p:nvPr/>
        </p:nvSpPr>
        <p:spPr>
          <a:xfrm>
            <a:off x="2921000" y="4102100"/>
            <a:ext cx="3123300" cy="558900"/>
          </a:xfrm>
          <a:prstGeom prst="rect">
            <a:avLst/>
          </a:prstGeom>
          <a:solidFill>
            <a:srgbClr val="245C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5"/>
          <p:cNvSpPr txBox="1"/>
          <p:nvPr/>
        </p:nvSpPr>
        <p:spPr>
          <a:xfrm>
            <a:off x="6158653" y="4064000"/>
            <a:ext cx="1473300" cy="72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rgbClr val="183E35"/>
                </a:solidFill>
                <a:latin typeface="Nunito Sans"/>
                <a:ea typeface="Nunito Sans"/>
                <a:cs typeface="Nunito Sans"/>
                <a:sym typeface="Nunito Sans"/>
              </a:rPr>
              <a:t>527 days</a:t>
            </a:r>
            <a:endParaRPr b="1" sz="2200">
              <a:solidFill>
                <a:srgbClr val="183E35"/>
              </a:solidFill>
              <a:latin typeface="Nunito Sans"/>
              <a:ea typeface="Nunito Sans"/>
              <a:cs typeface="Nunito Sans"/>
              <a:sym typeface="Nunito Sans"/>
            </a:endParaRPr>
          </a:p>
        </p:txBody>
      </p:sp>
      <p:sp>
        <p:nvSpPr>
          <p:cNvPr id="69" name="Google Shape;69;p5"/>
          <p:cNvSpPr/>
          <p:nvPr/>
        </p:nvSpPr>
        <p:spPr>
          <a:xfrm>
            <a:off x="2908300" y="2717800"/>
            <a:ext cx="15300" cy="2031900"/>
          </a:xfrm>
          <a:prstGeom prst="rect">
            <a:avLst/>
          </a:prstGeom>
          <a:solidFill>
            <a:srgbClr val="B9C2B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 name="Google Shape;70;p5"/>
          <p:cNvSpPr txBox="1"/>
          <p:nvPr/>
        </p:nvSpPr>
        <p:spPr>
          <a:xfrm>
            <a:off x="548640" y="4813300"/>
            <a:ext cx="6832500" cy="46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rgbClr val="5A6D60"/>
                </a:solidFill>
                <a:latin typeface="Nunito Sans"/>
                <a:ea typeface="Nunito Sans"/>
                <a:cs typeface="Nunito Sans"/>
                <a:sym typeface="Nunito Sans"/>
              </a:rPr>
              <a:t>Citywide contract categories; data-only delays are not measured.</a:t>
            </a:r>
            <a:endParaRPr sz="1200">
              <a:solidFill>
                <a:srgbClr val="5A6D60"/>
              </a:solidFill>
              <a:latin typeface="Nunito Sans"/>
              <a:ea typeface="Nunito Sans"/>
              <a:cs typeface="Nunito Sans"/>
              <a:sym typeface="Nunito Sans"/>
            </a:endParaRPr>
          </a:p>
        </p:txBody>
      </p:sp>
      <p:sp>
        <p:nvSpPr>
          <p:cNvPr id="71" name="Google Shape;71;p5"/>
          <p:cNvSpPr txBox="1"/>
          <p:nvPr/>
        </p:nvSpPr>
        <p:spPr>
          <a:xfrm>
            <a:off x="548640" y="6299200"/>
            <a:ext cx="102996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a:solidFill>
                  <a:srgbClr val="5A6D60"/>
                </a:solidFill>
                <a:latin typeface="Nunito Sans"/>
                <a:ea typeface="Nunito Sans"/>
                <a:cs typeface="Nunito Sans"/>
                <a:sym typeface="Nunito Sans"/>
              </a:rPr>
              <a:t>Sources: NYC MOCS FY2026; Federal Data Strategy; FAR 12.202. Links and scope in notes.</a:t>
            </a:r>
            <a:endParaRPr sz="1100">
              <a:solidFill>
                <a:srgbClr val="5A6D60"/>
              </a:solidFill>
              <a:latin typeface="Nunito Sans"/>
              <a:ea typeface="Nunito Sans"/>
              <a:cs typeface="Nunito Sans"/>
              <a:sym typeface="Nuni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6"/>
        </a:solidFill>
      </p:bgPr>
    </p:bg>
    <p:spTree>
      <p:nvGrpSpPr>
        <p:cNvPr id="76" name="Shape 76"/>
        <p:cNvGrpSpPr/>
        <p:nvPr/>
      </p:nvGrpSpPr>
      <p:grpSpPr>
        <a:xfrm>
          <a:off x="0" y="0"/>
          <a:ext cx="0" cy="0"/>
          <a:chOff x="0" y="0"/>
          <a:chExt cx="0" cy="0"/>
        </a:xfrm>
      </p:grpSpPr>
      <p:sp>
        <p:nvSpPr>
          <p:cNvPr id="77" name="Google Shape;77;p6"/>
          <p:cNvSpPr txBox="1"/>
          <p:nvPr/>
        </p:nvSpPr>
        <p:spPr>
          <a:xfrm>
            <a:off x="11094415" y="6355080"/>
            <a:ext cx="548700" cy="384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100">
                <a:solidFill>
                  <a:srgbClr val="5A6D60"/>
                </a:solidFill>
                <a:latin typeface="Nunito Sans"/>
                <a:ea typeface="Nunito Sans"/>
                <a:cs typeface="Nunito Sans"/>
                <a:sym typeface="Nunito Sans"/>
              </a:rPr>
              <a:t>4</a:t>
            </a:r>
            <a:endParaRPr sz="1100">
              <a:solidFill>
                <a:srgbClr val="5A6D60"/>
              </a:solidFill>
              <a:latin typeface="Nunito Sans"/>
              <a:ea typeface="Nunito Sans"/>
              <a:cs typeface="Nunito Sans"/>
              <a:sym typeface="Nunito Sans"/>
            </a:endParaRPr>
          </a:p>
        </p:txBody>
      </p:sp>
      <p:sp>
        <p:nvSpPr>
          <p:cNvPr id="78" name="Google Shape;78;p6"/>
          <p:cNvSpPr txBox="1"/>
          <p:nvPr/>
        </p:nvSpPr>
        <p:spPr>
          <a:xfrm>
            <a:off x="548640" y="411480"/>
            <a:ext cx="110943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83E35"/>
                </a:solidFill>
                <a:latin typeface="Georgia"/>
                <a:ea typeface="Georgia"/>
                <a:cs typeface="Georgia"/>
                <a:sym typeface="Georgia"/>
              </a:rPr>
              <a:t>Only about 3 in 10 reviews mention the surrounding place</a:t>
            </a:r>
            <a:endParaRPr b="1" sz="3200">
              <a:solidFill>
                <a:srgbClr val="183E35"/>
              </a:solidFill>
              <a:latin typeface="Georgia"/>
              <a:ea typeface="Georgia"/>
              <a:cs typeface="Georgia"/>
              <a:sym typeface="Georgia"/>
            </a:endParaRPr>
          </a:p>
        </p:txBody>
      </p:sp>
      <p:sp>
        <p:nvSpPr>
          <p:cNvPr id="79" name="Google Shape;79;p6"/>
          <p:cNvSpPr txBox="1"/>
          <p:nvPr/>
        </p:nvSpPr>
        <p:spPr>
          <a:xfrm>
            <a:off x="540840" y="2104200"/>
            <a:ext cx="5905500" cy="444600"/>
          </a:xfrm>
          <a:prstGeom prst="rect">
            <a:avLst/>
          </a:prstGeom>
          <a:noFill/>
          <a:ln>
            <a:noFill/>
          </a:ln>
        </p:spPr>
        <p:txBody>
          <a:bodyPr anchorCtr="0" anchor="t" bIns="100275" lIns="100275" spcFirstLastPara="1" rIns="100275" wrap="square" tIns="100275">
            <a:noAutofit/>
          </a:bodyPr>
          <a:lstStyle/>
          <a:p>
            <a:pPr indent="0" lvl="0" marL="0" rtl="0" algn="l">
              <a:spcBef>
                <a:spcPts val="0"/>
              </a:spcBef>
              <a:spcAft>
                <a:spcPts val="0"/>
              </a:spcAft>
              <a:buNone/>
            </a:pPr>
            <a:r>
              <a:rPr lang="en-US" sz="1900">
                <a:solidFill>
                  <a:srgbClr val="5A6D60"/>
                </a:solidFill>
                <a:latin typeface="Nunito Sans"/>
                <a:ea typeface="Nunito Sans"/>
                <a:cs typeface="Nunito Sans"/>
                <a:sym typeface="Nunito Sans"/>
              </a:rPr>
              <a:t>200 randomly sampled reviews</a:t>
            </a:r>
            <a:endParaRPr sz="1900">
              <a:solidFill>
                <a:srgbClr val="5A6D60"/>
              </a:solidFill>
              <a:latin typeface="Nunito Sans"/>
              <a:ea typeface="Nunito Sans"/>
              <a:cs typeface="Nunito Sans"/>
              <a:sym typeface="Nunito Sans"/>
            </a:endParaRPr>
          </a:p>
        </p:txBody>
      </p:sp>
      <p:sp>
        <p:nvSpPr>
          <p:cNvPr id="80" name="Google Shape;80;p6"/>
          <p:cNvSpPr txBox="1"/>
          <p:nvPr/>
        </p:nvSpPr>
        <p:spPr>
          <a:xfrm>
            <a:off x="540840" y="2993200"/>
            <a:ext cx="2336700" cy="762000"/>
          </a:xfrm>
          <a:prstGeom prst="rect">
            <a:avLst/>
          </a:prstGeom>
          <a:noFill/>
          <a:ln>
            <a:noFill/>
          </a:ln>
        </p:spPr>
        <p:txBody>
          <a:bodyPr anchorCtr="0" anchor="t" bIns="100275" lIns="100275" spcFirstLastPara="1" rIns="100275" wrap="square" tIns="100275">
            <a:noAutofit/>
          </a:bodyPr>
          <a:lstStyle/>
          <a:p>
            <a:pPr indent="0" lvl="0" marL="0" rtl="0" algn="r">
              <a:spcBef>
                <a:spcPts val="0"/>
              </a:spcBef>
              <a:spcAft>
                <a:spcPts val="0"/>
              </a:spcAft>
              <a:buNone/>
            </a:pPr>
            <a:r>
              <a:rPr lang="en-US" sz="2000">
                <a:solidFill>
                  <a:srgbClr val="183E35"/>
                </a:solidFill>
                <a:latin typeface="Nunito Sans"/>
                <a:ea typeface="Nunito Sans"/>
                <a:cs typeface="Nunito Sans"/>
                <a:sym typeface="Nunito Sans"/>
              </a:rPr>
              <a:t>Place mentioned</a:t>
            </a:r>
            <a:endParaRPr sz="2000">
              <a:solidFill>
                <a:srgbClr val="183E35"/>
              </a:solidFill>
              <a:latin typeface="Nunito Sans"/>
              <a:ea typeface="Nunito Sans"/>
              <a:cs typeface="Nunito Sans"/>
              <a:sym typeface="Nunito Sans"/>
            </a:endParaRPr>
          </a:p>
        </p:txBody>
      </p:sp>
      <p:sp>
        <p:nvSpPr>
          <p:cNvPr id="81" name="Google Shape;81;p6"/>
          <p:cNvSpPr/>
          <p:nvPr/>
        </p:nvSpPr>
        <p:spPr>
          <a:xfrm>
            <a:off x="2938600" y="3120200"/>
            <a:ext cx="1045800" cy="507900"/>
          </a:xfrm>
          <a:prstGeom prst="rect">
            <a:avLst/>
          </a:prstGeom>
          <a:solidFill>
            <a:srgbClr val="245C49"/>
          </a:solidFill>
          <a:ln>
            <a:noFill/>
          </a:ln>
        </p:spPr>
        <p:txBody>
          <a:bodyPr anchorCtr="0" anchor="ctr" bIns="100275" lIns="100275" spcFirstLastPara="1" rIns="100275" wrap="square" tIns="100275">
            <a:noAutofit/>
          </a:bodyPr>
          <a:lstStyle/>
          <a:p>
            <a:pPr indent="0" lvl="0" marL="0" rtl="0" algn="ctr">
              <a:spcBef>
                <a:spcPts val="0"/>
              </a:spcBef>
              <a:spcAft>
                <a:spcPts val="0"/>
              </a:spcAft>
              <a:buNone/>
            </a:pPr>
            <a:r>
              <a:t/>
            </a:r>
            <a:endParaRPr sz="1535"/>
          </a:p>
        </p:txBody>
      </p:sp>
      <p:sp>
        <p:nvSpPr>
          <p:cNvPr id="82" name="Google Shape;82;p6"/>
          <p:cNvSpPr txBox="1"/>
          <p:nvPr/>
        </p:nvSpPr>
        <p:spPr>
          <a:xfrm>
            <a:off x="4073345" y="3094800"/>
            <a:ext cx="762000" cy="609600"/>
          </a:xfrm>
          <a:prstGeom prst="rect">
            <a:avLst/>
          </a:prstGeom>
          <a:noFill/>
          <a:ln>
            <a:noFill/>
          </a:ln>
        </p:spPr>
        <p:txBody>
          <a:bodyPr anchorCtr="0" anchor="t" bIns="100275" lIns="100275" spcFirstLastPara="1" rIns="100275" wrap="square" tIns="100275">
            <a:noAutofit/>
          </a:bodyPr>
          <a:lstStyle/>
          <a:p>
            <a:pPr indent="0" lvl="0" marL="0" rtl="0" algn="l">
              <a:spcBef>
                <a:spcPts val="0"/>
              </a:spcBef>
              <a:spcAft>
                <a:spcPts val="0"/>
              </a:spcAft>
              <a:buNone/>
            </a:pPr>
            <a:r>
              <a:rPr b="1" lang="en-US" sz="2200">
                <a:solidFill>
                  <a:srgbClr val="183E35"/>
                </a:solidFill>
                <a:latin typeface="Nunito Sans"/>
                <a:ea typeface="Nunito Sans"/>
                <a:cs typeface="Nunito Sans"/>
                <a:sym typeface="Nunito Sans"/>
              </a:rPr>
              <a:t>61</a:t>
            </a:r>
            <a:endParaRPr b="1" sz="2200">
              <a:solidFill>
                <a:srgbClr val="183E35"/>
              </a:solidFill>
              <a:latin typeface="Nunito Sans"/>
              <a:ea typeface="Nunito Sans"/>
              <a:cs typeface="Nunito Sans"/>
              <a:sym typeface="Nunito Sans"/>
            </a:endParaRPr>
          </a:p>
        </p:txBody>
      </p:sp>
      <p:sp>
        <p:nvSpPr>
          <p:cNvPr id="83" name="Google Shape;83;p6"/>
          <p:cNvSpPr txBox="1"/>
          <p:nvPr/>
        </p:nvSpPr>
        <p:spPr>
          <a:xfrm>
            <a:off x="540840" y="4136200"/>
            <a:ext cx="2336700" cy="762000"/>
          </a:xfrm>
          <a:prstGeom prst="rect">
            <a:avLst/>
          </a:prstGeom>
          <a:noFill/>
          <a:ln>
            <a:noFill/>
          </a:ln>
        </p:spPr>
        <p:txBody>
          <a:bodyPr anchorCtr="0" anchor="t" bIns="100275" lIns="100275" spcFirstLastPara="1" rIns="100275" wrap="square" tIns="100275">
            <a:noAutofit/>
          </a:bodyPr>
          <a:lstStyle/>
          <a:p>
            <a:pPr indent="0" lvl="0" marL="0" rtl="0" algn="r">
              <a:spcBef>
                <a:spcPts val="0"/>
              </a:spcBef>
              <a:spcAft>
                <a:spcPts val="0"/>
              </a:spcAft>
              <a:buNone/>
            </a:pPr>
            <a:r>
              <a:rPr lang="en-US" sz="2000">
                <a:solidFill>
                  <a:srgbClr val="183E35"/>
                </a:solidFill>
                <a:latin typeface="Nunito Sans"/>
                <a:ea typeface="Nunito Sans"/>
                <a:cs typeface="Nunito Sans"/>
                <a:sym typeface="Nunito Sans"/>
              </a:rPr>
              <a:t>No place mention</a:t>
            </a:r>
            <a:endParaRPr sz="2000">
              <a:solidFill>
                <a:srgbClr val="183E35"/>
              </a:solidFill>
              <a:latin typeface="Nunito Sans"/>
              <a:ea typeface="Nunito Sans"/>
              <a:cs typeface="Nunito Sans"/>
              <a:sym typeface="Nunito Sans"/>
            </a:endParaRPr>
          </a:p>
        </p:txBody>
      </p:sp>
      <p:sp>
        <p:nvSpPr>
          <p:cNvPr id="84" name="Google Shape;84;p6"/>
          <p:cNvSpPr/>
          <p:nvPr/>
        </p:nvSpPr>
        <p:spPr>
          <a:xfrm>
            <a:off x="2938600" y="4263200"/>
            <a:ext cx="2383200" cy="507900"/>
          </a:xfrm>
          <a:prstGeom prst="rect">
            <a:avLst/>
          </a:prstGeom>
          <a:solidFill>
            <a:srgbClr val="B9C2B5"/>
          </a:solidFill>
          <a:ln>
            <a:noFill/>
          </a:ln>
        </p:spPr>
        <p:txBody>
          <a:bodyPr anchorCtr="0" anchor="ctr" bIns="100275" lIns="100275" spcFirstLastPara="1" rIns="100275" wrap="square" tIns="100275">
            <a:noAutofit/>
          </a:bodyPr>
          <a:lstStyle/>
          <a:p>
            <a:pPr indent="0" lvl="0" marL="0" rtl="0" algn="ctr">
              <a:spcBef>
                <a:spcPts val="0"/>
              </a:spcBef>
              <a:spcAft>
                <a:spcPts val="0"/>
              </a:spcAft>
              <a:buNone/>
            </a:pPr>
            <a:r>
              <a:t/>
            </a:r>
            <a:endParaRPr sz="1535"/>
          </a:p>
        </p:txBody>
      </p:sp>
      <p:sp>
        <p:nvSpPr>
          <p:cNvPr id="85" name="Google Shape;85;p6"/>
          <p:cNvSpPr txBox="1"/>
          <p:nvPr/>
        </p:nvSpPr>
        <p:spPr>
          <a:xfrm>
            <a:off x="5410655" y="4237800"/>
            <a:ext cx="762000" cy="609600"/>
          </a:xfrm>
          <a:prstGeom prst="rect">
            <a:avLst/>
          </a:prstGeom>
          <a:noFill/>
          <a:ln>
            <a:noFill/>
          </a:ln>
        </p:spPr>
        <p:txBody>
          <a:bodyPr anchorCtr="0" anchor="t" bIns="100275" lIns="100275" spcFirstLastPara="1" rIns="100275" wrap="square" tIns="100275">
            <a:noAutofit/>
          </a:bodyPr>
          <a:lstStyle/>
          <a:p>
            <a:pPr indent="0" lvl="0" marL="0" rtl="0" algn="l">
              <a:spcBef>
                <a:spcPts val="0"/>
              </a:spcBef>
              <a:spcAft>
                <a:spcPts val="0"/>
              </a:spcAft>
              <a:buNone/>
            </a:pPr>
            <a:r>
              <a:rPr b="1" lang="en-US" sz="2200">
                <a:solidFill>
                  <a:srgbClr val="183E35"/>
                </a:solidFill>
                <a:latin typeface="Nunito Sans"/>
                <a:ea typeface="Nunito Sans"/>
                <a:cs typeface="Nunito Sans"/>
                <a:sym typeface="Nunito Sans"/>
              </a:rPr>
              <a:t>139</a:t>
            </a:r>
            <a:endParaRPr b="1" sz="2200">
              <a:solidFill>
                <a:srgbClr val="183E35"/>
              </a:solidFill>
              <a:latin typeface="Nunito Sans"/>
              <a:ea typeface="Nunito Sans"/>
              <a:cs typeface="Nunito Sans"/>
              <a:sym typeface="Nunito Sans"/>
            </a:endParaRPr>
          </a:p>
        </p:txBody>
      </p:sp>
      <p:sp>
        <p:nvSpPr>
          <p:cNvPr id="86" name="Google Shape;86;p6"/>
          <p:cNvSpPr/>
          <p:nvPr/>
        </p:nvSpPr>
        <p:spPr>
          <a:xfrm>
            <a:off x="2925900" y="2929700"/>
            <a:ext cx="15300" cy="1968600"/>
          </a:xfrm>
          <a:prstGeom prst="rect">
            <a:avLst/>
          </a:prstGeom>
          <a:solidFill>
            <a:srgbClr val="BFBFBF"/>
          </a:solidFill>
          <a:ln>
            <a:noFill/>
          </a:ln>
        </p:spPr>
        <p:txBody>
          <a:bodyPr anchorCtr="0" anchor="ctr" bIns="100275" lIns="100275" spcFirstLastPara="1" rIns="100275" wrap="square" tIns="100275">
            <a:noAutofit/>
          </a:bodyPr>
          <a:lstStyle/>
          <a:p>
            <a:pPr indent="0" lvl="0" marL="0" rtl="0" algn="ctr">
              <a:spcBef>
                <a:spcPts val="0"/>
              </a:spcBef>
              <a:spcAft>
                <a:spcPts val="0"/>
              </a:spcAft>
              <a:buNone/>
            </a:pPr>
            <a:r>
              <a:t/>
            </a:r>
            <a:endParaRPr sz="1535"/>
          </a:p>
        </p:txBody>
      </p:sp>
      <p:sp>
        <p:nvSpPr>
          <p:cNvPr id="87" name="Google Shape;87;p6"/>
          <p:cNvSpPr/>
          <p:nvPr/>
        </p:nvSpPr>
        <p:spPr>
          <a:xfrm>
            <a:off x="6713040" y="2091500"/>
            <a:ext cx="4937700" cy="3291900"/>
          </a:xfrm>
          <a:prstGeom prst="roundRect">
            <a:avLst>
              <a:gd fmla="val 16667" name="adj"/>
            </a:avLst>
          </a:prstGeom>
          <a:solidFill>
            <a:srgbClr val="F3F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 name="Google Shape;88;p6"/>
          <p:cNvSpPr txBox="1"/>
          <p:nvPr/>
        </p:nvSpPr>
        <p:spPr>
          <a:xfrm>
            <a:off x="6941640" y="2274380"/>
            <a:ext cx="4572000" cy="109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600">
                <a:solidFill>
                  <a:srgbClr val="245C49"/>
                </a:solidFill>
                <a:latin typeface="Georgia"/>
                <a:ea typeface="Georgia"/>
                <a:cs typeface="Georgia"/>
                <a:sym typeface="Georgia"/>
              </a:rPr>
              <a:t>61 of 200</a:t>
            </a:r>
            <a:endParaRPr b="1" sz="4600">
              <a:solidFill>
                <a:srgbClr val="245C49"/>
              </a:solidFill>
              <a:latin typeface="Georgia"/>
              <a:ea typeface="Georgia"/>
              <a:cs typeface="Georgia"/>
              <a:sym typeface="Georgia"/>
            </a:endParaRPr>
          </a:p>
        </p:txBody>
      </p:sp>
      <p:sp>
        <p:nvSpPr>
          <p:cNvPr id="89" name="Google Shape;89;p6"/>
          <p:cNvSpPr txBox="1"/>
          <p:nvPr/>
        </p:nvSpPr>
        <p:spPr>
          <a:xfrm>
            <a:off x="6941640" y="3417380"/>
            <a:ext cx="4407000" cy="12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300">
                <a:solidFill>
                  <a:srgbClr val="183E35"/>
                </a:solidFill>
                <a:latin typeface="Nunito Sans"/>
                <a:ea typeface="Nunito Sans"/>
                <a:cs typeface="Nunito Sans"/>
                <a:sym typeface="Nunito Sans"/>
              </a:rPr>
              <a:t>The relevant signal is mixed with food, service and business feedback.</a:t>
            </a:r>
            <a:endParaRPr sz="2300">
              <a:solidFill>
                <a:srgbClr val="183E35"/>
              </a:solidFill>
              <a:latin typeface="Nunito Sans"/>
              <a:ea typeface="Nunito Sans"/>
              <a:cs typeface="Nunito Sans"/>
              <a:sym typeface="Nunito Sans"/>
            </a:endParaRPr>
          </a:p>
        </p:txBody>
      </p:sp>
      <p:sp>
        <p:nvSpPr>
          <p:cNvPr id="90" name="Google Shape;90;p6"/>
          <p:cNvSpPr txBox="1"/>
          <p:nvPr/>
        </p:nvSpPr>
        <p:spPr>
          <a:xfrm>
            <a:off x="548640" y="101600"/>
            <a:ext cx="110490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5A6D60"/>
                </a:solidFill>
                <a:latin typeface="Nunito Sans"/>
                <a:ea typeface="Nunito Sans"/>
                <a:cs typeface="Nunito Sans"/>
                <a:sym typeface="Nunito Sans"/>
              </a:rPr>
              <a:t>WHAT PROBLEM ARE WE SOLVING?</a:t>
            </a:r>
            <a:endParaRPr b="1" sz="1100">
              <a:solidFill>
                <a:srgbClr val="5A6D60"/>
              </a:solidFill>
              <a:latin typeface="Nunito Sans"/>
              <a:ea typeface="Nunito Sans"/>
              <a:cs typeface="Nunito Sans"/>
              <a:sym typeface="Nuni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6"/>
        </a:solidFill>
      </p:bgPr>
    </p:bg>
    <p:spTree>
      <p:nvGrpSpPr>
        <p:cNvPr id="95" name="Shape 95"/>
        <p:cNvGrpSpPr/>
        <p:nvPr/>
      </p:nvGrpSpPr>
      <p:grpSpPr>
        <a:xfrm>
          <a:off x="0" y="0"/>
          <a:ext cx="0" cy="0"/>
          <a:chOff x="0" y="0"/>
          <a:chExt cx="0" cy="0"/>
        </a:xfrm>
      </p:grpSpPr>
      <p:sp>
        <p:nvSpPr>
          <p:cNvPr id="96" name="Google Shape;96;p7"/>
          <p:cNvSpPr txBox="1"/>
          <p:nvPr/>
        </p:nvSpPr>
        <p:spPr>
          <a:xfrm>
            <a:off x="11094415" y="6355080"/>
            <a:ext cx="548700" cy="384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100">
                <a:solidFill>
                  <a:srgbClr val="5A6D60"/>
                </a:solidFill>
                <a:latin typeface="Nunito Sans"/>
                <a:ea typeface="Nunito Sans"/>
                <a:cs typeface="Nunito Sans"/>
                <a:sym typeface="Nunito Sans"/>
              </a:rPr>
              <a:t>5</a:t>
            </a:r>
            <a:endParaRPr sz="1100">
              <a:solidFill>
                <a:srgbClr val="5A6D60"/>
              </a:solidFill>
              <a:latin typeface="Nunito Sans"/>
              <a:ea typeface="Nunito Sans"/>
              <a:cs typeface="Nunito Sans"/>
              <a:sym typeface="Nunito Sans"/>
            </a:endParaRPr>
          </a:p>
        </p:txBody>
      </p:sp>
      <p:sp>
        <p:nvSpPr>
          <p:cNvPr id="97" name="Google Shape;97;p7"/>
          <p:cNvSpPr txBox="1"/>
          <p:nvPr/>
        </p:nvSpPr>
        <p:spPr>
          <a:xfrm>
            <a:off x="548640" y="411480"/>
            <a:ext cx="110943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83E35"/>
                </a:solidFill>
                <a:latin typeface="Georgia"/>
                <a:ea typeface="Georgia"/>
                <a:cs typeface="Georgia"/>
                <a:sym typeface="Georgia"/>
              </a:rPr>
              <a:t>Join each source at the scale it actually describes</a:t>
            </a:r>
            <a:endParaRPr b="1" sz="3200">
              <a:solidFill>
                <a:srgbClr val="183E35"/>
              </a:solidFill>
              <a:latin typeface="Georgia"/>
              <a:ea typeface="Georgia"/>
              <a:cs typeface="Georgia"/>
              <a:sym typeface="Georgia"/>
            </a:endParaRPr>
          </a:p>
        </p:txBody>
      </p:sp>
      <p:sp>
        <p:nvSpPr>
          <p:cNvPr id="98" name="Google Shape;98;p7"/>
          <p:cNvSpPr txBox="1"/>
          <p:nvPr/>
        </p:nvSpPr>
        <p:spPr>
          <a:xfrm>
            <a:off x="548640" y="1778000"/>
            <a:ext cx="1917600" cy="78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700">
                <a:solidFill>
                  <a:srgbClr val="245C49"/>
                </a:solidFill>
                <a:latin typeface="Georgia"/>
                <a:ea typeface="Georgia"/>
                <a:cs typeface="Georgia"/>
                <a:sym typeface="Georgia"/>
              </a:rPr>
              <a:t>1M</a:t>
            </a:r>
            <a:endParaRPr b="1" sz="3700">
              <a:solidFill>
                <a:srgbClr val="245C49"/>
              </a:solidFill>
              <a:latin typeface="Georgia"/>
              <a:ea typeface="Georgia"/>
              <a:cs typeface="Georgia"/>
              <a:sym typeface="Georgia"/>
            </a:endParaRPr>
          </a:p>
        </p:txBody>
      </p:sp>
      <p:sp>
        <p:nvSpPr>
          <p:cNvPr id="99" name="Google Shape;99;p7"/>
          <p:cNvSpPr txBox="1"/>
          <p:nvPr/>
        </p:nvSpPr>
        <p:spPr>
          <a:xfrm>
            <a:off x="548640" y="2603500"/>
            <a:ext cx="1841400" cy="6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distinct project</a:t>
            </a:r>
            <a:endParaRPr b="1" sz="16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reviews</a:t>
            </a:r>
            <a:endParaRPr b="1" sz="1600">
              <a:solidFill>
                <a:srgbClr val="183E35"/>
              </a:solidFill>
              <a:latin typeface="Nunito Sans"/>
              <a:ea typeface="Nunito Sans"/>
              <a:cs typeface="Nunito Sans"/>
              <a:sym typeface="Nunito Sans"/>
            </a:endParaRPr>
          </a:p>
        </p:txBody>
      </p:sp>
      <p:sp>
        <p:nvSpPr>
          <p:cNvPr id="100" name="Google Shape;100;p7"/>
          <p:cNvSpPr txBox="1"/>
          <p:nvPr/>
        </p:nvSpPr>
        <p:spPr>
          <a:xfrm>
            <a:off x="548640" y="3365500"/>
            <a:ext cx="1841400" cy="7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rgbClr val="5A6D60"/>
                </a:solidFill>
                <a:latin typeface="Nunito Sans"/>
                <a:ea typeface="Nunito Sans"/>
                <a:cs typeface="Nunito Sans"/>
                <a:sym typeface="Nunito Sans"/>
              </a:rPr>
              <a:t>Score once; retain shared memberships</a:t>
            </a:r>
            <a:endParaRPr sz="1300">
              <a:solidFill>
                <a:srgbClr val="5A6D60"/>
              </a:solidFill>
              <a:latin typeface="Nunito Sans"/>
              <a:ea typeface="Nunito Sans"/>
              <a:cs typeface="Nunito Sans"/>
              <a:sym typeface="Nunito Sans"/>
            </a:endParaRPr>
          </a:p>
        </p:txBody>
      </p:sp>
      <p:sp>
        <p:nvSpPr>
          <p:cNvPr id="101" name="Google Shape;101;p7"/>
          <p:cNvSpPr txBox="1"/>
          <p:nvPr/>
        </p:nvSpPr>
        <p:spPr>
          <a:xfrm>
            <a:off x="2552700" y="1778000"/>
            <a:ext cx="1917600" cy="78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600">
                <a:solidFill>
                  <a:srgbClr val="245C49"/>
                </a:solidFill>
                <a:latin typeface="Georgia"/>
                <a:ea typeface="Georgia"/>
                <a:cs typeface="Georgia"/>
                <a:sym typeface="Georgia"/>
              </a:rPr>
              <a:t>196</a:t>
            </a:r>
            <a:endParaRPr b="1" sz="3600">
              <a:solidFill>
                <a:srgbClr val="245C49"/>
              </a:solidFill>
              <a:latin typeface="Georgia"/>
              <a:ea typeface="Georgia"/>
              <a:cs typeface="Georgia"/>
              <a:sym typeface="Georgia"/>
            </a:endParaRPr>
          </a:p>
        </p:txBody>
      </p:sp>
      <p:sp>
        <p:nvSpPr>
          <p:cNvPr id="102" name="Google Shape;102;p7"/>
          <p:cNvSpPr txBox="1"/>
          <p:nvPr/>
        </p:nvSpPr>
        <p:spPr>
          <a:xfrm>
            <a:off x="2552700" y="2603500"/>
            <a:ext cx="1841400" cy="6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ZIPs in</a:t>
            </a:r>
            <a:endParaRPr b="1" sz="16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5 metros</a:t>
            </a:r>
            <a:endParaRPr b="1" sz="1600">
              <a:solidFill>
                <a:srgbClr val="183E35"/>
              </a:solidFill>
              <a:latin typeface="Nunito Sans"/>
              <a:ea typeface="Nunito Sans"/>
              <a:cs typeface="Nunito Sans"/>
              <a:sym typeface="Nunito Sans"/>
            </a:endParaRPr>
          </a:p>
        </p:txBody>
      </p:sp>
      <p:sp>
        <p:nvSpPr>
          <p:cNvPr id="103" name="Google Shape;103;p7"/>
          <p:cNvSpPr txBox="1"/>
          <p:nvPr/>
        </p:nvSpPr>
        <p:spPr>
          <a:xfrm>
            <a:off x="2552700" y="3365500"/>
            <a:ext cx="1841400" cy="7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rgbClr val="5A6D60"/>
                </a:solidFill>
                <a:latin typeface="Nunito Sans"/>
                <a:ea typeface="Nunito Sans"/>
                <a:cs typeface="Nunito Sans"/>
                <a:sym typeface="Nunito Sans"/>
              </a:rPr>
              <a:t>Census ZCTA boundaries</a:t>
            </a:r>
            <a:endParaRPr sz="1300">
              <a:solidFill>
                <a:srgbClr val="5A6D60"/>
              </a:solidFill>
              <a:latin typeface="Nunito Sans"/>
              <a:ea typeface="Nunito Sans"/>
              <a:cs typeface="Nunito Sans"/>
              <a:sym typeface="Nunito Sans"/>
            </a:endParaRPr>
          </a:p>
        </p:txBody>
      </p:sp>
      <p:sp>
        <p:nvSpPr>
          <p:cNvPr id="104" name="Google Shape;104;p7"/>
          <p:cNvSpPr txBox="1"/>
          <p:nvPr/>
        </p:nvSpPr>
        <p:spPr>
          <a:xfrm>
            <a:off x="4559300" y="1778000"/>
            <a:ext cx="1917600" cy="78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600">
                <a:solidFill>
                  <a:srgbClr val="245C49"/>
                </a:solidFill>
                <a:latin typeface="Georgia"/>
                <a:ea typeface="Georgia"/>
                <a:cs typeface="Georgia"/>
                <a:sym typeface="Georgia"/>
              </a:rPr>
              <a:t>2</a:t>
            </a:r>
            <a:endParaRPr b="1" sz="3600">
              <a:solidFill>
                <a:srgbClr val="245C49"/>
              </a:solidFill>
              <a:latin typeface="Georgia"/>
              <a:ea typeface="Georgia"/>
              <a:cs typeface="Georgia"/>
              <a:sym typeface="Georgia"/>
            </a:endParaRPr>
          </a:p>
        </p:txBody>
      </p:sp>
      <p:sp>
        <p:nvSpPr>
          <p:cNvPr id="105" name="Google Shape;105;p7"/>
          <p:cNvSpPr txBox="1"/>
          <p:nvPr/>
        </p:nvSpPr>
        <p:spPr>
          <a:xfrm>
            <a:off x="4559300" y="2603500"/>
            <a:ext cx="1841400" cy="6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ACS</a:t>
            </a:r>
            <a:endParaRPr b="1" sz="16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measures</a:t>
            </a:r>
            <a:endParaRPr b="1" sz="1600">
              <a:solidFill>
                <a:srgbClr val="183E35"/>
              </a:solidFill>
              <a:latin typeface="Nunito Sans"/>
              <a:ea typeface="Nunito Sans"/>
              <a:cs typeface="Nunito Sans"/>
              <a:sym typeface="Nunito Sans"/>
            </a:endParaRPr>
          </a:p>
        </p:txBody>
      </p:sp>
      <p:sp>
        <p:nvSpPr>
          <p:cNvPr id="106" name="Google Shape;106;p7"/>
          <p:cNvSpPr txBox="1"/>
          <p:nvPr/>
        </p:nvSpPr>
        <p:spPr>
          <a:xfrm>
            <a:off x="4559300" y="3365500"/>
            <a:ext cx="1841400" cy="7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rgbClr val="5A6D60"/>
                </a:solidFill>
                <a:latin typeface="Nunito Sans"/>
                <a:ea typeface="Nunito Sans"/>
                <a:cs typeface="Nunito Sans"/>
                <a:sym typeface="Nunito Sans"/>
              </a:rPr>
              <a:t>Historical income and poverty</a:t>
            </a:r>
            <a:endParaRPr sz="1300">
              <a:solidFill>
                <a:srgbClr val="5A6D60"/>
              </a:solidFill>
              <a:latin typeface="Nunito Sans"/>
              <a:ea typeface="Nunito Sans"/>
              <a:cs typeface="Nunito Sans"/>
              <a:sym typeface="Nunito Sans"/>
            </a:endParaRPr>
          </a:p>
        </p:txBody>
      </p:sp>
      <p:sp>
        <p:nvSpPr>
          <p:cNvPr id="107" name="Google Shape;107;p7"/>
          <p:cNvSpPr txBox="1"/>
          <p:nvPr/>
        </p:nvSpPr>
        <p:spPr>
          <a:xfrm>
            <a:off x="6565900" y="1778000"/>
            <a:ext cx="1917600" cy="78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600">
                <a:solidFill>
                  <a:srgbClr val="245C49"/>
                </a:solidFill>
                <a:latin typeface="Georgia"/>
                <a:ea typeface="Georgia"/>
                <a:cs typeface="Georgia"/>
                <a:sym typeface="Georgia"/>
              </a:rPr>
              <a:t>11</a:t>
            </a:r>
            <a:endParaRPr b="1" sz="3600">
              <a:solidFill>
                <a:srgbClr val="245C49"/>
              </a:solidFill>
              <a:latin typeface="Georgia"/>
              <a:ea typeface="Georgia"/>
              <a:cs typeface="Georgia"/>
              <a:sym typeface="Georgia"/>
            </a:endParaRPr>
          </a:p>
        </p:txBody>
      </p:sp>
      <p:sp>
        <p:nvSpPr>
          <p:cNvPr id="108" name="Google Shape;108;p7"/>
          <p:cNvSpPr txBox="1"/>
          <p:nvPr/>
        </p:nvSpPr>
        <p:spPr>
          <a:xfrm>
            <a:off x="6565900" y="2603500"/>
            <a:ext cx="1841400" cy="6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past</a:t>
            </a:r>
            <a:endParaRPr b="1" sz="16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projects</a:t>
            </a:r>
            <a:endParaRPr b="1" sz="1600">
              <a:solidFill>
                <a:srgbClr val="183E35"/>
              </a:solidFill>
              <a:latin typeface="Nunito Sans"/>
              <a:ea typeface="Nunito Sans"/>
              <a:cs typeface="Nunito Sans"/>
              <a:sym typeface="Nunito Sans"/>
            </a:endParaRPr>
          </a:p>
        </p:txBody>
      </p:sp>
      <p:sp>
        <p:nvSpPr>
          <p:cNvPr id="109" name="Google Shape;109;p7"/>
          <p:cNvSpPr txBox="1"/>
          <p:nvPr/>
        </p:nvSpPr>
        <p:spPr>
          <a:xfrm>
            <a:off x="6565900" y="3365500"/>
            <a:ext cx="1841400" cy="7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rgbClr val="5A6D60"/>
                </a:solidFill>
                <a:latin typeface="Nunito Sans"/>
                <a:ea typeface="Nunito Sans"/>
                <a:cs typeface="Nunito Sans"/>
                <a:sym typeface="Nunito Sans"/>
              </a:rPr>
              <a:t>7 cities; dates, costs and footprints</a:t>
            </a:r>
            <a:endParaRPr sz="1300">
              <a:solidFill>
                <a:srgbClr val="5A6D60"/>
              </a:solidFill>
              <a:latin typeface="Nunito Sans"/>
              <a:ea typeface="Nunito Sans"/>
              <a:cs typeface="Nunito Sans"/>
              <a:sym typeface="Nunito Sans"/>
            </a:endParaRPr>
          </a:p>
        </p:txBody>
      </p:sp>
      <p:sp>
        <p:nvSpPr>
          <p:cNvPr id="110" name="Google Shape;110;p7"/>
          <p:cNvSpPr/>
          <p:nvPr/>
        </p:nvSpPr>
        <p:spPr>
          <a:xfrm>
            <a:off x="548640" y="4267200"/>
            <a:ext cx="3784500" cy="1778100"/>
          </a:xfrm>
          <a:prstGeom prst="roundRect">
            <a:avLst>
              <a:gd fmla="val 16667" name="adj"/>
            </a:avLst>
          </a:prstGeom>
          <a:solidFill>
            <a:srgbClr val="E6EC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7"/>
          <p:cNvSpPr txBox="1"/>
          <p:nvPr/>
        </p:nvSpPr>
        <p:spPr>
          <a:xfrm>
            <a:off x="701040" y="4419600"/>
            <a:ext cx="3479700" cy="54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rgbClr val="183E35"/>
                </a:solidFill>
                <a:latin typeface="Georgia"/>
                <a:ea typeface="Georgia"/>
                <a:cs typeface="Georgia"/>
                <a:sym typeface="Georgia"/>
              </a:rPr>
              <a:t>Area path: ZIP / ZCTA</a:t>
            </a:r>
            <a:endParaRPr b="1" sz="2000">
              <a:solidFill>
                <a:srgbClr val="183E35"/>
              </a:solidFill>
              <a:latin typeface="Georgia"/>
              <a:ea typeface="Georgia"/>
              <a:cs typeface="Georgia"/>
              <a:sym typeface="Georgia"/>
            </a:endParaRPr>
          </a:p>
        </p:txBody>
      </p:sp>
      <p:sp>
        <p:nvSpPr>
          <p:cNvPr id="112" name="Google Shape;112;p7"/>
          <p:cNvSpPr txBox="1"/>
          <p:nvPr/>
        </p:nvSpPr>
        <p:spPr>
          <a:xfrm>
            <a:off x="701040" y="5054600"/>
            <a:ext cx="3479700" cy="90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rgbClr val="183E35"/>
                </a:solidFill>
                <a:latin typeface="Nunito Sans"/>
                <a:ea typeface="Nunito Sans"/>
                <a:cs typeface="Nunito Sans"/>
                <a:sym typeface="Nunito Sans"/>
              </a:rPr>
              <a:t>Join reviews by business ID and ZIP; add ACS context.</a:t>
            </a:r>
            <a:endParaRPr sz="1700">
              <a:solidFill>
                <a:srgbClr val="183E35"/>
              </a:solidFill>
              <a:latin typeface="Nunito Sans"/>
              <a:ea typeface="Nunito Sans"/>
              <a:cs typeface="Nunito Sans"/>
              <a:sym typeface="Nunito Sans"/>
            </a:endParaRPr>
          </a:p>
        </p:txBody>
      </p:sp>
      <p:sp>
        <p:nvSpPr>
          <p:cNvPr id="113" name="Google Shape;113;p7"/>
          <p:cNvSpPr/>
          <p:nvPr/>
        </p:nvSpPr>
        <p:spPr>
          <a:xfrm>
            <a:off x="4572000" y="4267200"/>
            <a:ext cx="3784500" cy="1778100"/>
          </a:xfrm>
          <a:prstGeom prst="roundRect">
            <a:avLst>
              <a:gd fmla="val 16667" name="adj"/>
            </a:avLst>
          </a:prstGeom>
          <a:solidFill>
            <a:srgbClr val="E6EC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7"/>
          <p:cNvSpPr txBox="1"/>
          <p:nvPr/>
        </p:nvSpPr>
        <p:spPr>
          <a:xfrm>
            <a:off x="4724400" y="4419600"/>
            <a:ext cx="3479700" cy="54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rgbClr val="183E35"/>
                </a:solidFill>
                <a:latin typeface="Georgia"/>
                <a:ea typeface="Georgia"/>
                <a:cs typeface="Georgia"/>
                <a:sym typeface="Georgia"/>
              </a:rPr>
              <a:t>Project path: distance</a:t>
            </a:r>
            <a:endParaRPr b="1" sz="2000">
              <a:solidFill>
                <a:srgbClr val="183E35"/>
              </a:solidFill>
              <a:latin typeface="Georgia"/>
              <a:ea typeface="Georgia"/>
              <a:cs typeface="Georgia"/>
              <a:sym typeface="Georgia"/>
            </a:endParaRPr>
          </a:p>
        </p:txBody>
      </p:sp>
      <p:sp>
        <p:nvSpPr>
          <p:cNvPr id="115" name="Google Shape;115;p7"/>
          <p:cNvSpPr txBox="1"/>
          <p:nvPr/>
        </p:nvSpPr>
        <p:spPr>
          <a:xfrm>
            <a:off x="4724400" y="5054600"/>
            <a:ext cx="3479700" cy="90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rgbClr val="183E35"/>
                </a:solidFill>
                <a:latin typeface="Nunito Sans"/>
                <a:ea typeface="Nunito Sans"/>
                <a:cs typeface="Nunito Sans"/>
                <a:sym typeface="Nunito Sans"/>
              </a:rPr>
              <a:t>Apply distance bands and predefined opening windows.</a:t>
            </a:r>
            <a:endParaRPr sz="1700">
              <a:solidFill>
                <a:srgbClr val="183E35"/>
              </a:solidFill>
              <a:latin typeface="Nunito Sans"/>
              <a:ea typeface="Nunito Sans"/>
              <a:cs typeface="Nunito Sans"/>
              <a:sym typeface="Nunito Sans"/>
            </a:endParaRPr>
          </a:p>
        </p:txBody>
      </p:sp>
      <p:sp>
        <p:nvSpPr>
          <p:cNvPr id="116" name="Google Shape;116;p7"/>
          <p:cNvSpPr txBox="1"/>
          <p:nvPr/>
        </p:nvSpPr>
        <p:spPr>
          <a:xfrm>
            <a:off x="548640" y="101600"/>
            <a:ext cx="110490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5A6D60"/>
                </a:solidFill>
                <a:latin typeface="Nunito Sans"/>
                <a:ea typeface="Nunito Sans"/>
                <a:cs typeface="Nunito Sans"/>
                <a:sym typeface="Nunito Sans"/>
              </a:rPr>
              <a:t>PIPELINE / 01 · PREPARE THE DATA</a:t>
            </a:r>
            <a:endParaRPr b="1" sz="1100">
              <a:solidFill>
                <a:srgbClr val="5A6D60"/>
              </a:solidFill>
              <a:latin typeface="Nunito Sans"/>
              <a:ea typeface="Nunito Sans"/>
              <a:cs typeface="Nunito Sans"/>
              <a:sym typeface="Nunito Sans"/>
            </a:endParaRPr>
          </a:p>
        </p:txBody>
      </p:sp>
      <p:sp>
        <p:nvSpPr>
          <p:cNvPr id="117" name="Google Shape;117;p7"/>
          <p:cNvSpPr/>
          <p:nvPr/>
        </p:nvSpPr>
        <p:spPr>
          <a:xfrm>
            <a:off x="8763000" y="1701800"/>
            <a:ext cx="2883000" cy="4140300"/>
          </a:xfrm>
          <a:prstGeom prst="roundRect">
            <a:avLst>
              <a:gd fmla="val 16667" name="adj"/>
            </a:avLst>
          </a:prstGeom>
          <a:solidFill>
            <a:srgbClr val="EBF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p7"/>
          <p:cNvSpPr txBox="1"/>
          <p:nvPr/>
        </p:nvSpPr>
        <p:spPr>
          <a:xfrm>
            <a:off x="8940800" y="1866900"/>
            <a:ext cx="2502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rgbClr val="5A6D60"/>
                </a:solidFill>
                <a:latin typeface="Nunito Sans"/>
                <a:ea typeface="Nunito Sans"/>
                <a:cs typeface="Nunito Sans"/>
                <a:sym typeface="Nunito Sans"/>
              </a:rPr>
              <a:t>TECHNICAL CHOICES</a:t>
            </a:r>
            <a:endParaRPr b="1" sz="1200">
              <a:solidFill>
                <a:srgbClr val="5A6D60"/>
              </a:solidFill>
              <a:latin typeface="Nunito Sans"/>
              <a:ea typeface="Nunito Sans"/>
              <a:cs typeface="Nunito Sans"/>
              <a:sym typeface="Nunito Sans"/>
            </a:endParaRPr>
          </a:p>
        </p:txBody>
      </p:sp>
      <p:sp>
        <p:nvSpPr>
          <p:cNvPr id="119" name="Google Shape;119;p7"/>
          <p:cNvSpPr txBox="1"/>
          <p:nvPr/>
        </p:nvSpPr>
        <p:spPr>
          <a:xfrm>
            <a:off x="8940800" y="2247900"/>
            <a:ext cx="3000000" cy="30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Join key</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Review-to-business link.</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ZCTA</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Census ZIP display area.</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Distance bands</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Near ≤500 m; comparison</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1.5–8 km.</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Memberships</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Score once; retain shared</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project assignments.</a:t>
            </a:r>
            <a:endParaRPr sz="1500">
              <a:solidFill>
                <a:srgbClr val="183E35"/>
              </a:solidFill>
              <a:latin typeface="Nunito Sans"/>
              <a:ea typeface="Nunito Sans"/>
              <a:cs typeface="Nunito Sans"/>
              <a:sym typeface="Nuni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6"/>
        </a:solidFill>
      </p:bgPr>
    </p:bg>
    <p:spTree>
      <p:nvGrpSpPr>
        <p:cNvPr id="124" name="Shape 124"/>
        <p:cNvGrpSpPr/>
        <p:nvPr/>
      </p:nvGrpSpPr>
      <p:grpSpPr>
        <a:xfrm>
          <a:off x="0" y="0"/>
          <a:ext cx="0" cy="0"/>
          <a:chOff x="0" y="0"/>
          <a:chExt cx="0" cy="0"/>
        </a:xfrm>
      </p:grpSpPr>
      <p:sp>
        <p:nvSpPr>
          <p:cNvPr id="125" name="Google Shape;125;p8"/>
          <p:cNvSpPr txBox="1"/>
          <p:nvPr/>
        </p:nvSpPr>
        <p:spPr>
          <a:xfrm>
            <a:off x="11094415" y="6355080"/>
            <a:ext cx="548700" cy="384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100">
                <a:solidFill>
                  <a:srgbClr val="5A6D60"/>
                </a:solidFill>
                <a:latin typeface="Nunito Sans"/>
                <a:ea typeface="Nunito Sans"/>
                <a:cs typeface="Nunito Sans"/>
                <a:sym typeface="Nunito Sans"/>
              </a:rPr>
              <a:t>6</a:t>
            </a:r>
            <a:endParaRPr sz="1100">
              <a:solidFill>
                <a:srgbClr val="5A6D60"/>
              </a:solidFill>
              <a:latin typeface="Nunito Sans"/>
              <a:ea typeface="Nunito Sans"/>
              <a:cs typeface="Nunito Sans"/>
              <a:sym typeface="Nunito Sans"/>
            </a:endParaRPr>
          </a:p>
        </p:txBody>
      </p:sp>
      <p:sp>
        <p:nvSpPr>
          <p:cNvPr id="126" name="Google Shape;126;p8"/>
          <p:cNvSpPr txBox="1"/>
          <p:nvPr/>
        </p:nvSpPr>
        <p:spPr>
          <a:xfrm>
            <a:off x="548640" y="411480"/>
            <a:ext cx="110943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83E35"/>
                </a:solidFill>
                <a:latin typeface="Georgia"/>
                <a:ea typeface="Georgia"/>
                <a:cs typeface="Georgia"/>
                <a:sym typeface="Georgia"/>
              </a:rPr>
              <a:t>From historical data to explorable local evidence</a:t>
            </a:r>
            <a:endParaRPr b="1" sz="3200">
              <a:solidFill>
                <a:srgbClr val="183E35"/>
              </a:solidFill>
              <a:latin typeface="Georgia"/>
              <a:ea typeface="Georgia"/>
              <a:cs typeface="Georgia"/>
              <a:sym typeface="Georgia"/>
            </a:endParaRPr>
          </a:p>
        </p:txBody>
      </p:sp>
      <p:sp>
        <p:nvSpPr>
          <p:cNvPr id="127" name="Google Shape;127;p8"/>
          <p:cNvSpPr txBox="1"/>
          <p:nvPr/>
        </p:nvSpPr>
        <p:spPr>
          <a:xfrm>
            <a:off x="548640" y="101600"/>
            <a:ext cx="110490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5A6D60"/>
                </a:solidFill>
                <a:latin typeface="Nunito Sans"/>
                <a:ea typeface="Nunito Sans"/>
                <a:cs typeface="Nunito Sans"/>
                <a:sym typeface="Nunito Sans"/>
              </a:rPr>
              <a:t>PIPELINE / OVERVIEW</a:t>
            </a:r>
            <a:endParaRPr b="1" sz="1100">
              <a:solidFill>
                <a:srgbClr val="5A6D60"/>
              </a:solidFill>
              <a:latin typeface="Nunito Sans"/>
              <a:ea typeface="Nunito Sans"/>
              <a:cs typeface="Nunito Sans"/>
              <a:sym typeface="Nunito Sans"/>
            </a:endParaRPr>
          </a:p>
        </p:txBody>
      </p:sp>
      <p:cxnSp>
        <p:nvCxnSpPr>
          <p:cNvPr id="128" name="Google Shape;128;p8"/>
          <p:cNvCxnSpPr/>
          <p:nvPr/>
        </p:nvCxnSpPr>
        <p:spPr>
          <a:xfrm>
            <a:off x="2476500" y="3302000"/>
            <a:ext cx="635100" cy="0"/>
          </a:xfrm>
          <a:prstGeom prst="straightConnector1">
            <a:avLst/>
          </a:prstGeom>
          <a:noFill/>
          <a:ln cap="flat" cmpd="sng" w="22850">
            <a:solidFill>
              <a:srgbClr val="5A6D60"/>
            </a:solidFill>
            <a:prstDash val="solid"/>
            <a:round/>
            <a:headEnd len="med" w="med" type="none"/>
            <a:tailEnd len="med" w="med" type="triangle"/>
          </a:ln>
        </p:spPr>
      </p:cxnSp>
      <p:cxnSp>
        <p:nvCxnSpPr>
          <p:cNvPr id="129" name="Google Shape;129;p8"/>
          <p:cNvCxnSpPr/>
          <p:nvPr/>
        </p:nvCxnSpPr>
        <p:spPr>
          <a:xfrm>
            <a:off x="5207000" y="3175000"/>
            <a:ext cx="342900" cy="0"/>
          </a:xfrm>
          <a:prstGeom prst="straightConnector1">
            <a:avLst/>
          </a:prstGeom>
          <a:noFill/>
          <a:ln cap="flat" cmpd="sng" w="22850">
            <a:solidFill>
              <a:srgbClr val="5A6D60"/>
            </a:solidFill>
            <a:prstDash val="solid"/>
            <a:round/>
            <a:headEnd len="med" w="med" type="none"/>
            <a:tailEnd len="med" w="med" type="none"/>
          </a:ln>
        </p:spPr>
      </p:cxnSp>
      <p:cxnSp>
        <p:nvCxnSpPr>
          <p:cNvPr id="130" name="Google Shape;130;p8"/>
          <p:cNvCxnSpPr/>
          <p:nvPr/>
        </p:nvCxnSpPr>
        <p:spPr>
          <a:xfrm rot="10800000">
            <a:off x="5549900" y="2032000"/>
            <a:ext cx="0" cy="1143000"/>
          </a:xfrm>
          <a:prstGeom prst="straightConnector1">
            <a:avLst/>
          </a:prstGeom>
          <a:noFill/>
          <a:ln cap="flat" cmpd="sng" w="22850">
            <a:solidFill>
              <a:srgbClr val="5A6D60"/>
            </a:solidFill>
            <a:prstDash val="solid"/>
            <a:round/>
            <a:headEnd len="med" w="med" type="none"/>
            <a:tailEnd len="med" w="med" type="none"/>
          </a:ln>
        </p:spPr>
      </p:cxnSp>
      <p:cxnSp>
        <p:nvCxnSpPr>
          <p:cNvPr id="131" name="Google Shape;131;p8"/>
          <p:cNvCxnSpPr/>
          <p:nvPr/>
        </p:nvCxnSpPr>
        <p:spPr>
          <a:xfrm>
            <a:off x="5549900" y="2032000"/>
            <a:ext cx="355500" cy="0"/>
          </a:xfrm>
          <a:prstGeom prst="straightConnector1">
            <a:avLst/>
          </a:prstGeom>
          <a:noFill/>
          <a:ln cap="flat" cmpd="sng" w="22850">
            <a:solidFill>
              <a:srgbClr val="5A6D60"/>
            </a:solidFill>
            <a:prstDash val="solid"/>
            <a:round/>
            <a:headEnd len="med" w="med" type="none"/>
            <a:tailEnd len="med" w="med" type="triangle"/>
          </a:ln>
        </p:spPr>
      </p:cxnSp>
      <p:cxnSp>
        <p:nvCxnSpPr>
          <p:cNvPr id="132" name="Google Shape;132;p8"/>
          <p:cNvCxnSpPr/>
          <p:nvPr/>
        </p:nvCxnSpPr>
        <p:spPr>
          <a:xfrm>
            <a:off x="5207000" y="3492500"/>
            <a:ext cx="342900" cy="0"/>
          </a:xfrm>
          <a:prstGeom prst="straightConnector1">
            <a:avLst/>
          </a:prstGeom>
          <a:noFill/>
          <a:ln cap="flat" cmpd="sng" w="22850">
            <a:solidFill>
              <a:srgbClr val="5A6D60"/>
            </a:solidFill>
            <a:prstDash val="solid"/>
            <a:round/>
            <a:headEnd len="med" w="med" type="none"/>
            <a:tailEnd len="med" w="med" type="none"/>
          </a:ln>
        </p:spPr>
      </p:cxnSp>
      <p:cxnSp>
        <p:nvCxnSpPr>
          <p:cNvPr id="133" name="Google Shape;133;p8"/>
          <p:cNvCxnSpPr/>
          <p:nvPr/>
        </p:nvCxnSpPr>
        <p:spPr>
          <a:xfrm>
            <a:off x="5549900" y="3492500"/>
            <a:ext cx="0" cy="1143000"/>
          </a:xfrm>
          <a:prstGeom prst="straightConnector1">
            <a:avLst/>
          </a:prstGeom>
          <a:noFill/>
          <a:ln cap="flat" cmpd="sng" w="22850">
            <a:solidFill>
              <a:srgbClr val="5A6D60"/>
            </a:solidFill>
            <a:prstDash val="solid"/>
            <a:round/>
            <a:headEnd len="med" w="med" type="none"/>
            <a:tailEnd len="med" w="med" type="none"/>
          </a:ln>
        </p:spPr>
      </p:cxnSp>
      <p:cxnSp>
        <p:nvCxnSpPr>
          <p:cNvPr id="134" name="Google Shape;134;p8"/>
          <p:cNvCxnSpPr/>
          <p:nvPr/>
        </p:nvCxnSpPr>
        <p:spPr>
          <a:xfrm>
            <a:off x="5549900" y="4635500"/>
            <a:ext cx="355500" cy="0"/>
          </a:xfrm>
          <a:prstGeom prst="straightConnector1">
            <a:avLst/>
          </a:prstGeom>
          <a:noFill/>
          <a:ln cap="flat" cmpd="sng" w="22850">
            <a:solidFill>
              <a:srgbClr val="5A6D60"/>
            </a:solidFill>
            <a:prstDash val="solid"/>
            <a:round/>
            <a:headEnd len="med" w="med" type="none"/>
            <a:tailEnd len="med" w="med" type="triangle"/>
          </a:ln>
        </p:spPr>
      </p:cxnSp>
      <p:cxnSp>
        <p:nvCxnSpPr>
          <p:cNvPr id="135" name="Google Shape;135;p8"/>
          <p:cNvCxnSpPr/>
          <p:nvPr/>
        </p:nvCxnSpPr>
        <p:spPr>
          <a:xfrm rot="10800000">
            <a:off x="4159250" y="2539900"/>
            <a:ext cx="0" cy="254100"/>
          </a:xfrm>
          <a:prstGeom prst="straightConnector1">
            <a:avLst/>
          </a:prstGeom>
          <a:noFill/>
          <a:ln cap="flat" cmpd="sng" w="22850">
            <a:solidFill>
              <a:srgbClr val="5A6D60"/>
            </a:solidFill>
            <a:prstDash val="dash"/>
            <a:round/>
            <a:headEnd len="med" w="med" type="none"/>
            <a:tailEnd len="med" w="med" type="triangle"/>
          </a:ln>
        </p:spPr>
      </p:cxnSp>
      <p:cxnSp>
        <p:nvCxnSpPr>
          <p:cNvPr id="136" name="Google Shape;136;p8"/>
          <p:cNvCxnSpPr/>
          <p:nvPr/>
        </p:nvCxnSpPr>
        <p:spPr>
          <a:xfrm>
            <a:off x="8064500" y="2032000"/>
            <a:ext cx="254100" cy="0"/>
          </a:xfrm>
          <a:prstGeom prst="straightConnector1">
            <a:avLst/>
          </a:prstGeom>
          <a:noFill/>
          <a:ln cap="flat" cmpd="sng" w="22850">
            <a:solidFill>
              <a:srgbClr val="5A6D60"/>
            </a:solidFill>
            <a:prstDash val="solid"/>
            <a:round/>
            <a:headEnd len="med" w="med" type="none"/>
            <a:tailEnd len="med" w="med" type="none"/>
          </a:ln>
        </p:spPr>
      </p:cxnSp>
      <p:cxnSp>
        <p:nvCxnSpPr>
          <p:cNvPr id="137" name="Google Shape;137;p8"/>
          <p:cNvCxnSpPr/>
          <p:nvPr/>
        </p:nvCxnSpPr>
        <p:spPr>
          <a:xfrm>
            <a:off x="8318500" y="2032000"/>
            <a:ext cx="0" cy="1269900"/>
          </a:xfrm>
          <a:prstGeom prst="straightConnector1">
            <a:avLst/>
          </a:prstGeom>
          <a:noFill/>
          <a:ln cap="flat" cmpd="sng" w="22850">
            <a:solidFill>
              <a:srgbClr val="5A6D60"/>
            </a:solidFill>
            <a:prstDash val="solid"/>
            <a:round/>
            <a:headEnd len="med" w="med" type="none"/>
            <a:tailEnd len="med" w="med" type="none"/>
          </a:ln>
        </p:spPr>
      </p:cxnSp>
      <p:cxnSp>
        <p:nvCxnSpPr>
          <p:cNvPr id="138" name="Google Shape;138;p8"/>
          <p:cNvCxnSpPr/>
          <p:nvPr/>
        </p:nvCxnSpPr>
        <p:spPr>
          <a:xfrm>
            <a:off x="8318500" y="3302000"/>
            <a:ext cx="317400" cy="0"/>
          </a:xfrm>
          <a:prstGeom prst="straightConnector1">
            <a:avLst/>
          </a:prstGeom>
          <a:noFill/>
          <a:ln cap="flat" cmpd="sng" w="22850">
            <a:solidFill>
              <a:srgbClr val="5A6D60"/>
            </a:solidFill>
            <a:prstDash val="solid"/>
            <a:round/>
            <a:headEnd len="med" w="med" type="none"/>
            <a:tailEnd len="med" w="med" type="triangle"/>
          </a:ln>
        </p:spPr>
      </p:cxnSp>
      <p:cxnSp>
        <p:nvCxnSpPr>
          <p:cNvPr id="139" name="Google Shape;139;p8"/>
          <p:cNvCxnSpPr/>
          <p:nvPr/>
        </p:nvCxnSpPr>
        <p:spPr>
          <a:xfrm>
            <a:off x="8064500" y="4635500"/>
            <a:ext cx="571500" cy="0"/>
          </a:xfrm>
          <a:prstGeom prst="straightConnector1">
            <a:avLst/>
          </a:prstGeom>
          <a:noFill/>
          <a:ln cap="flat" cmpd="sng" w="22850">
            <a:solidFill>
              <a:srgbClr val="5A6D60"/>
            </a:solidFill>
            <a:prstDash val="solid"/>
            <a:round/>
            <a:headEnd len="med" w="med" type="none"/>
            <a:tailEnd len="med" w="med" type="triangle"/>
          </a:ln>
        </p:spPr>
      </p:cxnSp>
      <p:cxnSp>
        <p:nvCxnSpPr>
          <p:cNvPr id="140" name="Google Shape;140;p8"/>
          <p:cNvCxnSpPr/>
          <p:nvPr/>
        </p:nvCxnSpPr>
        <p:spPr>
          <a:xfrm rot="10800000">
            <a:off x="10128250" y="3810100"/>
            <a:ext cx="0" cy="317400"/>
          </a:xfrm>
          <a:prstGeom prst="straightConnector1">
            <a:avLst/>
          </a:prstGeom>
          <a:noFill/>
          <a:ln cap="flat" cmpd="sng" w="22850">
            <a:solidFill>
              <a:srgbClr val="5A6D60"/>
            </a:solidFill>
            <a:prstDash val="solid"/>
            <a:round/>
            <a:headEnd len="med" w="med" type="none"/>
            <a:tailEnd len="med" w="med" type="triangle"/>
          </a:ln>
        </p:spPr>
      </p:cxnSp>
      <p:cxnSp>
        <p:nvCxnSpPr>
          <p:cNvPr id="141" name="Google Shape;141;p8"/>
          <p:cNvCxnSpPr/>
          <p:nvPr/>
        </p:nvCxnSpPr>
        <p:spPr>
          <a:xfrm rot="10800000">
            <a:off x="10128250" y="2539900"/>
            <a:ext cx="0" cy="254100"/>
          </a:xfrm>
          <a:prstGeom prst="straightConnector1">
            <a:avLst/>
          </a:prstGeom>
          <a:noFill/>
          <a:ln cap="flat" cmpd="sng" w="22850">
            <a:solidFill>
              <a:srgbClr val="5A6D60"/>
            </a:solidFill>
            <a:prstDash val="solid"/>
            <a:round/>
            <a:headEnd len="med" w="med" type="none"/>
            <a:tailEnd len="med" w="med" type="triangle"/>
          </a:ln>
        </p:spPr>
      </p:cxnSp>
      <p:sp>
        <p:nvSpPr>
          <p:cNvPr id="142" name="Google Shape;142;p8"/>
          <p:cNvSpPr/>
          <p:nvPr/>
        </p:nvSpPr>
        <p:spPr>
          <a:xfrm>
            <a:off x="508000" y="2794000"/>
            <a:ext cx="1968600" cy="1016100"/>
          </a:xfrm>
          <a:prstGeom prst="roundRect">
            <a:avLst>
              <a:gd fmla="val 16667" name="adj"/>
            </a:avLst>
          </a:prstGeom>
          <a:solidFill>
            <a:srgbClr val="E6EC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700">
                <a:solidFill>
                  <a:srgbClr val="183E35"/>
                </a:solidFill>
                <a:latin typeface="Nunito Sans"/>
                <a:ea typeface="Nunito Sans"/>
                <a:cs typeface="Nunito Sans"/>
                <a:sym typeface="Nunito Sans"/>
              </a:rPr>
              <a:t>Sources</a:t>
            </a:r>
            <a:endParaRPr b="1" sz="1700">
              <a:solidFill>
                <a:srgbClr val="183E35"/>
              </a:solidFill>
              <a:latin typeface="Nunito Sans"/>
              <a:ea typeface="Nunito Sans"/>
              <a:cs typeface="Nunito Sans"/>
              <a:sym typeface="Nunito Sans"/>
            </a:endParaRPr>
          </a:p>
          <a:p>
            <a:pPr indent="0" lvl="0" marL="0" rtl="0" algn="ctr">
              <a:spcBef>
                <a:spcPts val="100"/>
              </a:spcBef>
              <a:spcAft>
                <a:spcPts val="0"/>
              </a:spcAft>
              <a:buNone/>
            </a:pPr>
            <a:r>
              <a:rPr lang="en-US" sz="1500">
                <a:solidFill>
                  <a:srgbClr val="183E35"/>
                </a:solidFill>
                <a:latin typeface="Nunito Sans"/>
                <a:ea typeface="Nunito Sans"/>
                <a:cs typeface="Nunito Sans"/>
                <a:sym typeface="Nunito Sans"/>
              </a:rPr>
              <a:t>Yelp reviews</a:t>
            </a:r>
            <a:endParaRPr sz="1500">
              <a:solidFill>
                <a:srgbClr val="183E35"/>
              </a:solidFill>
              <a:latin typeface="Nunito Sans"/>
              <a:ea typeface="Nunito Sans"/>
              <a:cs typeface="Nunito Sans"/>
              <a:sym typeface="Nunito Sans"/>
            </a:endParaRPr>
          </a:p>
          <a:p>
            <a:pPr indent="0" lvl="0" marL="0" rtl="0" algn="ctr">
              <a:spcBef>
                <a:spcPts val="100"/>
              </a:spcBef>
              <a:spcAft>
                <a:spcPts val="0"/>
              </a:spcAft>
              <a:buNone/>
            </a:pPr>
            <a:r>
              <a:rPr lang="en-US" sz="1500">
                <a:solidFill>
                  <a:srgbClr val="183E35"/>
                </a:solidFill>
                <a:latin typeface="Nunito Sans"/>
                <a:ea typeface="Nunito Sans"/>
                <a:cs typeface="Nunito Sans"/>
                <a:sym typeface="Nunito Sans"/>
              </a:rPr>
              <a:t>ACS + ZCTA</a:t>
            </a:r>
            <a:endParaRPr sz="1500">
              <a:solidFill>
                <a:srgbClr val="183E35"/>
              </a:solidFill>
              <a:latin typeface="Nunito Sans"/>
              <a:ea typeface="Nunito Sans"/>
              <a:cs typeface="Nunito Sans"/>
              <a:sym typeface="Nunito Sans"/>
            </a:endParaRPr>
          </a:p>
          <a:p>
            <a:pPr indent="0" lvl="0" marL="0" rtl="0" algn="ctr">
              <a:spcBef>
                <a:spcPts val="100"/>
              </a:spcBef>
              <a:spcAft>
                <a:spcPts val="100"/>
              </a:spcAft>
              <a:buNone/>
            </a:pPr>
            <a:r>
              <a:rPr lang="en-US" sz="1500">
                <a:solidFill>
                  <a:srgbClr val="183E35"/>
                </a:solidFill>
                <a:latin typeface="Nunito Sans"/>
                <a:ea typeface="Nunito Sans"/>
                <a:cs typeface="Nunito Sans"/>
                <a:sym typeface="Nunito Sans"/>
              </a:rPr>
              <a:t>Project records</a:t>
            </a:r>
            <a:endParaRPr sz="1500">
              <a:solidFill>
                <a:srgbClr val="183E35"/>
              </a:solidFill>
              <a:latin typeface="Nunito Sans"/>
              <a:ea typeface="Nunito Sans"/>
              <a:cs typeface="Nunito Sans"/>
              <a:sym typeface="Nunito Sans"/>
            </a:endParaRPr>
          </a:p>
        </p:txBody>
      </p:sp>
      <p:sp>
        <p:nvSpPr>
          <p:cNvPr id="143" name="Google Shape;143;p8"/>
          <p:cNvSpPr/>
          <p:nvPr/>
        </p:nvSpPr>
        <p:spPr>
          <a:xfrm>
            <a:off x="3111500" y="2794000"/>
            <a:ext cx="2095500" cy="1016100"/>
          </a:xfrm>
          <a:prstGeom prst="roundRect">
            <a:avLst>
              <a:gd fmla="val 16667" name="adj"/>
            </a:avLst>
          </a:prstGeom>
          <a:solidFill>
            <a:srgbClr val="E6EC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700">
                <a:solidFill>
                  <a:srgbClr val="183E35"/>
                </a:solidFill>
                <a:latin typeface="Nunito Sans"/>
                <a:ea typeface="Nunito Sans"/>
                <a:cs typeface="Nunito Sans"/>
                <a:sym typeface="Nunito Sans"/>
              </a:rPr>
              <a:t>Join + score</a:t>
            </a:r>
            <a:endParaRPr b="1" sz="1700">
              <a:solidFill>
                <a:srgbClr val="183E35"/>
              </a:solidFill>
              <a:latin typeface="Nunito Sans"/>
              <a:ea typeface="Nunito Sans"/>
              <a:cs typeface="Nunito Sans"/>
              <a:sym typeface="Nunito Sans"/>
            </a:endParaRPr>
          </a:p>
          <a:p>
            <a:pPr indent="0" lvl="0" marL="0" rtl="0" algn="ctr">
              <a:spcBef>
                <a:spcPts val="100"/>
              </a:spcBef>
              <a:spcAft>
                <a:spcPts val="0"/>
              </a:spcAft>
              <a:buNone/>
            </a:pPr>
            <a:r>
              <a:rPr lang="en-US" sz="1500">
                <a:solidFill>
                  <a:srgbClr val="183E35"/>
                </a:solidFill>
                <a:latin typeface="Nunito Sans"/>
                <a:ea typeface="Nunito Sans"/>
                <a:cs typeface="Nunito Sans"/>
                <a:sym typeface="Nunito Sans"/>
              </a:rPr>
              <a:t>Cohorts · VADER</a:t>
            </a:r>
            <a:endParaRPr sz="1500">
              <a:solidFill>
                <a:srgbClr val="183E35"/>
              </a:solidFill>
              <a:latin typeface="Nunito Sans"/>
              <a:ea typeface="Nunito Sans"/>
              <a:cs typeface="Nunito Sans"/>
              <a:sym typeface="Nunito Sans"/>
            </a:endParaRPr>
          </a:p>
          <a:p>
            <a:pPr indent="0" lvl="0" marL="0" rtl="0" algn="ctr">
              <a:spcBef>
                <a:spcPts val="100"/>
              </a:spcBef>
              <a:spcAft>
                <a:spcPts val="100"/>
              </a:spcAft>
              <a:buNone/>
            </a:pPr>
            <a:r>
              <a:rPr lang="en-US" sz="1500">
                <a:solidFill>
                  <a:srgbClr val="183E35"/>
                </a:solidFill>
                <a:latin typeface="Nunito Sans"/>
                <a:ea typeface="Nunito Sans"/>
                <a:cs typeface="Nunito Sans"/>
                <a:sym typeface="Nunito Sans"/>
              </a:rPr>
              <a:t>Clause / mention rules</a:t>
            </a:r>
            <a:endParaRPr sz="1500">
              <a:solidFill>
                <a:srgbClr val="183E35"/>
              </a:solidFill>
              <a:latin typeface="Nunito Sans"/>
              <a:ea typeface="Nunito Sans"/>
              <a:cs typeface="Nunito Sans"/>
              <a:sym typeface="Nunito Sans"/>
            </a:endParaRPr>
          </a:p>
        </p:txBody>
      </p:sp>
      <p:sp>
        <p:nvSpPr>
          <p:cNvPr id="144" name="Google Shape;144;p8"/>
          <p:cNvSpPr/>
          <p:nvPr/>
        </p:nvSpPr>
        <p:spPr>
          <a:xfrm>
            <a:off x="3111500" y="1524000"/>
            <a:ext cx="2095500" cy="1016100"/>
          </a:xfrm>
          <a:prstGeom prst="roundRect">
            <a:avLst>
              <a:gd fmla="val 16667" name="adj"/>
            </a:avLst>
          </a:prstGeom>
          <a:solidFill>
            <a:srgbClr val="E6EC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700">
                <a:solidFill>
                  <a:srgbClr val="183E35"/>
                </a:solidFill>
                <a:latin typeface="Nunito Sans"/>
                <a:ea typeface="Nunito Sans"/>
                <a:cs typeface="Nunito Sans"/>
                <a:sym typeface="Nunito Sans"/>
              </a:rPr>
              <a:t>Research checks</a:t>
            </a:r>
            <a:endParaRPr b="1" sz="1700">
              <a:solidFill>
                <a:srgbClr val="183E35"/>
              </a:solidFill>
              <a:latin typeface="Nunito Sans"/>
              <a:ea typeface="Nunito Sans"/>
              <a:cs typeface="Nunito Sans"/>
              <a:sym typeface="Nunito Sans"/>
            </a:endParaRPr>
          </a:p>
          <a:p>
            <a:pPr indent="0" lvl="0" marL="0" rtl="0" algn="ctr">
              <a:spcBef>
                <a:spcPts val="100"/>
              </a:spcBef>
              <a:spcAft>
                <a:spcPts val="0"/>
              </a:spcAft>
              <a:buNone/>
            </a:pPr>
            <a:r>
              <a:rPr lang="en-US" sz="1500">
                <a:solidFill>
                  <a:srgbClr val="183E35"/>
                </a:solidFill>
                <a:latin typeface="Nunito Sans"/>
                <a:ea typeface="Nunito Sans"/>
                <a:cs typeface="Nunito Sans"/>
                <a:sym typeface="Nunito Sans"/>
              </a:rPr>
              <a:t>TF-IDF / NMF</a:t>
            </a:r>
            <a:endParaRPr sz="1500">
              <a:solidFill>
                <a:srgbClr val="183E35"/>
              </a:solidFill>
              <a:latin typeface="Nunito Sans"/>
              <a:ea typeface="Nunito Sans"/>
              <a:cs typeface="Nunito Sans"/>
              <a:sym typeface="Nunito Sans"/>
            </a:endParaRPr>
          </a:p>
          <a:p>
            <a:pPr indent="0" lvl="0" marL="0" rtl="0" algn="ctr">
              <a:spcBef>
                <a:spcPts val="100"/>
              </a:spcBef>
              <a:spcAft>
                <a:spcPts val="100"/>
              </a:spcAft>
              <a:buNone/>
            </a:pPr>
            <a:r>
              <a:rPr lang="en-US" sz="1500">
                <a:solidFill>
                  <a:srgbClr val="183E35"/>
                </a:solidFill>
                <a:latin typeface="Nunito Sans"/>
                <a:ea typeface="Nunito Sans"/>
                <a:cs typeface="Nunito Sans"/>
                <a:sym typeface="Nunito Sans"/>
              </a:rPr>
              <a:t>BERTopic · BERT</a:t>
            </a:r>
            <a:endParaRPr sz="1500">
              <a:solidFill>
                <a:srgbClr val="183E35"/>
              </a:solidFill>
              <a:latin typeface="Nunito Sans"/>
              <a:ea typeface="Nunito Sans"/>
              <a:cs typeface="Nunito Sans"/>
              <a:sym typeface="Nunito Sans"/>
            </a:endParaRPr>
          </a:p>
        </p:txBody>
      </p:sp>
      <p:sp>
        <p:nvSpPr>
          <p:cNvPr id="145" name="Google Shape;145;p8"/>
          <p:cNvSpPr/>
          <p:nvPr/>
        </p:nvSpPr>
        <p:spPr>
          <a:xfrm>
            <a:off x="5905500" y="1524000"/>
            <a:ext cx="2159100" cy="1016100"/>
          </a:xfrm>
          <a:prstGeom prst="roundRect">
            <a:avLst>
              <a:gd fmla="val 16667" name="adj"/>
            </a:avLst>
          </a:prstGeom>
          <a:solidFill>
            <a:srgbClr val="E6EC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700">
                <a:solidFill>
                  <a:srgbClr val="183E35"/>
                </a:solidFill>
                <a:latin typeface="Nunito Sans"/>
                <a:ea typeface="Nunito Sans"/>
                <a:cs typeface="Nunito Sans"/>
                <a:sym typeface="Nunito Sans"/>
              </a:rPr>
              <a:t>Area measures</a:t>
            </a:r>
            <a:endParaRPr b="1" sz="1700">
              <a:solidFill>
                <a:srgbClr val="183E35"/>
              </a:solidFill>
              <a:latin typeface="Nunito Sans"/>
              <a:ea typeface="Nunito Sans"/>
              <a:cs typeface="Nunito Sans"/>
              <a:sym typeface="Nunito Sans"/>
            </a:endParaRPr>
          </a:p>
          <a:p>
            <a:pPr indent="0" lvl="0" marL="0" rtl="0" algn="ctr">
              <a:spcBef>
                <a:spcPts val="100"/>
              </a:spcBef>
              <a:spcAft>
                <a:spcPts val="0"/>
              </a:spcAft>
              <a:buNone/>
            </a:pPr>
            <a:r>
              <a:rPr lang="en-US" sz="1500">
                <a:solidFill>
                  <a:srgbClr val="183E35"/>
                </a:solidFill>
                <a:latin typeface="Nunito Sans"/>
                <a:ea typeface="Nunito Sans"/>
                <a:cs typeface="Nunito Sans"/>
                <a:sym typeface="Nunito Sans"/>
              </a:rPr>
              <a:t>ZIP aggregates</a:t>
            </a:r>
            <a:endParaRPr sz="1500">
              <a:solidFill>
                <a:srgbClr val="183E35"/>
              </a:solidFill>
              <a:latin typeface="Nunito Sans"/>
              <a:ea typeface="Nunito Sans"/>
              <a:cs typeface="Nunito Sans"/>
              <a:sym typeface="Nunito Sans"/>
            </a:endParaRPr>
          </a:p>
          <a:p>
            <a:pPr indent="0" lvl="0" marL="0" rtl="0" algn="ctr">
              <a:spcBef>
                <a:spcPts val="100"/>
              </a:spcBef>
              <a:spcAft>
                <a:spcPts val="100"/>
              </a:spcAft>
              <a:buNone/>
            </a:pPr>
            <a:r>
              <a:rPr lang="en-US" sz="1500">
                <a:solidFill>
                  <a:srgbClr val="183E35"/>
                </a:solidFill>
                <a:latin typeface="Nunito Sans"/>
                <a:ea typeface="Nunito Sans"/>
                <a:cs typeface="Nunito Sans"/>
                <a:sym typeface="Nunito Sans"/>
              </a:rPr>
              <a:t>ACS context</a:t>
            </a:r>
            <a:endParaRPr sz="1500">
              <a:solidFill>
                <a:srgbClr val="183E35"/>
              </a:solidFill>
              <a:latin typeface="Nunito Sans"/>
              <a:ea typeface="Nunito Sans"/>
              <a:cs typeface="Nunito Sans"/>
              <a:sym typeface="Nunito Sans"/>
            </a:endParaRPr>
          </a:p>
        </p:txBody>
      </p:sp>
      <p:sp>
        <p:nvSpPr>
          <p:cNvPr id="146" name="Google Shape;146;p8"/>
          <p:cNvSpPr/>
          <p:nvPr/>
        </p:nvSpPr>
        <p:spPr>
          <a:xfrm>
            <a:off x="5905500" y="4127500"/>
            <a:ext cx="2159100" cy="1016100"/>
          </a:xfrm>
          <a:prstGeom prst="roundRect">
            <a:avLst>
              <a:gd fmla="val 16667" name="adj"/>
            </a:avLst>
          </a:prstGeom>
          <a:solidFill>
            <a:srgbClr val="E6EC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700">
                <a:solidFill>
                  <a:srgbClr val="183E35"/>
                </a:solidFill>
                <a:latin typeface="Nunito Sans"/>
                <a:ea typeface="Nunito Sans"/>
                <a:cs typeface="Nunito Sans"/>
                <a:sym typeface="Nunito Sans"/>
              </a:rPr>
              <a:t>Project outcomes</a:t>
            </a:r>
            <a:endParaRPr b="1" sz="1700">
              <a:solidFill>
                <a:srgbClr val="183E35"/>
              </a:solidFill>
              <a:latin typeface="Nunito Sans"/>
              <a:ea typeface="Nunito Sans"/>
              <a:cs typeface="Nunito Sans"/>
              <a:sym typeface="Nunito Sans"/>
            </a:endParaRPr>
          </a:p>
          <a:p>
            <a:pPr indent="0" lvl="0" marL="0" rtl="0" algn="ctr">
              <a:spcBef>
                <a:spcPts val="100"/>
              </a:spcBef>
              <a:spcAft>
                <a:spcPts val="0"/>
              </a:spcAft>
              <a:buNone/>
            </a:pPr>
            <a:r>
              <a:rPr lang="en-US" sz="1500">
                <a:solidFill>
                  <a:srgbClr val="183E35"/>
                </a:solidFill>
                <a:latin typeface="Nunito Sans"/>
                <a:ea typeface="Nunito Sans"/>
                <a:cs typeface="Nunito Sans"/>
                <a:sym typeface="Nunito Sans"/>
              </a:rPr>
              <a:t>Near vs comparison</a:t>
            </a:r>
            <a:endParaRPr sz="1500">
              <a:solidFill>
                <a:srgbClr val="183E35"/>
              </a:solidFill>
              <a:latin typeface="Nunito Sans"/>
              <a:ea typeface="Nunito Sans"/>
              <a:cs typeface="Nunito Sans"/>
              <a:sym typeface="Nunito Sans"/>
            </a:endParaRPr>
          </a:p>
          <a:p>
            <a:pPr indent="0" lvl="0" marL="0" rtl="0" algn="ctr">
              <a:spcBef>
                <a:spcPts val="100"/>
              </a:spcBef>
              <a:spcAft>
                <a:spcPts val="100"/>
              </a:spcAft>
              <a:buNone/>
            </a:pPr>
            <a:r>
              <a:rPr lang="en-US" sz="1500">
                <a:solidFill>
                  <a:srgbClr val="183E35"/>
                </a:solidFill>
                <a:latin typeface="Nunito Sans"/>
                <a:ea typeface="Nunito Sans"/>
                <a:cs typeface="Nunito Sans"/>
                <a:sym typeface="Nunito Sans"/>
              </a:rPr>
              <a:t>Pre / post windows</a:t>
            </a:r>
            <a:endParaRPr sz="1500">
              <a:solidFill>
                <a:srgbClr val="183E35"/>
              </a:solidFill>
              <a:latin typeface="Nunito Sans"/>
              <a:ea typeface="Nunito Sans"/>
              <a:cs typeface="Nunito Sans"/>
              <a:sym typeface="Nunito Sans"/>
            </a:endParaRPr>
          </a:p>
        </p:txBody>
      </p:sp>
      <p:sp>
        <p:nvSpPr>
          <p:cNvPr id="147" name="Google Shape;147;p8"/>
          <p:cNvSpPr/>
          <p:nvPr/>
        </p:nvSpPr>
        <p:spPr>
          <a:xfrm>
            <a:off x="8636000" y="4127500"/>
            <a:ext cx="2984400" cy="1016100"/>
          </a:xfrm>
          <a:prstGeom prst="roundRect">
            <a:avLst>
              <a:gd fmla="val 16667" name="adj"/>
            </a:avLst>
          </a:prstGeom>
          <a:solidFill>
            <a:srgbClr val="E6EC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700">
                <a:solidFill>
                  <a:srgbClr val="183E35"/>
                </a:solidFill>
                <a:latin typeface="Nunito Sans"/>
                <a:ea typeface="Nunito Sans"/>
                <a:cs typeface="Nunito Sans"/>
                <a:sym typeface="Nunito Sans"/>
              </a:rPr>
              <a:t>Model evaluation</a:t>
            </a:r>
            <a:endParaRPr b="1" sz="1700">
              <a:solidFill>
                <a:srgbClr val="183E35"/>
              </a:solidFill>
              <a:latin typeface="Nunito Sans"/>
              <a:ea typeface="Nunito Sans"/>
              <a:cs typeface="Nunito Sans"/>
              <a:sym typeface="Nunito Sans"/>
            </a:endParaRPr>
          </a:p>
          <a:p>
            <a:pPr indent="0" lvl="0" marL="0" rtl="0" algn="ctr">
              <a:spcBef>
                <a:spcPts val="100"/>
              </a:spcBef>
              <a:spcAft>
                <a:spcPts val="0"/>
              </a:spcAft>
              <a:buNone/>
            </a:pPr>
            <a:r>
              <a:rPr lang="en-US" sz="1500">
                <a:solidFill>
                  <a:srgbClr val="183E35"/>
                </a:solidFill>
                <a:latin typeface="Nunito Sans"/>
                <a:ea typeface="Nunito Sans"/>
                <a:cs typeface="Nunito Sans"/>
                <a:sym typeface="Nunito Sans"/>
              </a:rPr>
              <a:t>Project / city holdouts</a:t>
            </a:r>
            <a:endParaRPr sz="1500">
              <a:solidFill>
                <a:srgbClr val="183E35"/>
              </a:solidFill>
              <a:latin typeface="Nunito Sans"/>
              <a:ea typeface="Nunito Sans"/>
              <a:cs typeface="Nunito Sans"/>
              <a:sym typeface="Nunito Sans"/>
            </a:endParaRPr>
          </a:p>
          <a:p>
            <a:pPr indent="0" lvl="0" marL="0" rtl="0" algn="ctr">
              <a:spcBef>
                <a:spcPts val="100"/>
              </a:spcBef>
              <a:spcAft>
                <a:spcPts val="100"/>
              </a:spcAft>
              <a:buNone/>
            </a:pPr>
            <a:r>
              <a:rPr lang="en-US" sz="1500">
                <a:solidFill>
                  <a:srgbClr val="183E35"/>
                </a:solidFill>
                <a:latin typeface="Nunito Sans"/>
                <a:ea typeface="Nunito Sans"/>
                <a:cs typeface="Nunito Sans"/>
                <a:sym typeface="Nunito Sans"/>
              </a:rPr>
              <a:t>Timing sensitivity</a:t>
            </a:r>
            <a:endParaRPr sz="1500">
              <a:solidFill>
                <a:srgbClr val="183E35"/>
              </a:solidFill>
              <a:latin typeface="Nunito Sans"/>
              <a:ea typeface="Nunito Sans"/>
              <a:cs typeface="Nunito Sans"/>
              <a:sym typeface="Nunito Sans"/>
            </a:endParaRPr>
          </a:p>
        </p:txBody>
      </p:sp>
      <p:sp>
        <p:nvSpPr>
          <p:cNvPr id="148" name="Google Shape;148;p8"/>
          <p:cNvSpPr/>
          <p:nvPr/>
        </p:nvSpPr>
        <p:spPr>
          <a:xfrm>
            <a:off x="8636000" y="2794000"/>
            <a:ext cx="2984400" cy="1016100"/>
          </a:xfrm>
          <a:prstGeom prst="roundRect">
            <a:avLst>
              <a:gd fmla="val 16667" name="adj"/>
            </a:avLst>
          </a:prstGeom>
          <a:solidFill>
            <a:srgbClr val="E6EC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700">
                <a:solidFill>
                  <a:srgbClr val="183E35"/>
                </a:solidFill>
                <a:latin typeface="Nunito Sans"/>
                <a:ea typeface="Nunito Sans"/>
                <a:cs typeface="Nunito Sans"/>
                <a:sym typeface="Nunito Sans"/>
              </a:rPr>
              <a:t>Validate + export</a:t>
            </a:r>
            <a:endParaRPr b="1" sz="1700">
              <a:solidFill>
                <a:srgbClr val="183E35"/>
              </a:solidFill>
              <a:latin typeface="Nunito Sans"/>
              <a:ea typeface="Nunito Sans"/>
              <a:cs typeface="Nunito Sans"/>
              <a:sym typeface="Nunito Sans"/>
            </a:endParaRPr>
          </a:p>
          <a:p>
            <a:pPr indent="0" lvl="0" marL="0" rtl="0" algn="ctr">
              <a:spcBef>
                <a:spcPts val="100"/>
              </a:spcBef>
              <a:spcAft>
                <a:spcPts val="0"/>
              </a:spcAft>
              <a:buNone/>
            </a:pPr>
            <a:r>
              <a:rPr lang="en-US" sz="1500">
                <a:solidFill>
                  <a:srgbClr val="183E35"/>
                </a:solidFill>
                <a:latin typeface="Nunito Sans"/>
                <a:ea typeface="Nunito Sans"/>
                <a:cs typeface="Nunito Sans"/>
                <a:sym typeface="Nunito Sans"/>
              </a:rPr>
              <a:t>Six static data files</a:t>
            </a:r>
            <a:endParaRPr sz="1500">
              <a:solidFill>
                <a:srgbClr val="183E35"/>
              </a:solidFill>
              <a:latin typeface="Nunito Sans"/>
              <a:ea typeface="Nunito Sans"/>
              <a:cs typeface="Nunito Sans"/>
              <a:sym typeface="Nunito Sans"/>
            </a:endParaRPr>
          </a:p>
          <a:p>
            <a:pPr indent="0" lvl="0" marL="0" rtl="0" algn="ctr">
              <a:spcBef>
                <a:spcPts val="100"/>
              </a:spcBef>
              <a:spcAft>
                <a:spcPts val="100"/>
              </a:spcAft>
              <a:buNone/>
            </a:pPr>
            <a:r>
              <a:rPr lang="en-US" sz="1500">
                <a:solidFill>
                  <a:srgbClr val="183E35"/>
                </a:solidFill>
                <a:latin typeface="Nunito Sans"/>
                <a:ea typeface="Nunito Sans"/>
                <a:cs typeface="Nunito Sans"/>
                <a:sym typeface="Nunito Sans"/>
              </a:rPr>
              <a:t>Build hashes</a:t>
            </a:r>
            <a:endParaRPr sz="1500">
              <a:solidFill>
                <a:srgbClr val="183E35"/>
              </a:solidFill>
              <a:latin typeface="Nunito Sans"/>
              <a:ea typeface="Nunito Sans"/>
              <a:cs typeface="Nunito Sans"/>
              <a:sym typeface="Nunito Sans"/>
            </a:endParaRPr>
          </a:p>
        </p:txBody>
      </p:sp>
      <p:sp>
        <p:nvSpPr>
          <p:cNvPr id="149" name="Google Shape;149;p8"/>
          <p:cNvSpPr/>
          <p:nvPr/>
        </p:nvSpPr>
        <p:spPr>
          <a:xfrm>
            <a:off x="8636000" y="1524000"/>
            <a:ext cx="2984400" cy="1016100"/>
          </a:xfrm>
          <a:prstGeom prst="roundRect">
            <a:avLst>
              <a:gd fmla="val 16667" name="adj"/>
            </a:avLst>
          </a:prstGeom>
          <a:solidFill>
            <a:srgbClr val="183E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700">
                <a:solidFill>
                  <a:srgbClr val="FFFDF6"/>
                </a:solidFill>
                <a:latin typeface="Nunito Sans"/>
                <a:ea typeface="Nunito Sans"/>
                <a:cs typeface="Nunito Sans"/>
                <a:sym typeface="Nunito Sans"/>
              </a:rPr>
              <a:t>Place Lab</a:t>
            </a:r>
            <a:endParaRPr b="1" sz="1700">
              <a:solidFill>
                <a:srgbClr val="FFFDF6"/>
              </a:solidFill>
              <a:latin typeface="Nunito Sans"/>
              <a:ea typeface="Nunito Sans"/>
              <a:cs typeface="Nunito Sans"/>
              <a:sym typeface="Nunito Sans"/>
            </a:endParaRPr>
          </a:p>
          <a:p>
            <a:pPr indent="0" lvl="0" marL="0" rtl="0" algn="ctr">
              <a:spcBef>
                <a:spcPts val="100"/>
              </a:spcBef>
              <a:spcAft>
                <a:spcPts val="100"/>
              </a:spcAft>
              <a:buNone/>
            </a:pPr>
            <a:r>
              <a:rPr lang="en-US" sz="1500">
                <a:solidFill>
                  <a:srgbClr val="FFFDF6"/>
                </a:solidFill>
                <a:latin typeface="Nunito Sans"/>
                <a:ea typeface="Nunito Sans"/>
                <a:cs typeface="Nunito Sans"/>
                <a:sym typeface="Nunito Sans"/>
              </a:rPr>
              <a:t>Map · evidence · history</a:t>
            </a:r>
            <a:endParaRPr sz="1500">
              <a:solidFill>
                <a:srgbClr val="FFFDF6"/>
              </a:solidFill>
              <a:latin typeface="Nunito Sans"/>
              <a:ea typeface="Nunito Sans"/>
              <a:cs typeface="Nunito Sans"/>
              <a:sym typeface="Nuni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6"/>
        </a:solidFill>
      </p:bgPr>
    </p:bg>
    <p:spTree>
      <p:nvGrpSpPr>
        <p:cNvPr id="154" name="Shape 154"/>
        <p:cNvGrpSpPr/>
        <p:nvPr/>
      </p:nvGrpSpPr>
      <p:grpSpPr>
        <a:xfrm>
          <a:off x="0" y="0"/>
          <a:ext cx="0" cy="0"/>
          <a:chOff x="0" y="0"/>
          <a:chExt cx="0" cy="0"/>
        </a:xfrm>
      </p:grpSpPr>
      <p:sp>
        <p:nvSpPr>
          <p:cNvPr id="155" name="Google Shape;155;p9"/>
          <p:cNvSpPr txBox="1"/>
          <p:nvPr/>
        </p:nvSpPr>
        <p:spPr>
          <a:xfrm>
            <a:off x="11094415" y="6355080"/>
            <a:ext cx="548700" cy="384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100">
                <a:solidFill>
                  <a:srgbClr val="5A6D60"/>
                </a:solidFill>
                <a:latin typeface="Nunito Sans"/>
                <a:ea typeface="Nunito Sans"/>
                <a:cs typeface="Nunito Sans"/>
                <a:sym typeface="Nunito Sans"/>
              </a:rPr>
              <a:t>7</a:t>
            </a:r>
            <a:endParaRPr sz="1100">
              <a:solidFill>
                <a:srgbClr val="5A6D60"/>
              </a:solidFill>
              <a:latin typeface="Nunito Sans"/>
              <a:ea typeface="Nunito Sans"/>
              <a:cs typeface="Nunito Sans"/>
              <a:sym typeface="Nunito Sans"/>
            </a:endParaRPr>
          </a:p>
        </p:txBody>
      </p:sp>
      <p:sp>
        <p:nvSpPr>
          <p:cNvPr id="156" name="Google Shape;156;p9"/>
          <p:cNvSpPr txBox="1"/>
          <p:nvPr/>
        </p:nvSpPr>
        <p:spPr>
          <a:xfrm>
            <a:off x="548640" y="411480"/>
            <a:ext cx="110943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83E35"/>
                </a:solidFill>
                <a:latin typeface="Georgia"/>
                <a:ea typeface="Georgia"/>
                <a:cs typeface="Georgia"/>
                <a:sym typeface="Georgia"/>
              </a:rPr>
              <a:t>Split the review before deciding what it describes</a:t>
            </a:r>
            <a:endParaRPr b="1" sz="3200">
              <a:solidFill>
                <a:srgbClr val="183E35"/>
              </a:solidFill>
              <a:latin typeface="Georgia"/>
              <a:ea typeface="Georgia"/>
              <a:cs typeface="Georgia"/>
              <a:sym typeface="Georgia"/>
            </a:endParaRPr>
          </a:p>
        </p:txBody>
      </p:sp>
      <p:sp>
        <p:nvSpPr>
          <p:cNvPr id="157" name="Google Shape;157;p9"/>
          <p:cNvSpPr txBox="1"/>
          <p:nvPr/>
        </p:nvSpPr>
        <p:spPr>
          <a:xfrm>
            <a:off x="548640" y="1701800"/>
            <a:ext cx="7810500" cy="10413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1200"/>
              </a:spcAft>
              <a:buNone/>
            </a:pPr>
            <a:r>
              <a:rPr lang="en-US" sz="2500">
                <a:solidFill>
                  <a:srgbClr val="183E35"/>
                </a:solidFill>
                <a:latin typeface="Nunito Sans"/>
                <a:ea typeface="Nunito Sans"/>
                <a:cs typeface="Nunito Sans"/>
                <a:sym typeface="Nunito Sans"/>
              </a:rPr>
              <a:t>“The staff were rude, but the park across the street is lovely.”</a:t>
            </a:r>
            <a:endParaRPr sz="2500">
              <a:solidFill>
                <a:srgbClr val="183E35"/>
              </a:solidFill>
              <a:latin typeface="Nunito Sans"/>
              <a:ea typeface="Nunito Sans"/>
              <a:cs typeface="Nunito Sans"/>
              <a:sym typeface="Nunito Sans"/>
            </a:endParaRPr>
          </a:p>
        </p:txBody>
      </p:sp>
      <p:sp>
        <p:nvSpPr>
          <p:cNvPr id="158" name="Google Shape;158;p9"/>
          <p:cNvSpPr/>
          <p:nvPr/>
        </p:nvSpPr>
        <p:spPr>
          <a:xfrm>
            <a:off x="548640" y="5575300"/>
            <a:ext cx="7810500" cy="584100"/>
          </a:xfrm>
          <a:prstGeom prst="roundRect">
            <a:avLst>
              <a:gd fmla="val 16667" name="adj"/>
            </a:avLst>
          </a:prstGeom>
          <a:solidFill>
            <a:srgbClr val="E6EC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9"/>
          <p:cNvSpPr txBox="1"/>
          <p:nvPr/>
        </p:nvSpPr>
        <p:spPr>
          <a:xfrm>
            <a:off x="698500" y="5676900"/>
            <a:ext cx="74931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solidFill>
                  <a:srgbClr val="183E35"/>
                </a:solidFill>
                <a:latin typeface="Georgia"/>
                <a:ea typeface="Georgia"/>
                <a:cs typeface="Georgia"/>
                <a:sym typeface="Georgia"/>
              </a:rPr>
              <a:t>Extract topic, target and polarity for each clause.</a:t>
            </a:r>
            <a:endParaRPr b="1" sz="1700">
              <a:solidFill>
                <a:srgbClr val="183E35"/>
              </a:solidFill>
              <a:latin typeface="Georgia"/>
              <a:ea typeface="Georgia"/>
              <a:cs typeface="Georgia"/>
              <a:sym typeface="Georgia"/>
            </a:endParaRPr>
          </a:p>
        </p:txBody>
      </p:sp>
      <p:sp>
        <p:nvSpPr>
          <p:cNvPr id="160" name="Google Shape;160;p9"/>
          <p:cNvSpPr txBox="1"/>
          <p:nvPr/>
        </p:nvSpPr>
        <p:spPr>
          <a:xfrm>
            <a:off x="548640" y="101600"/>
            <a:ext cx="110490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5A6D60"/>
                </a:solidFill>
                <a:latin typeface="Nunito Sans"/>
                <a:ea typeface="Nunito Sans"/>
                <a:cs typeface="Nunito Sans"/>
                <a:sym typeface="Nunito Sans"/>
              </a:rPr>
              <a:t>PIPELINE / 02 · EXTRACT PLACE MEANING</a:t>
            </a:r>
            <a:endParaRPr b="1" sz="1100">
              <a:solidFill>
                <a:srgbClr val="5A6D60"/>
              </a:solidFill>
              <a:latin typeface="Nunito Sans"/>
              <a:ea typeface="Nunito Sans"/>
              <a:cs typeface="Nunito Sans"/>
              <a:sym typeface="Nunito Sans"/>
            </a:endParaRPr>
          </a:p>
        </p:txBody>
      </p:sp>
      <p:sp>
        <p:nvSpPr>
          <p:cNvPr id="161" name="Google Shape;161;p9"/>
          <p:cNvSpPr txBox="1"/>
          <p:nvPr/>
        </p:nvSpPr>
        <p:spPr>
          <a:xfrm>
            <a:off x="548640" y="1371600"/>
            <a:ext cx="78105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5A6D60"/>
                </a:solidFill>
                <a:latin typeface="Nunito Sans"/>
                <a:ea typeface="Nunito Sans"/>
                <a:cs typeface="Nunito Sans"/>
                <a:sym typeface="Nunito Sans"/>
              </a:rPr>
              <a:t>ILLUSTRATIVE REVIEW · SPLIT AT “BUT”</a:t>
            </a:r>
            <a:endParaRPr b="1" sz="1100">
              <a:solidFill>
                <a:srgbClr val="5A6D60"/>
              </a:solidFill>
              <a:latin typeface="Nunito Sans"/>
              <a:ea typeface="Nunito Sans"/>
              <a:cs typeface="Nunito Sans"/>
              <a:sym typeface="Nunito Sans"/>
            </a:endParaRPr>
          </a:p>
        </p:txBody>
      </p:sp>
      <p:sp>
        <p:nvSpPr>
          <p:cNvPr id="162" name="Google Shape;162;p9"/>
          <p:cNvSpPr txBox="1"/>
          <p:nvPr/>
        </p:nvSpPr>
        <p:spPr>
          <a:xfrm>
            <a:off x="548640" y="3035300"/>
            <a:ext cx="3708300" cy="92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A35E26"/>
                </a:solidFill>
                <a:latin typeface="Georgia"/>
                <a:ea typeface="Georgia"/>
                <a:cs typeface="Georgia"/>
                <a:sym typeface="Georgia"/>
              </a:rPr>
              <a:t>“The staff were rude.”</a:t>
            </a:r>
            <a:endParaRPr b="1" sz="2100">
              <a:solidFill>
                <a:srgbClr val="A35E26"/>
              </a:solidFill>
              <a:latin typeface="Georgia"/>
              <a:ea typeface="Georgia"/>
              <a:cs typeface="Georgia"/>
              <a:sym typeface="Georgia"/>
            </a:endParaRPr>
          </a:p>
        </p:txBody>
      </p:sp>
      <p:sp>
        <p:nvSpPr>
          <p:cNvPr id="163" name="Google Shape;163;p9"/>
          <p:cNvSpPr txBox="1"/>
          <p:nvPr/>
        </p:nvSpPr>
        <p:spPr>
          <a:xfrm>
            <a:off x="548640" y="4152900"/>
            <a:ext cx="3708300" cy="11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83E35"/>
                </a:solidFill>
                <a:latin typeface="Nunito Sans"/>
                <a:ea typeface="Nunito Sans"/>
                <a:cs typeface="Nunito Sans"/>
                <a:sym typeface="Nunito Sans"/>
              </a:rPr>
              <a:t>Topic: food / service / value</a:t>
            </a:r>
            <a:endParaRPr sz="18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800">
                <a:solidFill>
                  <a:srgbClr val="183E35"/>
                </a:solidFill>
                <a:latin typeface="Nunito Sans"/>
                <a:ea typeface="Nunito Sans"/>
                <a:cs typeface="Nunito Sans"/>
                <a:sym typeface="Nunito Sans"/>
              </a:rPr>
              <a:t>Target: business</a:t>
            </a:r>
            <a:endParaRPr sz="18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800">
                <a:solidFill>
                  <a:srgbClr val="183E35"/>
                </a:solidFill>
                <a:latin typeface="Nunito Sans"/>
                <a:ea typeface="Nunito Sans"/>
                <a:cs typeface="Nunito Sans"/>
                <a:sym typeface="Nunito Sans"/>
              </a:rPr>
              <a:t>Polarity: negative</a:t>
            </a:r>
            <a:endParaRPr sz="1800">
              <a:solidFill>
                <a:srgbClr val="183E35"/>
              </a:solidFill>
              <a:latin typeface="Nunito Sans"/>
              <a:ea typeface="Nunito Sans"/>
              <a:cs typeface="Nunito Sans"/>
              <a:sym typeface="Nunito Sans"/>
            </a:endParaRPr>
          </a:p>
        </p:txBody>
      </p:sp>
      <p:sp>
        <p:nvSpPr>
          <p:cNvPr id="164" name="Google Shape;164;p9"/>
          <p:cNvSpPr txBox="1"/>
          <p:nvPr/>
        </p:nvSpPr>
        <p:spPr>
          <a:xfrm>
            <a:off x="4648200" y="3035300"/>
            <a:ext cx="3708300" cy="92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245C49"/>
                </a:solidFill>
                <a:latin typeface="Georgia"/>
                <a:ea typeface="Georgia"/>
                <a:cs typeface="Georgia"/>
                <a:sym typeface="Georgia"/>
              </a:rPr>
              <a:t>“The park across the street is lovely.”</a:t>
            </a:r>
            <a:endParaRPr b="1" sz="2100">
              <a:solidFill>
                <a:srgbClr val="245C49"/>
              </a:solidFill>
              <a:latin typeface="Georgia"/>
              <a:ea typeface="Georgia"/>
              <a:cs typeface="Georgia"/>
              <a:sym typeface="Georgia"/>
            </a:endParaRPr>
          </a:p>
        </p:txBody>
      </p:sp>
      <p:sp>
        <p:nvSpPr>
          <p:cNvPr id="165" name="Google Shape;165;p9"/>
          <p:cNvSpPr txBox="1"/>
          <p:nvPr/>
        </p:nvSpPr>
        <p:spPr>
          <a:xfrm>
            <a:off x="4648200" y="4152900"/>
            <a:ext cx="3708300" cy="11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83E35"/>
                </a:solidFill>
                <a:latin typeface="Nunito Sans"/>
                <a:ea typeface="Nunito Sans"/>
                <a:cs typeface="Nunito Sans"/>
                <a:sym typeface="Nunito Sans"/>
              </a:rPr>
              <a:t>Topic: public space</a:t>
            </a:r>
            <a:endParaRPr sz="18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800">
                <a:solidFill>
                  <a:srgbClr val="183E35"/>
                </a:solidFill>
                <a:latin typeface="Nunito Sans"/>
                <a:ea typeface="Nunito Sans"/>
                <a:cs typeface="Nunito Sans"/>
                <a:sym typeface="Nunito Sans"/>
              </a:rPr>
              <a:t>Target: area</a:t>
            </a:r>
            <a:endParaRPr sz="18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800">
                <a:solidFill>
                  <a:srgbClr val="183E35"/>
                </a:solidFill>
                <a:latin typeface="Nunito Sans"/>
                <a:ea typeface="Nunito Sans"/>
                <a:cs typeface="Nunito Sans"/>
                <a:sym typeface="Nunito Sans"/>
              </a:rPr>
              <a:t>Polarity: positive</a:t>
            </a:r>
            <a:endParaRPr sz="1800">
              <a:solidFill>
                <a:srgbClr val="183E35"/>
              </a:solidFill>
              <a:latin typeface="Nunito Sans"/>
              <a:ea typeface="Nunito Sans"/>
              <a:cs typeface="Nunito Sans"/>
              <a:sym typeface="Nunito Sans"/>
            </a:endParaRPr>
          </a:p>
        </p:txBody>
      </p:sp>
      <p:sp>
        <p:nvSpPr>
          <p:cNvPr id="166" name="Google Shape;166;p9"/>
          <p:cNvSpPr/>
          <p:nvPr/>
        </p:nvSpPr>
        <p:spPr>
          <a:xfrm>
            <a:off x="8763000" y="1701800"/>
            <a:ext cx="2883000" cy="4140300"/>
          </a:xfrm>
          <a:prstGeom prst="roundRect">
            <a:avLst>
              <a:gd fmla="val 16667" name="adj"/>
            </a:avLst>
          </a:prstGeom>
          <a:solidFill>
            <a:srgbClr val="EBF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9"/>
          <p:cNvSpPr txBox="1"/>
          <p:nvPr/>
        </p:nvSpPr>
        <p:spPr>
          <a:xfrm>
            <a:off x="8940800" y="1866900"/>
            <a:ext cx="2502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rgbClr val="5A6D60"/>
                </a:solidFill>
                <a:latin typeface="Nunito Sans"/>
                <a:ea typeface="Nunito Sans"/>
                <a:cs typeface="Nunito Sans"/>
                <a:sym typeface="Nunito Sans"/>
              </a:rPr>
              <a:t>TECHNICAL CHOICES</a:t>
            </a:r>
            <a:endParaRPr b="1" sz="1200">
              <a:solidFill>
                <a:srgbClr val="5A6D60"/>
              </a:solidFill>
              <a:latin typeface="Nunito Sans"/>
              <a:ea typeface="Nunito Sans"/>
              <a:cs typeface="Nunito Sans"/>
              <a:sym typeface="Nunito Sans"/>
            </a:endParaRPr>
          </a:p>
        </p:txBody>
      </p:sp>
      <p:sp>
        <p:nvSpPr>
          <p:cNvPr id="168" name="Google Shape;168;p9"/>
          <p:cNvSpPr txBox="1"/>
          <p:nvPr/>
        </p:nvSpPr>
        <p:spPr>
          <a:xfrm>
            <a:off x="8940800" y="2247900"/>
            <a:ext cx="3000000" cy="30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Clause splitting</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Separate parts of a review.</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Keyword rules</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Match topic vocabularies.</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Target assignment</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Area, business or unclear.</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VADER</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Lexicon + rules for tone;</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complaint phrases refine it.</a:t>
            </a:r>
            <a:endParaRPr sz="1500">
              <a:solidFill>
                <a:srgbClr val="183E35"/>
              </a:solidFill>
              <a:latin typeface="Nunito Sans"/>
              <a:ea typeface="Nunito Sans"/>
              <a:cs typeface="Nunito Sans"/>
              <a:sym typeface="Nunit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6"/>
        </a:solidFill>
      </p:bgPr>
    </p:bg>
    <p:spTree>
      <p:nvGrpSpPr>
        <p:cNvPr id="173" name="Shape 173"/>
        <p:cNvGrpSpPr/>
        <p:nvPr/>
      </p:nvGrpSpPr>
      <p:grpSpPr>
        <a:xfrm>
          <a:off x="0" y="0"/>
          <a:ext cx="0" cy="0"/>
          <a:chOff x="0" y="0"/>
          <a:chExt cx="0" cy="0"/>
        </a:xfrm>
      </p:grpSpPr>
      <p:sp>
        <p:nvSpPr>
          <p:cNvPr id="174" name="Google Shape;174;p10"/>
          <p:cNvSpPr txBox="1"/>
          <p:nvPr/>
        </p:nvSpPr>
        <p:spPr>
          <a:xfrm>
            <a:off x="11094415" y="6355080"/>
            <a:ext cx="548700" cy="384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100">
                <a:solidFill>
                  <a:srgbClr val="5A6D60"/>
                </a:solidFill>
                <a:latin typeface="Nunito Sans"/>
                <a:ea typeface="Nunito Sans"/>
                <a:cs typeface="Nunito Sans"/>
                <a:sym typeface="Nunito Sans"/>
              </a:rPr>
              <a:t>8</a:t>
            </a:r>
            <a:endParaRPr sz="1100">
              <a:solidFill>
                <a:srgbClr val="5A6D60"/>
              </a:solidFill>
              <a:latin typeface="Nunito Sans"/>
              <a:ea typeface="Nunito Sans"/>
              <a:cs typeface="Nunito Sans"/>
              <a:sym typeface="Nunito Sans"/>
            </a:endParaRPr>
          </a:p>
        </p:txBody>
      </p:sp>
      <p:sp>
        <p:nvSpPr>
          <p:cNvPr id="175" name="Google Shape;175;p10"/>
          <p:cNvSpPr txBox="1"/>
          <p:nvPr/>
        </p:nvSpPr>
        <p:spPr>
          <a:xfrm>
            <a:off x="548640" y="411480"/>
            <a:ext cx="110943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83E35"/>
                </a:solidFill>
                <a:latin typeface="Georgia"/>
                <a:ea typeface="Georgia"/>
                <a:cs typeface="Georgia"/>
                <a:sym typeface="Georgia"/>
              </a:rPr>
              <a:t>BERTopic groups recurring language in place excerpts</a:t>
            </a:r>
            <a:endParaRPr b="1" sz="3200">
              <a:solidFill>
                <a:srgbClr val="183E35"/>
              </a:solidFill>
              <a:latin typeface="Georgia"/>
              <a:ea typeface="Georgia"/>
              <a:cs typeface="Georgia"/>
              <a:sym typeface="Georgia"/>
            </a:endParaRPr>
          </a:p>
        </p:txBody>
      </p:sp>
      <p:sp>
        <p:nvSpPr>
          <p:cNvPr id="176" name="Google Shape;176;p10"/>
          <p:cNvSpPr txBox="1"/>
          <p:nvPr/>
        </p:nvSpPr>
        <p:spPr>
          <a:xfrm>
            <a:off x="548640" y="1790700"/>
            <a:ext cx="29844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solidFill>
                  <a:srgbClr val="5A6D60"/>
                </a:solidFill>
                <a:latin typeface="Nunito Sans"/>
                <a:ea typeface="Nunito Sans"/>
                <a:cs typeface="Nunito Sans"/>
                <a:sym typeface="Nunito Sans"/>
              </a:rPr>
              <a:t>How clusters are formed</a:t>
            </a:r>
            <a:endParaRPr b="1" sz="1700">
              <a:solidFill>
                <a:srgbClr val="5A6D60"/>
              </a:solidFill>
              <a:latin typeface="Nunito Sans"/>
              <a:ea typeface="Nunito Sans"/>
              <a:cs typeface="Nunito Sans"/>
              <a:sym typeface="Nunito Sans"/>
            </a:endParaRPr>
          </a:p>
        </p:txBody>
      </p:sp>
      <p:sp>
        <p:nvSpPr>
          <p:cNvPr id="177" name="Google Shape;177;p10"/>
          <p:cNvSpPr txBox="1"/>
          <p:nvPr/>
        </p:nvSpPr>
        <p:spPr>
          <a:xfrm>
            <a:off x="548640" y="2387600"/>
            <a:ext cx="2984400" cy="18795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lang="en-US" sz="1700">
                <a:solidFill>
                  <a:srgbClr val="183E35"/>
                </a:solidFill>
                <a:latin typeface="Nunito Sans"/>
                <a:ea typeface="Nunito Sans"/>
                <a:cs typeface="Nunito Sans"/>
                <a:sym typeface="Nunito Sans"/>
              </a:rPr>
              <a:t>MiniLM embeddings</a:t>
            </a:r>
            <a:endParaRPr sz="1700">
              <a:solidFill>
                <a:srgbClr val="183E35"/>
              </a:solidFill>
              <a:latin typeface="Nunito Sans"/>
              <a:ea typeface="Nunito Sans"/>
              <a:cs typeface="Nunito Sans"/>
              <a:sym typeface="Nunito Sans"/>
            </a:endParaRPr>
          </a:p>
          <a:p>
            <a:pPr indent="0" lvl="0" marL="0" marR="0" rtl="0" algn="l">
              <a:spcBef>
                <a:spcPts val="1200"/>
              </a:spcBef>
              <a:spcAft>
                <a:spcPts val="0"/>
              </a:spcAft>
              <a:buNone/>
            </a:pPr>
            <a:r>
              <a:rPr lang="en-US" sz="1700">
                <a:solidFill>
                  <a:srgbClr val="183E35"/>
                </a:solidFill>
                <a:latin typeface="Nunito Sans"/>
                <a:ea typeface="Nunito Sans"/>
                <a:cs typeface="Nunito Sans"/>
                <a:sym typeface="Nunito Sans"/>
              </a:rPr>
              <a:t>UMAP reduces dimensions</a:t>
            </a:r>
            <a:endParaRPr sz="1700">
              <a:solidFill>
                <a:srgbClr val="183E35"/>
              </a:solidFill>
              <a:latin typeface="Nunito Sans"/>
              <a:ea typeface="Nunito Sans"/>
              <a:cs typeface="Nunito Sans"/>
              <a:sym typeface="Nunito Sans"/>
            </a:endParaRPr>
          </a:p>
          <a:p>
            <a:pPr indent="0" lvl="0" marL="0" marR="0" rtl="0" algn="l">
              <a:spcBef>
                <a:spcPts val="1200"/>
              </a:spcBef>
              <a:spcAft>
                <a:spcPts val="0"/>
              </a:spcAft>
              <a:buNone/>
            </a:pPr>
            <a:r>
              <a:rPr lang="en-US" sz="1700">
                <a:solidFill>
                  <a:srgbClr val="183E35"/>
                </a:solidFill>
                <a:latin typeface="Nunito Sans"/>
                <a:ea typeface="Nunito Sans"/>
                <a:cs typeface="Nunito Sans"/>
                <a:sym typeface="Nunito Sans"/>
              </a:rPr>
              <a:t>HDBSCAN forms groups</a:t>
            </a:r>
            <a:endParaRPr sz="1700">
              <a:solidFill>
                <a:srgbClr val="183E35"/>
              </a:solidFill>
              <a:latin typeface="Nunito Sans"/>
              <a:ea typeface="Nunito Sans"/>
              <a:cs typeface="Nunito Sans"/>
              <a:sym typeface="Nunito Sans"/>
            </a:endParaRPr>
          </a:p>
          <a:p>
            <a:pPr indent="0" lvl="0" marL="0" marR="0" rtl="0" algn="l">
              <a:spcBef>
                <a:spcPts val="1200"/>
              </a:spcBef>
              <a:spcAft>
                <a:spcPts val="1200"/>
              </a:spcAft>
              <a:buNone/>
            </a:pPr>
            <a:r>
              <a:rPr lang="en-US" sz="1700">
                <a:solidFill>
                  <a:srgbClr val="183E35"/>
                </a:solidFill>
                <a:latin typeface="Nunito Sans"/>
                <a:ea typeface="Nunito Sans"/>
                <a:cs typeface="Nunito Sans"/>
                <a:sym typeface="Nunito Sans"/>
              </a:rPr>
              <a:t>c-TF-IDF describes them</a:t>
            </a:r>
            <a:endParaRPr sz="1700">
              <a:solidFill>
                <a:srgbClr val="183E35"/>
              </a:solidFill>
              <a:latin typeface="Nunito Sans"/>
              <a:ea typeface="Nunito Sans"/>
              <a:cs typeface="Nunito Sans"/>
              <a:sym typeface="Nunito Sans"/>
            </a:endParaRPr>
          </a:p>
        </p:txBody>
      </p:sp>
      <p:sp>
        <p:nvSpPr>
          <p:cNvPr id="178" name="Google Shape;178;p10"/>
          <p:cNvSpPr txBox="1"/>
          <p:nvPr/>
        </p:nvSpPr>
        <p:spPr>
          <a:xfrm>
            <a:off x="3797300" y="1790700"/>
            <a:ext cx="45594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solidFill>
                  <a:srgbClr val="5A6D60"/>
                </a:solidFill>
                <a:latin typeface="Nunito Sans"/>
                <a:ea typeface="Nunito Sans"/>
                <a:cs typeface="Nunito Sans"/>
                <a:sym typeface="Nunito Sans"/>
              </a:rPr>
              <a:t>Themes in 413 excerpts</a:t>
            </a:r>
            <a:endParaRPr b="1" sz="1700">
              <a:solidFill>
                <a:srgbClr val="5A6D60"/>
              </a:solidFill>
              <a:latin typeface="Nunito Sans"/>
              <a:ea typeface="Nunito Sans"/>
              <a:cs typeface="Nunito Sans"/>
              <a:sym typeface="Nunito Sans"/>
            </a:endParaRPr>
          </a:p>
        </p:txBody>
      </p:sp>
      <p:sp>
        <p:nvSpPr>
          <p:cNvPr id="179" name="Google Shape;179;p10"/>
          <p:cNvSpPr txBox="1"/>
          <p:nvPr/>
        </p:nvSpPr>
        <p:spPr>
          <a:xfrm>
            <a:off x="3797300" y="5613400"/>
            <a:ext cx="4559400" cy="4446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1200"/>
              </a:spcAft>
              <a:buNone/>
            </a:pPr>
            <a:r>
              <a:rPr lang="en-US">
                <a:solidFill>
                  <a:srgbClr val="245C49"/>
                </a:solidFill>
                <a:latin typeface="Nunito Sans"/>
                <a:ea typeface="Nunito Sans"/>
                <a:cs typeface="Nunito Sans"/>
                <a:sym typeface="Nunito Sans"/>
              </a:rPr>
              <a:t>Parking is the largest cluster shown.</a:t>
            </a:r>
            <a:endParaRPr>
              <a:solidFill>
                <a:srgbClr val="245C49"/>
              </a:solidFill>
              <a:latin typeface="Nunito Sans"/>
              <a:ea typeface="Nunito Sans"/>
              <a:cs typeface="Nunito Sans"/>
              <a:sym typeface="Nunito Sans"/>
            </a:endParaRPr>
          </a:p>
        </p:txBody>
      </p:sp>
      <p:sp>
        <p:nvSpPr>
          <p:cNvPr id="180" name="Google Shape;180;p10"/>
          <p:cNvSpPr txBox="1"/>
          <p:nvPr/>
        </p:nvSpPr>
        <p:spPr>
          <a:xfrm>
            <a:off x="548640" y="101600"/>
            <a:ext cx="110490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5A6D60"/>
                </a:solidFill>
                <a:latin typeface="Nunito Sans"/>
                <a:ea typeface="Nunito Sans"/>
                <a:cs typeface="Nunito Sans"/>
                <a:sym typeface="Nunito Sans"/>
              </a:rPr>
              <a:t>PIPELINE / 03a · DISCOVER PATTERNS IN EXTRACTED TEXT</a:t>
            </a:r>
            <a:endParaRPr b="1" sz="1100">
              <a:solidFill>
                <a:srgbClr val="5A6D60"/>
              </a:solidFill>
              <a:latin typeface="Nunito Sans"/>
              <a:ea typeface="Nunito Sans"/>
              <a:cs typeface="Nunito Sans"/>
              <a:sym typeface="Nunito Sans"/>
            </a:endParaRPr>
          </a:p>
        </p:txBody>
      </p:sp>
      <p:sp>
        <p:nvSpPr>
          <p:cNvPr id="181" name="Google Shape;181;p10"/>
          <p:cNvSpPr txBox="1"/>
          <p:nvPr/>
        </p:nvSpPr>
        <p:spPr>
          <a:xfrm>
            <a:off x="548640" y="4457700"/>
            <a:ext cx="2984400" cy="46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rgbClr val="A35E26"/>
                </a:solidFill>
                <a:latin typeface="Nunito Sans"/>
                <a:ea typeface="Nunito Sans"/>
                <a:cs typeface="Nunito Sans"/>
                <a:sym typeface="Nunito Sans"/>
              </a:rPr>
              <a:t>413 SELECTED EXCERPTS</a:t>
            </a:r>
            <a:endParaRPr b="1" sz="1200">
              <a:solidFill>
                <a:srgbClr val="A35E26"/>
              </a:solidFill>
              <a:latin typeface="Nunito Sans"/>
              <a:ea typeface="Nunito Sans"/>
              <a:cs typeface="Nunito Sans"/>
              <a:sym typeface="Nunito Sans"/>
            </a:endParaRPr>
          </a:p>
        </p:txBody>
      </p:sp>
      <p:sp>
        <p:nvSpPr>
          <p:cNvPr id="182" name="Google Shape;182;p10"/>
          <p:cNvSpPr txBox="1"/>
          <p:nvPr/>
        </p:nvSpPr>
        <p:spPr>
          <a:xfrm>
            <a:off x="548640" y="5003800"/>
            <a:ext cx="2984400" cy="97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solidFill>
                  <a:srgbClr val="245C49"/>
                </a:solidFill>
                <a:latin typeface="Nunito Sans"/>
                <a:ea typeface="Nunito Sans"/>
                <a:cs typeface="Nunito Sans"/>
                <a:sym typeface="Nunito Sans"/>
              </a:rPr>
              <a:t>About one-third unclustered.</a:t>
            </a:r>
            <a:endParaRPr b="1" sz="1700">
              <a:solidFill>
                <a:srgbClr val="245C49"/>
              </a:solidFill>
              <a:latin typeface="Nunito Sans"/>
              <a:ea typeface="Nunito Sans"/>
              <a:cs typeface="Nunito Sans"/>
              <a:sym typeface="Nunito Sans"/>
            </a:endParaRPr>
          </a:p>
          <a:p>
            <a:pPr indent="0" lvl="0" marL="0" rtl="0" algn="l">
              <a:spcBef>
                <a:spcPts val="0"/>
              </a:spcBef>
              <a:spcAft>
                <a:spcPts val="0"/>
              </a:spcAft>
              <a:buNone/>
            </a:pPr>
            <a:r>
              <a:rPr b="1" lang="en-US" sz="1700">
                <a:solidFill>
                  <a:srgbClr val="245C49"/>
                </a:solidFill>
                <a:latin typeface="Nunito Sans"/>
                <a:ea typeface="Nunito Sans"/>
                <a:cs typeface="Nunito Sans"/>
                <a:sym typeface="Nunito Sans"/>
              </a:rPr>
              <a:t>Exploratory themes.</a:t>
            </a:r>
            <a:endParaRPr b="1" sz="1700">
              <a:solidFill>
                <a:srgbClr val="245C49"/>
              </a:solidFill>
              <a:latin typeface="Nunito Sans"/>
              <a:ea typeface="Nunito Sans"/>
              <a:cs typeface="Nunito Sans"/>
              <a:sym typeface="Nunito Sans"/>
            </a:endParaRPr>
          </a:p>
        </p:txBody>
      </p:sp>
      <p:sp>
        <p:nvSpPr>
          <p:cNvPr id="183" name="Google Shape;183;p10"/>
          <p:cNvSpPr txBox="1"/>
          <p:nvPr/>
        </p:nvSpPr>
        <p:spPr>
          <a:xfrm>
            <a:off x="3797300" y="2476500"/>
            <a:ext cx="18795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rgbClr val="183E35"/>
                </a:solidFill>
                <a:latin typeface="Nunito Sans"/>
                <a:ea typeface="Nunito Sans"/>
                <a:cs typeface="Nunito Sans"/>
                <a:sym typeface="Nunito Sans"/>
              </a:rPr>
              <a:t>Parking</a:t>
            </a:r>
            <a:endParaRPr sz="1300">
              <a:solidFill>
                <a:srgbClr val="183E35"/>
              </a:solidFill>
              <a:latin typeface="Nunito Sans"/>
              <a:ea typeface="Nunito Sans"/>
              <a:cs typeface="Nunito Sans"/>
              <a:sym typeface="Nunito Sans"/>
            </a:endParaRPr>
          </a:p>
        </p:txBody>
      </p:sp>
      <p:sp>
        <p:nvSpPr>
          <p:cNvPr id="184" name="Google Shape;184;p10"/>
          <p:cNvSpPr/>
          <p:nvPr/>
        </p:nvSpPr>
        <p:spPr>
          <a:xfrm>
            <a:off x="5765800" y="2540000"/>
            <a:ext cx="1879500" cy="241200"/>
          </a:xfrm>
          <a:prstGeom prst="rect">
            <a:avLst/>
          </a:prstGeom>
          <a:solidFill>
            <a:srgbClr val="245C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 name="Google Shape;185;p10"/>
          <p:cNvSpPr txBox="1"/>
          <p:nvPr/>
        </p:nvSpPr>
        <p:spPr>
          <a:xfrm>
            <a:off x="7721600" y="2476500"/>
            <a:ext cx="5841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84</a:t>
            </a:r>
            <a:endParaRPr b="1" sz="1600">
              <a:solidFill>
                <a:srgbClr val="183E35"/>
              </a:solidFill>
              <a:latin typeface="Nunito Sans"/>
              <a:ea typeface="Nunito Sans"/>
              <a:cs typeface="Nunito Sans"/>
              <a:sym typeface="Nunito Sans"/>
            </a:endParaRPr>
          </a:p>
        </p:txBody>
      </p:sp>
      <p:sp>
        <p:nvSpPr>
          <p:cNvPr id="186" name="Google Shape;186;p10"/>
          <p:cNvSpPr txBox="1"/>
          <p:nvPr/>
        </p:nvSpPr>
        <p:spPr>
          <a:xfrm>
            <a:off x="3797300" y="2908300"/>
            <a:ext cx="18795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rgbClr val="183E35"/>
                </a:solidFill>
                <a:latin typeface="Nunito Sans"/>
                <a:ea typeface="Nunito Sans"/>
                <a:cs typeface="Nunito Sans"/>
                <a:sym typeface="Nunito Sans"/>
              </a:rPr>
              <a:t>Neighborhood / night</a:t>
            </a:r>
            <a:endParaRPr sz="1300">
              <a:solidFill>
                <a:srgbClr val="183E35"/>
              </a:solidFill>
              <a:latin typeface="Nunito Sans"/>
              <a:ea typeface="Nunito Sans"/>
              <a:cs typeface="Nunito Sans"/>
              <a:sym typeface="Nunito Sans"/>
            </a:endParaRPr>
          </a:p>
        </p:txBody>
      </p:sp>
      <p:sp>
        <p:nvSpPr>
          <p:cNvPr id="187" name="Google Shape;187;p10"/>
          <p:cNvSpPr/>
          <p:nvPr/>
        </p:nvSpPr>
        <p:spPr>
          <a:xfrm>
            <a:off x="5765800" y="2971800"/>
            <a:ext cx="492300" cy="241200"/>
          </a:xfrm>
          <a:prstGeom prst="rect">
            <a:avLst/>
          </a:prstGeom>
          <a:solidFill>
            <a:srgbClr val="B9C2B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 name="Google Shape;188;p10"/>
          <p:cNvSpPr txBox="1"/>
          <p:nvPr/>
        </p:nvSpPr>
        <p:spPr>
          <a:xfrm>
            <a:off x="6334276" y="2908300"/>
            <a:ext cx="5841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22</a:t>
            </a:r>
            <a:endParaRPr b="1" sz="1600">
              <a:solidFill>
                <a:srgbClr val="183E35"/>
              </a:solidFill>
              <a:latin typeface="Nunito Sans"/>
              <a:ea typeface="Nunito Sans"/>
              <a:cs typeface="Nunito Sans"/>
              <a:sym typeface="Nunito Sans"/>
            </a:endParaRPr>
          </a:p>
        </p:txBody>
      </p:sp>
      <p:sp>
        <p:nvSpPr>
          <p:cNvPr id="189" name="Google Shape;189;p10"/>
          <p:cNvSpPr txBox="1"/>
          <p:nvPr/>
        </p:nvSpPr>
        <p:spPr>
          <a:xfrm>
            <a:off x="3797300" y="3340100"/>
            <a:ext cx="18795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rgbClr val="183E35"/>
                </a:solidFill>
                <a:latin typeface="Nunito Sans"/>
                <a:ea typeface="Nunito Sans"/>
                <a:cs typeface="Nunito Sans"/>
                <a:sym typeface="Nunito Sans"/>
              </a:rPr>
              <a:t>Parks / water</a:t>
            </a:r>
            <a:endParaRPr sz="1300">
              <a:solidFill>
                <a:srgbClr val="183E35"/>
              </a:solidFill>
              <a:latin typeface="Nunito Sans"/>
              <a:ea typeface="Nunito Sans"/>
              <a:cs typeface="Nunito Sans"/>
              <a:sym typeface="Nunito Sans"/>
            </a:endParaRPr>
          </a:p>
        </p:txBody>
      </p:sp>
      <p:sp>
        <p:nvSpPr>
          <p:cNvPr id="190" name="Google Shape;190;p10"/>
          <p:cNvSpPr/>
          <p:nvPr/>
        </p:nvSpPr>
        <p:spPr>
          <a:xfrm>
            <a:off x="5765800" y="3403600"/>
            <a:ext cx="425100" cy="241200"/>
          </a:xfrm>
          <a:prstGeom prst="rect">
            <a:avLst/>
          </a:prstGeom>
          <a:solidFill>
            <a:srgbClr val="B9C2B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10"/>
          <p:cNvSpPr txBox="1"/>
          <p:nvPr/>
        </p:nvSpPr>
        <p:spPr>
          <a:xfrm>
            <a:off x="6267148" y="3340100"/>
            <a:ext cx="5841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19</a:t>
            </a:r>
            <a:endParaRPr b="1" sz="1600">
              <a:solidFill>
                <a:srgbClr val="183E35"/>
              </a:solidFill>
              <a:latin typeface="Nunito Sans"/>
              <a:ea typeface="Nunito Sans"/>
              <a:cs typeface="Nunito Sans"/>
              <a:sym typeface="Nunito Sans"/>
            </a:endParaRPr>
          </a:p>
        </p:txBody>
      </p:sp>
      <p:sp>
        <p:nvSpPr>
          <p:cNvPr id="192" name="Google Shape;192;p10"/>
          <p:cNvSpPr txBox="1"/>
          <p:nvPr/>
        </p:nvSpPr>
        <p:spPr>
          <a:xfrm>
            <a:off x="3797300" y="3771900"/>
            <a:ext cx="18795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rgbClr val="183E35"/>
                </a:solidFill>
                <a:latin typeface="Nunito Sans"/>
                <a:ea typeface="Nunito Sans"/>
                <a:cs typeface="Nunito Sans"/>
                <a:sym typeface="Nunito Sans"/>
              </a:rPr>
              <a:t>Walking / distance</a:t>
            </a:r>
            <a:endParaRPr sz="1300">
              <a:solidFill>
                <a:srgbClr val="183E35"/>
              </a:solidFill>
              <a:latin typeface="Nunito Sans"/>
              <a:ea typeface="Nunito Sans"/>
              <a:cs typeface="Nunito Sans"/>
              <a:sym typeface="Nunito Sans"/>
            </a:endParaRPr>
          </a:p>
        </p:txBody>
      </p:sp>
      <p:sp>
        <p:nvSpPr>
          <p:cNvPr id="193" name="Google Shape;193;p10"/>
          <p:cNvSpPr/>
          <p:nvPr/>
        </p:nvSpPr>
        <p:spPr>
          <a:xfrm>
            <a:off x="5765800" y="3835400"/>
            <a:ext cx="291000" cy="241200"/>
          </a:xfrm>
          <a:prstGeom prst="rect">
            <a:avLst/>
          </a:prstGeom>
          <a:solidFill>
            <a:srgbClr val="B9C2B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10"/>
          <p:cNvSpPr txBox="1"/>
          <p:nvPr/>
        </p:nvSpPr>
        <p:spPr>
          <a:xfrm>
            <a:off x="6132890" y="3771900"/>
            <a:ext cx="5841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13</a:t>
            </a:r>
            <a:endParaRPr b="1" sz="1600">
              <a:solidFill>
                <a:srgbClr val="183E35"/>
              </a:solidFill>
              <a:latin typeface="Nunito Sans"/>
              <a:ea typeface="Nunito Sans"/>
              <a:cs typeface="Nunito Sans"/>
              <a:sym typeface="Nunito Sans"/>
            </a:endParaRPr>
          </a:p>
        </p:txBody>
      </p:sp>
      <p:sp>
        <p:nvSpPr>
          <p:cNvPr id="195" name="Google Shape;195;p10"/>
          <p:cNvSpPr txBox="1"/>
          <p:nvPr/>
        </p:nvSpPr>
        <p:spPr>
          <a:xfrm>
            <a:off x="3797300" y="4203700"/>
            <a:ext cx="18795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rgbClr val="183E35"/>
                </a:solidFill>
                <a:latin typeface="Nunito Sans"/>
                <a:ea typeface="Nunito Sans"/>
                <a:cs typeface="Nunito Sans"/>
                <a:sym typeface="Nunito Sans"/>
              </a:rPr>
              <a:t>Streetcar</a:t>
            </a:r>
            <a:endParaRPr sz="1300">
              <a:solidFill>
                <a:srgbClr val="183E35"/>
              </a:solidFill>
              <a:latin typeface="Nunito Sans"/>
              <a:ea typeface="Nunito Sans"/>
              <a:cs typeface="Nunito Sans"/>
              <a:sym typeface="Nunito Sans"/>
            </a:endParaRPr>
          </a:p>
        </p:txBody>
      </p:sp>
      <p:sp>
        <p:nvSpPr>
          <p:cNvPr id="196" name="Google Shape;196;p10"/>
          <p:cNvSpPr/>
          <p:nvPr/>
        </p:nvSpPr>
        <p:spPr>
          <a:xfrm>
            <a:off x="5765800" y="4267200"/>
            <a:ext cx="268500" cy="241200"/>
          </a:xfrm>
          <a:prstGeom prst="rect">
            <a:avLst/>
          </a:prstGeom>
          <a:solidFill>
            <a:srgbClr val="B9C2B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10"/>
          <p:cNvSpPr txBox="1"/>
          <p:nvPr/>
        </p:nvSpPr>
        <p:spPr>
          <a:xfrm>
            <a:off x="6110514" y="4203700"/>
            <a:ext cx="5841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12</a:t>
            </a:r>
            <a:endParaRPr b="1" sz="1600">
              <a:solidFill>
                <a:srgbClr val="183E35"/>
              </a:solidFill>
              <a:latin typeface="Nunito Sans"/>
              <a:ea typeface="Nunito Sans"/>
              <a:cs typeface="Nunito Sans"/>
              <a:sym typeface="Nunito Sans"/>
            </a:endParaRPr>
          </a:p>
        </p:txBody>
      </p:sp>
      <p:sp>
        <p:nvSpPr>
          <p:cNvPr id="198" name="Google Shape;198;p10"/>
          <p:cNvSpPr txBox="1"/>
          <p:nvPr/>
        </p:nvSpPr>
        <p:spPr>
          <a:xfrm>
            <a:off x="3797300" y="4635500"/>
            <a:ext cx="18795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rgbClr val="183E35"/>
                </a:solidFill>
                <a:latin typeface="Nunito Sans"/>
                <a:ea typeface="Nunito Sans"/>
                <a:cs typeface="Nunito Sans"/>
                <a:sym typeface="Nunito Sans"/>
              </a:rPr>
              <a:t>Construction / noise</a:t>
            </a:r>
            <a:endParaRPr sz="1300">
              <a:solidFill>
                <a:srgbClr val="183E35"/>
              </a:solidFill>
              <a:latin typeface="Nunito Sans"/>
              <a:ea typeface="Nunito Sans"/>
              <a:cs typeface="Nunito Sans"/>
              <a:sym typeface="Nunito Sans"/>
            </a:endParaRPr>
          </a:p>
        </p:txBody>
      </p:sp>
      <p:sp>
        <p:nvSpPr>
          <p:cNvPr id="199" name="Google Shape;199;p10"/>
          <p:cNvSpPr/>
          <p:nvPr/>
        </p:nvSpPr>
        <p:spPr>
          <a:xfrm>
            <a:off x="5765800" y="4699000"/>
            <a:ext cx="201300" cy="241200"/>
          </a:xfrm>
          <a:prstGeom prst="rect">
            <a:avLst/>
          </a:prstGeom>
          <a:solidFill>
            <a:srgbClr val="B9C2B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 name="Google Shape;200;p10"/>
          <p:cNvSpPr txBox="1"/>
          <p:nvPr/>
        </p:nvSpPr>
        <p:spPr>
          <a:xfrm>
            <a:off x="6043386" y="4635500"/>
            <a:ext cx="5841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9</a:t>
            </a:r>
            <a:endParaRPr b="1" sz="1600">
              <a:solidFill>
                <a:srgbClr val="183E35"/>
              </a:solidFill>
              <a:latin typeface="Nunito Sans"/>
              <a:ea typeface="Nunito Sans"/>
              <a:cs typeface="Nunito Sans"/>
              <a:sym typeface="Nunito Sans"/>
            </a:endParaRPr>
          </a:p>
        </p:txBody>
      </p:sp>
      <p:sp>
        <p:nvSpPr>
          <p:cNvPr id="201" name="Google Shape;201;p10"/>
          <p:cNvSpPr txBox="1"/>
          <p:nvPr/>
        </p:nvSpPr>
        <p:spPr>
          <a:xfrm>
            <a:off x="3797300" y="5067300"/>
            <a:ext cx="18795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rgbClr val="183E35"/>
                </a:solidFill>
                <a:latin typeface="Nunito Sans"/>
                <a:ea typeface="Nunito Sans"/>
                <a:cs typeface="Nunito Sans"/>
                <a:sym typeface="Nunito Sans"/>
              </a:rPr>
              <a:t>Trash</a:t>
            </a:r>
            <a:endParaRPr sz="1300">
              <a:solidFill>
                <a:srgbClr val="183E35"/>
              </a:solidFill>
              <a:latin typeface="Nunito Sans"/>
              <a:ea typeface="Nunito Sans"/>
              <a:cs typeface="Nunito Sans"/>
              <a:sym typeface="Nunito Sans"/>
            </a:endParaRPr>
          </a:p>
        </p:txBody>
      </p:sp>
      <p:sp>
        <p:nvSpPr>
          <p:cNvPr id="202" name="Google Shape;202;p10"/>
          <p:cNvSpPr/>
          <p:nvPr/>
        </p:nvSpPr>
        <p:spPr>
          <a:xfrm>
            <a:off x="5765800" y="5130800"/>
            <a:ext cx="201300" cy="241200"/>
          </a:xfrm>
          <a:prstGeom prst="rect">
            <a:avLst/>
          </a:prstGeom>
          <a:solidFill>
            <a:srgbClr val="B9C2B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 name="Google Shape;203;p10"/>
          <p:cNvSpPr txBox="1"/>
          <p:nvPr/>
        </p:nvSpPr>
        <p:spPr>
          <a:xfrm>
            <a:off x="6043386" y="5067300"/>
            <a:ext cx="5841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9</a:t>
            </a:r>
            <a:endParaRPr b="1" sz="1600">
              <a:solidFill>
                <a:srgbClr val="183E35"/>
              </a:solidFill>
              <a:latin typeface="Nunito Sans"/>
              <a:ea typeface="Nunito Sans"/>
              <a:cs typeface="Nunito Sans"/>
              <a:sym typeface="Nunito Sans"/>
            </a:endParaRPr>
          </a:p>
        </p:txBody>
      </p:sp>
      <p:sp>
        <p:nvSpPr>
          <p:cNvPr id="204" name="Google Shape;204;p10"/>
          <p:cNvSpPr/>
          <p:nvPr/>
        </p:nvSpPr>
        <p:spPr>
          <a:xfrm>
            <a:off x="8763000" y="1701800"/>
            <a:ext cx="2883000" cy="4140300"/>
          </a:xfrm>
          <a:prstGeom prst="roundRect">
            <a:avLst>
              <a:gd fmla="val 16667" name="adj"/>
            </a:avLst>
          </a:prstGeom>
          <a:solidFill>
            <a:srgbClr val="EBF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 name="Google Shape;205;p10"/>
          <p:cNvSpPr txBox="1"/>
          <p:nvPr/>
        </p:nvSpPr>
        <p:spPr>
          <a:xfrm>
            <a:off x="8940800" y="1866900"/>
            <a:ext cx="2502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rgbClr val="5A6D60"/>
                </a:solidFill>
                <a:latin typeface="Nunito Sans"/>
                <a:ea typeface="Nunito Sans"/>
                <a:cs typeface="Nunito Sans"/>
                <a:sym typeface="Nunito Sans"/>
              </a:rPr>
              <a:t>TECHNICAL CHOICES</a:t>
            </a:r>
            <a:endParaRPr b="1" sz="1200">
              <a:solidFill>
                <a:srgbClr val="5A6D60"/>
              </a:solidFill>
              <a:latin typeface="Nunito Sans"/>
              <a:ea typeface="Nunito Sans"/>
              <a:cs typeface="Nunito Sans"/>
              <a:sym typeface="Nunito Sans"/>
            </a:endParaRPr>
          </a:p>
        </p:txBody>
      </p:sp>
      <p:sp>
        <p:nvSpPr>
          <p:cNvPr id="206" name="Google Shape;206;p10"/>
          <p:cNvSpPr txBox="1"/>
          <p:nvPr/>
        </p:nvSpPr>
        <p:spPr>
          <a:xfrm>
            <a:off x="8940800" y="2247900"/>
            <a:ext cx="3000000" cy="30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MiniLM</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384-dimensional</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sentence vectors.</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UMAP</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Reduces dimensions.</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HDBSCAN</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Groups similar vectors;</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keeps some unclustered.</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c-TF-IDF</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Distinctive cluster terms.</a:t>
            </a:r>
            <a:endParaRPr sz="1500">
              <a:solidFill>
                <a:srgbClr val="183E35"/>
              </a:solidFill>
              <a:latin typeface="Nunito Sans"/>
              <a:ea typeface="Nunito Sans"/>
              <a:cs typeface="Nunito Sans"/>
              <a:sym typeface="Nunito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6"/>
        </a:solidFill>
      </p:bgPr>
    </p:bg>
    <p:spTree>
      <p:nvGrpSpPr>
        <p:cNvPr id="211" name="Shape 211"/>
        <p:cNvGrpSpPr/>
        <p:nvPr/>
      </p:nvGrpSpPr>
      <p:grpSpPr>
        <a:xfrm>
          <a:off x="0" y="0"/>
          <a:ext cx="0" cy="0"/>
          <a:chOff x="0" y="0"/>
          <a:chExt cx="0" cy="0"/>
        </a:xfrm>
      </p:grpSpPr>
      <p:sp>
        <p:nvSpPr>
          <p:cNvPr id="212" name="Google Shape;212;p11"/>
          <p:cNvSpPr txBox="1"/>
          <p:nvPr/>
        </p:nvSpPr>
        <p:spPr>
          <a:xfrm>
            <a:off x="11094415" y="6355080"/>
            <a:ext cx="548700" cy="384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100">
                <a:solidFill>
                  <a:srgbClr val="5A6D60"/>
                </a:solidFill>
                <a:latin typeface="Nunito Sans"/>
                <a:ea typeface="Nunito Sans"/>
                <a:cs typeface="Nunito Sans"/>
                <a:sym typeface="Nunito Sans"/>
              </a:rPr>
              <a:t>9</a:t>
            </a:r>
            <a:endParaRPr sz="1100">
              <a:solidFill>
                <a:srgbClr val="5A6D60"/>
              </a:solidFill>
              <a:latin typeface="Nunito Sans"/>
              <a:ea typeface="Nunito Sans"/>
              <a:cs typeface="Nunito Sans"/>
              <a:sym typeface="Nunito Sans"/>
            </a:endParaRPr>
          </a:p>
        </p:txBody>
      </p:sp>
      <p:sp>
        <p:nvSpPr>
          <p:cNvPr id="213" name="Google Shape;213;p11"/>
          <p:cNvSpPr txBox="1"/>
          <p:nvPr/>
        </p:nvSpPr>
        <p:spPr>
          <a:xfrm>
            <a:off x="548640" y="411480"/>
            <a:ext cx="110943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83E35"/>
                </a:solidFill>
                <a:latin typeface="Georgia"/>
                <a:ea typeface="Georgia"/>
                <a:cs typeface="Georgia"/>
                <a:sym typeface="Georgia"/>
              </a:rPr>
              <a:t>A second topic model checks what the wider text contains</a:t>
            </a:r>
            <a:endParaRPr b="1" sz="3200">
              <a:solidFill>
                <a:srgbClr val="183E35"/>
              </a:solidFill>
              <a:latin typeface="Georgia"/>
              <a:ea typeface="Georgia"/>
              <a:cs typeface="Georgia"/>
              <a:sym typeface="Georgia"/>
            </a:endParaRPr>
          </a:p>
        </p:txBody>
      </p:sp>
      <p:sp>
        <p:nvSpPr>
          <p:cNvPr id="214" name="Google Shape;214;p11"/>
          <p:cNvSpPr txBox="1"/>
          <p:nvPr/>
        </p:nvSpPr>
        <p:spPr>
          <a:xfrm>
            <a:off x="548640" y="1828800"/>
            <a:ext cx="3187800" cy="8763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1200"/>
              </a:spcAft>
              <a:buNone/>
            </a:pPr>
            <a:r>
              <a:rPr lang="en-US" sz="4500">
                <a:solidFill>
                  <a:srgbClr val="183E35"/>
                </a:solidFill>
                <a:latin typeface="Nunito Sans"/>
                <a:ea typeface="Nunito Sans"/>
                <a:cs typeface="Nunito Sans"/>
                <a:sym typeface="Nunito Sans"/>
              </a:rPr>
              <a:t>23,691</a:t>
            </a:r>
            <a:endParaRPr sz="4500">
              <a:solidFill>
                <a:srgbClr val="183E35"/>
              </a:solidFill>
              <a:latin typeface="Nunito Sans"/>
              <a:ea typeface="Nunito Sans"/>
              <a:cs typeface="Nunito Sans"/>
              <a:sym typeface="Nunito Sans"/>
            </a:endParaRPr>
          </a:p>
        </p:txBody>
      </p:sp>
      <p:sp>
        <p:nvSpPr>
          <p:cNvPr id="215" name="Google Shape;215;p11"/>
          <p:cNvSpPr/>
          <p:nvPr/>
        </p:nvSpPr>
        <p:spPr>
          <a:xfrm>
            <a:off x="548640" y="5575300"/>
            <a:ext cx="7810500" cy="584100"/>
          </a:xfrm>
          <a:prstGeom prst="roundRect">
            <a:avLst>
              <a:gd fmla="val 16667" name="adj"/>
            </a:avLst>
          </a:prstGeom>
          <a:solidFill>
            <a:srgbClr val="E6EC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11"/>
          <p:cNvSpPr txBox="1"/>
          <p:nvPr/>
        </p:nvSpPr>
        <p:spPr>
          <a:xfrm>
            <a:off x="698500" y="5689600"/>
            <a:ext cx="74931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solidFill>
                  <a:srgbClr val="183E35"/>
                </a:solidFill>
                <a:latin typeface="Georgia"/>
                <a:ea typeface="Georgia"/>
                <a:cs typeface="Georgia"/>
                <a:sym typeface="Georgia"/>
              </a:rPr>
              <a:t>The learned terms often describe businesses.</a:t>
            </a:r>
            <a:endParaRPr b="1" sz="1700">
              <a:solidFill>
                <a:srgbClr val="183E35"/>
              </a:solidFill>
              <a:latin typeface="Georgia"/>
              <a:ea typeface="Georgia"/>
              <a:cs typeface="Georgia"/>
              <a:sym typeface="Georgia"/>
            </a:endParaRPr>
          </a:p>
        </p:txBody>
      </p:sp>
      <p:sp>
        <p:nvSpPr>
          <p:cNvPr id="217" name="Google Shape;217;p11"/>
          <p:cNvSpPr txBox="1"/>
          <p:nvPr/>
        </p:nvSpPr>
        <p:spPr>
          <a:xfrm>
            <a:off x="548640" y="101600"/>
            <a:ext cx="110490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5A6D60"/>
                </a:solidFill>
                <a:latin typeface="Nunito Sans"/>
                <a:ea typeface="Nunito Sans"/>
                <a:cs typeface="Nunito Sans"/>
                <a:sym typeface="Nunito Sans"/>
              </a:rPr>
              <a:t>PIPELINE / 03b · LEARN FROM A REPRODUCIBLE SAMPLE</a:t>
            </a:r>
            <a:endParaRPr b="1" sz="1100">
              <a:solidFill>
                <a:srgbClr val="5A6D60"/>
              </a:solidFill>
              <a:latin typeface="Nunito Sans"/>
              <a:ea typeface="Nunito Sans"/>
              <a:cs typeface="Nunito Sans"/>
              <a:sym typeface="Nunito Sans"/>
            </a:endParaRPr>
          </a:p>
        </p:txBody>
      </p:sp>
      <p:sp>
        <p:nvSpPr>
          <p:cNvPr id="218" name="Google Shape;218;p11"/>
          <p:cNvSpPr txBox="1"/>
          <p:nvPr/>
        </p:nvSpPr>
        <p:spPr>
          <a:xfrm>
            <a:off x="548640" y="2755900"/>
            <a:ext cx="31878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rgbClr val="183E35"/>
                </a:solidFill>
                <a:latin typeface="Nunito Sans"/>
                <a:ea typeface="Nunito Sans"/>
                <a:cs typeface="Nunito Sans"/>
                <a:sym typeface="Nunito Sans"/>
              </a:rPr>
              <a:t>unique sampled reviews</a:t>
            </a:r>
            <a:endParaRPr b="1" sz="1800">
              <a:solidFill>
                <a:srgbClr val="183E35"/>
              </a:solidFill>
              <a:latin typeface="Nunito Sans"/>
              <a:ea typeface="Nunito Sans"/>
              <a:cs typeface="Nunito Sans"/>
              <a:sym typeface="Nunito Sans"/>
            </a:endParaRPr>
          </a:p>
        </p:txBody>
      </p:sp>
      <p:sp>
        <p:nvSpPr>
          <p:cNvPr id="219" name="Google Shape;219;p11"/>
          <p:cNvSpPr txBox="1"/>
          <p:nvPr/>
        </p:nvSpPr>
        <p:spPr>
          <a:xfrm>
            <a:off x="548640" y="3365500"/>
            <a:ext cx="3187800" cy="12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Stable review-ID sampling</a:t>
            </a:r>
            <a:endParaRPr sz="16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Up to 1,200 per project / period</a:t>
            </a:r>
            <a:endParaRPr sz="16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Shared reviews deduplicated</a:t>
            </a:r>
            <a:endParaRPr sz="1600">
              <a:solidFill>
                <a:srgbClr val="183E35"/>
              </a:solidFill>
              <a:latin typeface="Nunito Sans"/>
              <a:ea typeface="Nunito Sans"/>
              <a:cs typeface="Nunito Sans"/>
              <a:sym typeface="Nunito Sans"/>
            </a:endParaRPr>
          </a:p>
        </p:txBody>
      </p:sp>
      <p:sp>
        <p:nvSpPr>
          <p:cNvPr id="220" name="Google Shape;220;p11"/>
          <p:cNvSpPr txBox="1"/>
          <p:nvPr/>
        </p:nvSpPr>
        <p:spPr>
          <a:xfrm>
            <a:off x="548640" y="4711700"/>
            <a:ext cx="3187800" cy="76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10,971 baseline fit reviews.</a:t>
            </a:r>
            <a:endParaRPr sz="16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Later text uses the frozen basis.</a:t>
            </a:r>
            <a:endParaRPr sz="1600">
              <a:solidFill>
                <a:srgbClr val="183E35"/>
              </a:solidFill>
              <a:latin typeface="Nunito Sans"/>
              <a:ea typeface="Nunito Sans"/>
              <a:cs typeface="Nunito Sans"/>
              <a:sym typeface="Nunito Sans"/>
            </a:endParaRPr>
          </a:p>
        </p:txBody>
      </p:sp>
      <p:sp>
        <p:nvSpPr>
          <p:cNvPr id="221" name="Google Shape;221;p11"/>
          <p:cNvSpPr txBox="1"/>
          <p:nvPr/>
        </p:nvSpPr>
        <p:spPr>
          <a:xfrm>
            <a:off x="4140200" y="1816100"/>
            <a:ext cx="4216500" cy="52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5A6D60"/>
                </a:solidFill>
                <a:latin typeface="Nunito Sans"/>
                <a:ea typeface="Nunito Sans"/>
                <a:cs typeface="Nunito Sans"/>
                <a:sym typeface="Nunito Sans"/>
              </a:rPr>
              <a:t>8,000 TF-IDF FEATURES · 5 NMF TOPICS</a:t>
            </a:r>
            <a:endParaRPr b="1" sz="1100">
              <a:solidFill>
                <a:srgbClr val="5A6D60"/>
              </a:solidFill>
              <a:latin typeface="Nunito Sans"/>
              <a:ea typeface="Nunito Sans"/>
              <a:cs typeface="Nunito Sans"/>
              <a:sym typeface="Nunito Sans"/>
            </a:endParaRPr>
          </a:p>
        </p:txBody>
      </p:sp>
      <p:sp>
        <p:nvSpPr>
          <p:cNvPr id="222" name="Google Shape;222;p11"/>
          <p:cNvSpPr txBox="1"/>
          <p:nvPr/>
        </p:nvSpPr>
        <p:spPr>
          <a:xfrm>
            <a:off x="4140200" y="2489200"/>
            <a:ext cx="3810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245C49"/>
                </a:solidFill>
                <a:latin typeface="Georgia"/>
                <a:ea typeface="Georgia"/>
                <a:cs typeface="Georgia"/>
                <a:sym typeface="Georgia"/>
              </a:rPr>
              <a:t>1</a:t>
            </a:r>
            <a:endParaRPr b="1" sz="2400">
              <a:solidFill>
                <a:srgbClr val="245C49"/>
              </a:solidFill>
              <a:latin typeface="Georgia"/>
              <a:ea typeface="Georgia"/>
              <a:cs typeface="Georgia"/>
              <a:sym typeface="Georgia"/>
            </a:endParaRPr>
          </a:p>
        </p:txBody>
      </p:sp>
      <p:sp>
        <p:nvSpPr>
          <p:cNvPr id="223" name="Google Shape;223;p11"/>
          <p:cNvSpPr txBox="1"/>
          <p:nvPr/>
        </p:nvSpPr>
        <p:spPr>
          <a:xfrm>
            <a:off x="4622800" y="2514600"/>
            <a:ext cx="37338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chicken · good · food · ordered</a:t>
            </a:r>
            <a:endParaRPr sz="1600">
              <a:solidFill>
                <a:srgbClr val="183E35"/>
              </a:solidFill>
              <a:latin typeface="Nunito Sans"/>
              <a:ea typeface="Nunito Sans"/>
              <a:cs typeface="Nunito Sans"/>
              <a:sym typeface="Nunito Sans"/>
            </a:endParaRPr>
          </a:p>
        </p:txBody>
      </p:sp>
      <p:sp>
        <p:nvSpPr>
          <p:cNvPr id="224" name="Google Shape;224;p11"/>
          <p:cNvSpPr txBox="1"/>
          <p:nvPr/>
        </p:nvSpPr>
        <p:spPr>
          <a:xfrm>
            <a:off x="4140200" y="3060700"/>
            <a:ext cx="3810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245C49"/>
                </a:solidFill>
                <a:latin typeface="Georgia"/>
                <a:ea typeface="Georgia"/>
                <a:cs typeface="Georgia"/>
                <a:sym typeface="Georgia"/>
              </a:rPr>
              <a:t>2</a:t>
            </a:r>
            <a:endParaRPr b="1" sz="2400">
              <a:solidFill>
                <a:srgbClr val="245C49"/>
              </a:solidFill>
              <a:latin typeface="Georgia"/>
              <a:ea typeface="Georgia"/>
              <a:cs typeface="Georgia"/>
              <a:sym typeface="Georgia"/>
            </a:endParaRPr>
          </a:p>
        </p:txBody>
      </p:sp>
      <p:sp>
        <p:nvSpPr>
          <p:cNvPr id="225" name="Google Shape;225;p11"/>
          <p:cNvSpPr txBox="1"/>
          <p:nvPr/>
        </p:nvSpPr>
        <p:spPr>
          <a:xfrm>
            <a:off x="4622800" y="3086100"/>
            <a:ext cx="37338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just · like · time · room</a:t>
            </a:r>
            <a:endParaRPr sz="1600">
              <a:solidFill>
                <a:srgbClr val="183E35"/>
              </a:solidFill>
              <a:latin typeface="Nunito Sans"/>
              <a:ea typeface="Nunito Sans"/>
              <a:cs typeface="Nunito Sans"/>
              <a:sym typeface="Nunito Sans"/>
            </a:endParaRPr>
          </a:p>
        </p:txBody>
      </p:sp>
      <p:sp>
        <p:nvSpPr>
          <p:cNvPr id="226" name="Google Shape;226;p11"/>
          <p:cNvSpPr txBox="1"/>
          <p:nvPr/>
        </p:nvSpPr>
        <p:spPr>
          <a:xfrm>
            <a:off x="4140200" y="3632200"/>
            <a:ext cx="3810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245C49"/>
                </a:solidFill>
                <a:latin typeface="Georgia"/>
                <a:ea typeface="Georgia"/>
                <a:cs typeface="Georgia"/>
                <a:sym typeface="Georgia"/>
              </a:rPr>
              <a:t>3</a:t>
            </a:r>
            <a:endParaRPr b="1" sz="2400">
              <a:solidFill>
                <a:srgbClr val="245C49"/>
              </a:solidFill>
              <a:latin typeface="Georgia"/>
              <a:ea typeface="Georgia"/>
              <a:cs typeface="Georgia"/>
              <a:sym typeface="Georgia"/>
            </a:endParaRPr>
          </a:p>
        </p:txBody>
      </p:sp>
      <p:sp>
        <p:nvSpPr>
          <p:cNvPr id="227" name="Google Shape;227;p11"/>
          <p:cNvSpPr txBox="1"/>
          <p:nvPr/>
        </p:nvSpPr>
        <p:spPr>
          <a:xfrm>
            <a:off x="4622800" y="3657600"/>
            <a:ext cx="37338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great · food · good · place</a:t>
            </a:r>
            <a:endParaRPr sz="1600">
              <a:solidFill>
                <a:srgbClr val="183E35"/>
              </a:solidFill>
              <a:latin typeface="Nunito Sans"/>
              <a:ea typeface="Nunito Sans"/>
              <a:cs typeface="Nunito Sans"/>
              <a:sym typeface="Nunito Sans"/>
            </a:endParaRPr>
          </a:p>
        </p:txBody>
      </p:sp>
      <p:sp>
        <p:nvSpPr>
          <p:cNvPr id="228" name="Google Shape;228;p11"/>
          <p:cNvSpPr txBox="1"/>
          <p:nvPr/>
        </p:nvSpPr>
        <p:spPr>
          <a:xfrm>
            <a:off x="4140200" y="4203700"/>
            <a:ext cx="3810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245C49"/>
                </a:solidFill>
                <a:latin typeface="Georgia"/>
                <a:ea typeface="Georgia"/>
                <a:cs typeface="Georgia"/>
                <a:sym typeface="Georgia"/>
              </a:rPr>
              <a:t>4</a:t>
            </a:r>
            <a:endParaRPr b="1" sz="2400">
              <a:solidFill>
                <a:srgbClr val="245C49"/>
              </a:solidFill>
              <a:latin typeface="Georgia"/>
              <a:ea typeface="Georgia"/>
              <a:cs typeface="Georgia"/>
              <a:sym typeface="Georgia"/>
            </a:endParaRPr>
          </a:p>
        </p:txBody>
      </p:sp>
      <p:sp>
        <p:nvSpPr>
          <p:cNvPr id="229" name="Google Shape;229;p11"/>
          <p:cNvSpPr txBox="1"/>
          <p:nvPr/>
        </p:nvSpPr>
        <p:spPr>
          <a:xfrm>
            <a:off x="4622800" y="4229100"/>
            <a:ext cx="37338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pizza · crust · slice · best</a:t>
            </a:r>
            <a:endParaRPr sz="1600">
              <a:solidFill>
                <a:srgbClr val="183E35"/>
              </a:solidFill>
              <a:latin typeface="Nunito Sans"/>
              <a:ea typeface="Nunito Sans"/>
              <a:cs typeface="Nunito Sans"/>
              <a:sym typeface="Nunito Sans"/>
            </a:endParaRPr>
          </a:p>
        </p:txBody>
      </p:sp>
      <p:sp>
        <p:nvSpPr>
          <p:cNvPr id="230" name="Google Shape;230;p11"/>
          <p:cNvSpPr txBox="1"/>
          <p:nvPr/>
        </p:nvSpPr>
        <p:spPr>
          <a:xfrm>
            <a:off x="4140200" y="4775200"/>
            <a:ext cx="3810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245C49"/>
                </a:solidFill>
                <a:latin typeface="Georgia"/>
                <a:ea typeface="Georgia"/>
                <a:cs typeface="Georgia"/>
                <a:sym typeface="Georgia"/>
              </a:rPr>
              <a:t>5</a:t>
            </a:r>
            <a:endParaRPr b="1" sz="2400">
              <a:solidFill>
                <a:srgbClr val="245C49"/>
              </a:solidFill>
              <a:latin typeface="Georgia"/>
              <a:ea typeface="Georgia"/>
              <a:cs typeface="Georgia"/>
              <a:sym typeface="Georgia"/>
            </a:endParaRPr>
          </a:p>
        </p:txBody>
      </p:sp>
      <p:sp>
        <p:nvSpPr>
          <p:cNvPr id="231" name="Google Shape;231;p11"/>
          <p:cNvSpPr txBox="1"/>
          <p:nvPr/>
        </p:nvSpPr>
        <p:spPr>
          <a:xfrm>
            <a:off x="4622800" y="4800600"/>
            <a:ext cx="37338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ice · cream · ice cream · coffee</a:t>
            </a:r>
            <a:endParaRPr sz="1600">
              <a:solidFill>
                <a:srgbClr val="183E35"/>
              </a:solidFill>
              <a:latin typeface="Nunito Sans"/>
              <a:ea typeface="Nunito Sans"/>
              <a:cs typeface="Nunito Sans"/>
              <a:sym typeface="Nunito Sans"/>
            </a:endParaRPr>
          </a:p>
        </p:txBody>
      </p:sp>
      <p:sp>
        <p:nvSpPr>
          <p:cNvPr id="232" name="Google Shape;232;p11"/>
          <p:cNvSpPr/>
          <p:nvPr/>
        </p:nvSpPr>
        <p:spPr>
          <a:xfrm>
            <a:off x="8763000" y="1701800"/>
            <a:ext cx="2883000" cy="4140300"/>
          </a:xfrm>
          <a:prstGeom prst="roundRect">
            <a:avLst>
              <a:gd fmla="val 16667" name="adj"/>
            </a:avLst>
          </a:prstGeom>
          <a:solidFill>
            <a:srgbClr val="EBF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3" name="Google Shape;233;p11"/>
          <p:cNvSpPr txBox="1"/>
          <p:nvPr/>
        </p:nvSpPr>
        <p:spPr>
          <a:xfrm>
            <a:off x="8940800" y="1866900"/>
            <a:ext cx="2502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rgbClr val="5A6D60"/>
                </a:solidFill>
                <a:latin typeface="Nunito Sans"/>
                <a:ea typeface="Nunito Sans"/>
                <a:cs typeface="Nunito Sans"/>
                <a:sym typeface="Nunito Sans"/>
              </a:rPr>
              <a:t>TECHNICAL CHOICES</a:t>
            </a:r>
            <a:endParaRPr b="1" sz="1200">
              <a:solidFill>
                <a:srgbClr val="5A6D60"/>
              </a:solidFill>
              <a:latin typeface="Nunito Sans"/>
              <a:ea typeface="Nunito Sans"/>
              <a:cs typeface="Nunito Sans"/>
              <a:sym typeface="Nunito Sans"/>
            </a:endParaRPr>
          </a:p>
        </p:txBody>
      </p:sp>
      <p:sp>
        <p:nvSpPr>
          <p:cNvPr id="234" name="Google Shape;234;p11"/>
          <p:cNvSpPr txBox="1"/>
          <p:nvPr/>
        </p:nvSpPr>
        <p:spPr>
          <a:xfrm>
            <a:off x="8940800" y="2247900"/>
            <a:ext cx="3000000" cy="30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TF-IDF</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Weights terms within</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and across reviews.</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Unigrams / bigrams</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Words / word pairs.</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NMF</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Learns 5 additive topics</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with nonnegative weights.</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Frozen basis</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Fit before; transform later.</a:t>
            </a:r>
            <a:endParaRPr sz="1500">
              <a:solidFill>
                <a:srgbClr val="183E35"/>
              </a:solidFill>
              <a:latin typeface="Nunito Sans"/>
              <a:ea typeface="Nunito Sans"/>
              <a:cs typeface="Nunito Sans"/>
              <a:sym typeface="Nunito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6"/>
        </a:solidFill>
      </p:bgPr>
    </p:bg>
    <p:spTree>
      <p:nvGrpSpPr>
        <p:cNvPr id="239" name="Shape 239"/>
        <p:cNvGrpSpPr/>
        <p:nvPr/>
      </p:nvGrpSpPr>
      <p:grpSpPr>
        <a:xfrm>
          <a:off x="0" y="0"/>
          <a:ext cx="0" cy="0"/>
          <a:chOff x="0" y="0"/>
          <a:chExt cx="0" cy="0"/>
        </a:xfrm>
      </p:grpSpPr>
      <p:sp>
        <p:nvSpPr>
          <p:cNvPr id="240" name="Google Shape;240;p12"/>
          <p:cNvSpPr txBox="1"/>
          <p:nvPr/>
        </p:nvSpPr>
        <p:spPr>
          <a:xfrm>
            <a:off x="11094415" y="6355080"/>
            <a:ext cx="548700" cy="384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100">
                <a:solidFill>
                  <a:srgbClr val="5A6D60"/>
                </a:solidFill>
                <a:latin typeface="Nunito Sans"/>
                <a:ea typeface="Nunito Sans"/>
                <a:cs typeface="Nunito Sans"/>
                <a:sym typeface="Nunito Sans"/>
              </a:rPr>
              <a:t>10</a:t>
            </a:r>
            <a:endParaRPr sz="1100">
              <a:solidFill>
                <a:srgbClr val="5A6D60"/>
              </a:solidFill>
              <a:latin typeface="Nunito Sans"/>
              <a:ea typeface="Nunito Sans"/>
              <a:cs typeface="Nunito Sans"/>
              <a:sym typeface="Nunito Sans"/>
            </a:endParaRPr>
          </a:p>
        </p:txBody>
      </p:sp>
      <p:sp>
        <p:nvSpPr>
          <p:cNvPr id="241" name="Google Shape;241;p12"/>
          <p:cNvSpPr txBox="1"/>
          <p:nvPr/>
        </p:nvSpPr>
        <p:spPr>
          <a:xfrm>
            <a:off x="548640" y="411480"/>
            <a:ext cx="110943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83E35"/>
                </a:solidFill>
                <a:latin typeface="Georgia"/>
                <a:ea typeface="Georgia"/>
                <a:cs typeface="Georgia"/>
                <a:sym typeface="Georgia"/>
              </a:rPr>
              <a:t>Validate labels, then compare the rules with BERT</a:t>
            </a:r>
            <a:endParaRPr b="1" sz="3200">
              <a:solidFill>
                <a:srgbClr val="183E35"/>
              </a:solidFill>
              <a:latin typeface="Georgia"/>
              <a:ea typeface="Georgia"/>
              <a:cs typeface="Georgia"/>
              <a:sym typeface="Georgia"/>
            </a:endParaRPr>
          </a:p>
        </p:txBody>
      </p:sp>
      <p:sp>
        <p:nvSpPr>
          <p:cNvPr id="242" name="Google Shape;242;p12"/>
          <p:cNvSpPr txBox="1"/>
          <p:nvPr/>
        </p:nvSpPr>
        <p:spPr>
          <a:xfrm>
            <a:off x="548640" y="1841500"/>
            <a:ext cx="7810500" cy="7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rgbClr val="5A6D60"/>
                </a:solidFill>
                <a:latin typeface="Nunito Sans"/>
                <a:ea typeface="Nunito Sans"/>
                <a:cs typeface="Nunito Sans"/>
                <a:sym typeface="Nunito Sans"/>
              </a:rPr>
              <a:t>Negative area comments recovered in held-out folds (recall)</a:t>
            </a:r>
            <a:endParaRPr sz="1700">
              <a:solidFill>
                <a:srgbClr val="5A6D60"/>
              </a:solidFill>
              <a:latin typeface="Nunito Sans"/>
              <a:ea typeface="Nunito Sans"/>
              <a:cs typeface="Nunito Sans"/>
              <a:sym typeface="Nunito Sans"/>
            </a:endParaRPr>
          </a:p>
        </p:txBody>
      </p:sp>
      <p:sp>
        <p:nvSpPr>
          <p:cNvPr id="243" name="Google Shape;243;p12"/>
          <p:cNvSpPr txBox="1"/>
          <p:nvPr/>
        </p:nvSpPr>
        <p:spPr>
          <a:xfrm>
            <a:off x="548640" y="2870200"/>
            <a:ext cx="2705100" cy="736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2200">
                <a:solidFill>
                  <a:srgbClr val="183E35"/>
                </a:solidFill>
                <a:latin typeface="Nunito Sans"/>
                <a:ea typeface="Nunito Sans"/>
                <a:cs typeface="Nunito Sans"/>
                <a:sym typeface="Nunito Sans"/>
              </a:rPr>
              <a:t>Keyword rules</a:t>
            </a:r>
            <a:endParaRPr sz="2200">
              <a:solidFill>
                <a:srgbClr val="183E35"/>
              </a:solidFill>
              <a:latin typeface="Nunito Sans"/>
              <a:ea typeface="Nunito Sans"/>
              <a:cs typeface="Nunito Sans"/>
              <a:sym typeface="Nunito Sans"/>
            </a:endParaRPr>
          </a:p>
        </p:txBody>
      </p:sp>
      <p:sp>
        <p:nvSpPr>
          <p:cNvPr id="244" name="Google Shape;244;p12"/>
          <p:cNvSpPr/>
          <p:nvPr/>
        </p:nvSpPr>
        <p:spPr>
          <a:xfrm>
            <a:off x="3352800" y="2971800"/>
            <a:ext cx="688800" cy="546000"/>
          </a:xfrm>
          <a:prstGeom prst="rect">
            <a:avLst/>
          </a:prstGeom>
          <a:solidFill>
            <a:srgbClr val="B9C2B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5" name="Google Shape;245;p12"/>
          <p:cNvSpPr txBox="1"/>
          <p:nvPr/>
        </p:nvSpPr>
        <p:spPr>
          <a:xfrm>
            <a:off x="4143332" y="2933700"/>
            <a:ext cx="1016100" cy="7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800">
                <a:solidFill>
                  <a:srgbClr val="183E35"/>
                </a:solidFill>
                <a:latin typeface="Nunito Sans"/>
                <a:ea typeface="Nunito Sans"/>
                <a:cs typeface="Nunito Sans"/>
                <a:sym typeface="Nunito Sans"/>
              </a:rPr>
              <a:t>16%</a:t>
            </a:r>
            <a:endParaRPr b="1" sz="2800">
              <a:solidFill>
                <a:srgbClr val="183E35"/>
              </a:solidFill>
              <a:latin typeface="Nunito Sans"/>
              <a:ea typeface="Nunito Sans"/>
              <a:cs typeface="Nunito Sans"/>
              <a:sym typeface="Nunito Sans"/>
            </a:endParaRPr>
          </a:p>
        </p:txBody>
      </p:sp>
      <p:sp>
        <p:nvSpPr>
          <p:cNvPr id="246" name="Google Shape;246;p12"/>
          <p:cNvSpPr txBox="1"/>
          <p:nvPr/>
        </p:nvSpPr>
        <p:spPr>
          <a:xfrm>
            <a:off x="548640" y="4038600"/>
            <a:ext cx="2705100" cy="736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2200">
                <a:solidFill>
                  <a:srgbClr val="183E35"/>
                </a:solidFill>
                <a:latin typeface="Nunito Sans"/>
                <a:ea typeface="Nunito Sans"/>
                <a:cs typeface="Nunito Sans"/>
                <a:sym typeface="Nunito Sans"/>
              </a:rPr>
              <a:t>BERT classifier</a:t>
            </a:r>
            <a:endParaRPr sz="2200">
              <a:solidFill>
                <a:srgbClr val="183E35"/>
              </a:solidFill>
              <a:latin typeface="Nunito Sans"/>
              <a:ea typeface="Nunito Sans"/>
              <a:cs typeface="Nunito Sans"/>
              <a:sym typeface="Nunito Sans"/>
            </a:endParaRPr>
          </a:p>
        </p:txBody>
      </p:sp>
      <p:sp>
        <p:nvSpPr>
          <p:cNvPr id="247" name="Google Shape;247;p12"/>
          <p:cNvSpPr/>
          <p:nvPr/>
        </p:nvSpPr>
        <p:spPr>
          <a:xfrm>
            <a:off x="3352800" y="4140200"/>
            <a:ext cx="2928000" cy="546000"/>
          </a:xfrm>
          <a:prstGeom prst="rect">
            <a:avLst/>
          </a:prstGeom>
          <a:solidFill>
            <a:srgbClr val="245C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 name="Google Shape;248;p12"/>
          <p:cNvSpPr txBox="1"/>
          <p:nvPr/>
        </p:nvSpPr>
        <p:spPr>
          <a:xfrm>
            <a:off x="6382359" y="4102100"/>
            <a:ext cx="1016100" cy="7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800">
                <a:solidFill>
                  <a:srgbClr val="183E35"/>
                </a:solidFill>
                <a:latin typeface="Nunito Sans"/>
                <a:ea typeface="Nunito Sans"/>
                <a:cs typeface="Nunito Sans"/>
                <a:sym typeface="Nunito Sans"/>
              </a:rPr>
              <a:t>70%</a:t>
            </a:r>
            <a:endParaRPr b="1" sz="2800">
              <a:solidFill>
                <a:srgbClr val="183E35"/>
              </a:solidFill>
              <a:latin typeface="Nunito Sans"/>
              <a:ea typeface="Nunito Sans"/>
              <a:cs typeface="Nunito Sans"/>
              <a:sym typeface="Nunito Sans"/>
            </a:endParaRPr>
          </a:p>
        </p:txBody>
      </p:sp>
      <p:sp>
        <p:nvSpPr>
          <p:cNvPr id="249" name="Google Shape;249;p12"/>
          <p:cNvSpPr/>
          <p:nvPr/>
        </p:nvSpPr>
        <p:spPr>
          <a:xfrm>
            <a:off x="3340100" y="2768600"/>
            <a:ext cx="15300" cy="2006700"/>
          </a:xfrm>
          <a:prstGeom prst="rect">
            <a:avLst/>
          </a:prstGeom>
          <a:solidFill>
            <a:srgbClr val="BFBF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0" name="Google Shape;250;p12"/>
          <p:cNvSpPr txBox="1"/>
          <p:nvPr/>
        </p:nvSpPr>
        <p:spPr>
          <a:xfrm>
            <a:off x="548640" y="5461000"/>
            <a:ext cx="7810500" cy="6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rgbClr val="183E35"/>
                </a:solidFill>
                <a:latin typeface="Nunito Sans"/>
                <a:ea typeface="Nunito Sans"/>
                <a:cs typeface="Nunito Sans"/>
                <a:sym typeface="Nunito Sans"/>
              </a:rPr>
              <a:t>51 of 73 complaints recovered · 42% precision.</a:t>
            </a:r>
            <a:endParaRPr sz="17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700">
                <a:solidFill>
                  <a:srgbClr val="183E35"/>
                </a:solidFill>
                <a:latin typeface="Nunito Sans"/>
                <a:ea typeface="Nunito Sans"/>
                <a:cs typeface="Nunito Sans"/>
                <a:sym typeface="Nunito Sans"/>
              </a:rPr>
              <a:t>The app still uses the rules.</a:t>
            </a:r>
            <a:endParaRPr sz="1700">
              <a:solidFill>
                <a:srgbClr val="183E35"/>
              </a:solidFill>
              <a:latin typeface="Nunito Sans"/>
              <a:ea typeface="Nunito Sans"/>
              <a:cs typeface="Nunito Sans"/>
              <a:sym typeface="Nunito Sans"/>
            </a:endParaRPr>
          </a:p>
        </p:txBody>
      </p:sp>
      <p:sp>
        <p:nvSpPr>
          <p:cNvPr id="251" name="Google Shape;251;p12"/>
          <p:cNvSpPr txBox="1"/>
          <p:nvPr/>
        </p:nvSpPr>
        <p:spPr>
          <a:xfrm>
            <a:off x="548640" y="101600"/>
            <a:ext cx="110490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5A6D60"/>
                </a:solidFill>
                <a:latin typeface="Nunito Sans"/>
                <a:ea typeface="Nunito Sans"/>
                <a:cs typeface="Nunito Sans"/>
                <a:sym typeface="Nunito Sans"/>
              </a:rPr>
              <a:t>PIPELINE / 04 · CHECK THE EXTRACTION</a:t>
            </a:r>
            <a:endParaRPr b="1" sz="1100">
              <a:solidFill>
                <a:srgbClr val="5A6D60"/>
              </a:solidFill>
              <a:latin typeface="Nunito Sans"/>
              <a:ea typeface="Nunito Sans"/>
              <a:cs typeface="Nunito Sans"/>
              <a:sym typeface="Nunito Sans"/>
            </a:endParaRPr>
          </a:p>
        </p:txBody>
      </p:sp>
      <p:sp>
        <p:nvSpPr>
          <p:cNvPr id="252" name="Google Shape;252;p12"/>
          <p:cNvSpPr txBox="1"/>
          <p:nvPr/>
        </p:nvSpPr>
        <p:spPr>
          <a:xfrm>
            <a:off x="3238500" y="4978400"/>
            <a:ext cx="8256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5A6D60"/>
                </a:solidFill>
                <a:latin typeface="Nunito Sans"/>
                <a:ea typeface="Nunito Sans"/>
                <a:cs typeface="Nunito Sans"/>
                <a:sym typeface="Nunito Sans"/>
              </a:rPr>
              <a:t>0%</a:t>
            </a:r>
            <a:endParaRPr>
              <a:solidFill>
                <a:srgbClr val="5A6D60"/>
              </a:solidFill>
              <a:latin typeface="Nunito Sans"/>
              <a:ea typeface="Nunito Sans"/>
              <a:cs typeface="Nunito Sans"/>
              <a:sym typeface="Nunito Sans"/>
            </a:endParaRPr>
          </a:p>
        </p:txBody>
      </p:sp>
      <p:sp>
        <p:nvSpPr>
          <p:cNvPr id="253" name="Google Shape;253;p12"/>
          <p:cNvSpPr txBox="1"/>
          <p:nvPr/>
        </p:nvSpPr>
        <p:spPr>
          <a:xfrm>
            <a:off x="7213600" y="4978400"/>
            <a:ext cx="8256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5A6D60"/>
                </a:solidFill>
                <a:latin typeface="Nunito Sans"/>
                <a:ea typeface="Nunito Sans"/>
                <a:cs typeface="Nunito Sans"/>
                <a:sym typeface="Nunito Sans"/>
              </a:rPr>
              <a:t>100%</a:t>
            </a:r>
            <a:endParaRPr>
              <a:solidFill>
                <a:srgbClr val="5A6D60"/>
              </a:solidFill>
              <a:latin typeface="Nunito Sans"/>
              <a:ea typeface="Nunito Sans"/>
              <a:cs typeface="Nunito Sans"/>
              <a:sym typeface="Nunito Sans"/>
            </a:endParaRPr>
          </a:p>
        </p:txBody>
      </p:sp>
      <p:sp>
        <p:nvSpPr>
          <p:cNvPr id="254" name="Google Shape;254;p12"/>
          <p:cNvSpPr/>
          <p:nvPr/>
        </p:nvSpPr>
        <p:spPr>
          <a:xfrm>
            <a:off x="8763000" y="1701800"/>
            <a:ext cx="2883000" cy="4140300"/>
          </a:xfrm>
          <a:prstGeom prst="roundRect">
            <a:avLst>
              <a:gd fmla="val 16667" name="adj"/>
            </a:avLst>
          </a:prstGeom>
          <a:solidFill>
            <a:srgbClr val="EBF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5" name="Google Shape;255;p12"/>
          <p:cNvSpPr txBox="1"/>
          <p:nvPr/>
        </p:nvSpPr>
        <p:spPr>
          <a:xfrm>
            <a:off x="8940800" y="1866900"/>
            <a:ext cx="2502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rgbClr val="5A6D60"/>
                </a:solidFill>
                <a:latin typeface="Nunito Sans"/>
                <a:ea typeface="Nunito Sans"/>
                <a:cs typeface="Nunito Sans"/>
                <a:sym typeface="Nunito Sans"/>
              </a:rPr>
              <a:t>TECHNICAL CHOICES</a:t>
            </a:r>
            <a:endParaRPr b="1" sz="1200">
              <a:solidFill>
                <a:srgbClr val="5A6D60"/>
              </a:solidFill>
              <a:latin typeface="Nunito Sans"/>
              <a:ea typeface="Nunito Sans"/>
              <a:cs typeface="Nunito Sans"/>
              <a:sym typeface="Nunito Sans"/>
            </a:endParaRPr>
          </a:p>
        </p:txBody>
      </p:sp>
      <p:sp>
        <p:nvSpPr>
          <p:cNvPr id="256" name="Google Shape;256;p12"/>
          <p:cNvSpPr txBox="1"/>
          <p:nvPr/>
        </p:nvSpPr>
        <p:spPr>
          <a:xfrm>
            <a:off x="8940800" y="2247900"/>
            <a:ext cx="3000000" cy="30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Embedding classifier</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MiniLM + balanced</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logistic regression.</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Grouped folds</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5 train/test splits;</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businesses stay separate.</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Recall</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True complaints found.</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Precision</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Flagged comments that</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are true complaints.</a:t>
            </a:r>
            <a:endParaRPr sz="1500">
              <a:solidFill>
                <a:srgbClr val="183E35"/>
              </a:solidFill>
              <a:latin typeface="Nunito Sans"/>
              <a:ea typeface="Nunito Sans"/>
              <a:cs typeface="Nunito Sans"/>
              <a:sym typeface="Nuni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6"/>
        </a:solidFill>
      </p:bgPr>
    </p:bg>
    <p:spTree>
      <p:nvGrpSpPr>
        <p:cNvPr id="261" name="Shape 261"/>
        <p:cNvGrpSpPr/>
        <p:nvPr/>
      </p:nvGrpSpPr>
      <p:grpSpPr>
        <a:xfrm>
          <a:off x="0" y="0"/>
          <a:ext cx="0" cy="0"/>
          <a:chOff x="0" y="0"/>
          <a:chExt cx="0" cy="0"/>
        </a:xfrm>
      </p:grpSpPr>
      <p:sp>
        <p:nvSpPr>
          <p:cNvPr id="262" name="Google Shape;262;p13"/>
          <p:cNvSpPr txBox="1"/>
          <p:nvPr/>
        </p:nvSpPr>
        <p:spPr>
          <a:xfrm>
            <a:off x="11094415" y="6355080"/>
            <a:ext cx="548700" cy="384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100">
                <a:solidFill>
                  <a:srgbClr val="5A6D60"/>
                </a:solidFill>
                <a:latin typeface="Nunito Sans"/>
                <a:ea typeface="Nunito Sans"/>
                <a:cs typeface="Nunito Sans"/>
                <a:sym typeface="Nunito Sans"/>
              </a:rPr>
              <a:t>11</a:t>
            </a:r>
            <a:endParaRPr sz="1100">
              <a:solidFill>
                <a:srgbClr val="5A6D60"/>
              </a:solidFill>
              <a:latin typeface="Nunito Sans"/>
              <a:ea typeface="Nunito Sans"/>
              <a:cs typeface="Nunito Sans"/>
              <a:sym typeface="Nunito Sans"/>
            </a:endParaRPr>
          </a:p>
        </p:txBody>
      </p:sp>
      <p:sp>
        <p:nvSpPr>
          <p:cNvPr id="263" name="Google Shape;263;p13"/>
          <p:cNvSpPr txBox="1"/>
          <p:nvPr/>
        </p:nvSpPr>
        <p:spPr>
          <a:xfrm>
            <a:off x="548640" y="411480"/>
            <a:ext cx="110943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83E35"/>
                </a:solidFill>
                <a:latin typeface="Georgia"/>
                <a:ea typeface="Georgia"/>
                <a:cs typeface="Georgia"/>
                <a:sym typeface="Georgia"/>
              </a:rPr>
              <a:t>Turn review counts and scores into area measures</a:t>
            </a:r>
            <a:endParaRPr b="1" sz="3200">
              <a:solidFill>
                <a:srgbClr val="183E35"/>
              </a:solidFill>
              <a:latin typeface="Georgia"/>
              <a:ea typeface="Georgia"/>
              <a:cs typeface="Georgia"/>
              <a:sym typeface="Georgia"/>
            </a:endParaRPr>
          </a:p>
        </p:txBody>
      </p:sp>
      <p:sp>
        <p:nvSpPr>
          <p:cNvPr id="264" name="Google Shape;264;p13"/>
          <p:cNvSpPr txBox="1"/>
          <p:nvPr/>
        </p:nvSpPr>
        <p:spPr>
          <a:xfrm>
            <a:off x="548640" y="1600200"/>
            <a:ext cx="7810500" cy="6222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1200"/>
              </a:spcAft>
              <a:buNone/>
            </a:pPr>
            <a:r>
              <a:rPr lang="en-US" sz="2000">
                <a:solidFill>
                  <a:srgbClr val="183E35"/>
                </a:solidFill>
                <a:latin typeface="Nunito Sans"/>
                <a:ea typeface="Nunito Sans"/>
                <a:cs typeface="Nunito Sans"/>
                <a:sym typeface="Nunito Sans"/>
              </a:rPr>
              <a:t>Use counts and score sums to weight each review equally.</a:t>
            </a:r>
            <a:endParaRPr sz="2000">
              <a:solidFill>
                <a:srgbClr val="183E35"/>
              </a:solidFill>
              <a:latin typeface="Nunito Sans"/>
              <a:ea typeface="Nunito Sans"/>
              <a:cs typeface="Nunito Sans"/>
              <a:sym typeface="Nunito Sans"/>
            </a:endParaRPr>
          </a:p>
        </p:txBody>
      </p:sp>
      <p:sp>
        <p:nvSpPr>
          <p:cNvPr id="265" name="Google Shape;265;p13"/>
          <p:cNvSpPr/>
          <p:nvPr/>
        </p:nvSpPr>
        <p:spPr>
          <a:xfrm>
            <a:off x="548640" y="5575300"/>
            <a:ext cx="7810500" cy="584100"/>
          </a:xfrm>
          <a:prstGeom prst="roundRect">
            <a:avLst>
              <a:gd fmla="val 16667" name="adj"/>
            </a:avLst>
          </a:prstGeom>
          <a:solidFill>
            <a:srgbClr val="E6EC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6" name="Google Shape;266;p13"/>
          <p:cNvSpPr txBox="1"/>
          <p:nvPr/>
        </p:nvSpPr>
        <p:spPr>
          <a:xfrm>
            <a:off x="698500" y="5689600"/>
            <a:ext cx="74931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solidFill>
                  <a:srgbClr val="183E35"/>
                </a:solidFill>
                <a:latin typeface="Georgia"/>
                <a:ea typeface="Georgia"/>
                <a:cs typeface="Georgia"/>
                <a:sym typeface="Georgia"/>
              </a:rPr>
              <a:t>Limited data remains missing, not a measured zero.</a:t>
            </a:r>
            <a:endParaRPr b="1" sz="1700">
              <a:solidFill>
                <a:srgbClr val="183E35"/>
              </a:solidFill>
              <a:latin typeface="Georgia"/>
              <a:ea typeface="Georgia"/>
              <a:cs typeface="Georgia"/>
              <a:sym typeface="Georgia"/>
            </a:endParaRPr>
          </a:p>
        </p:txBody>
      </p:sp>
      <p:sp>
        <p:nvSpPr>
          <p:cNvPr id="267" name="Google Shape;267;p13"/>
          <p:cNvSpPr txBox="1"/>
          <p:nvPr/>
        </p:nvSpPr>
        <p:spPr>
          <a:xfrm>
            <a:off x="548640" y="101600"/>
            <a:ext cx="110490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5A6D60"/>
                </a:solidFill>
                <a:latin typeface="Nunito Sans"/>
                <a:ea typeface="Nunito Sans"/>
                <a:cs typeface="Nunito Sans"/>
                <a:sym typeface="Nunito Sans"/>
              </a:rPr>
              <a:t>PIPELINE / 05 · AGGREGATE AT ZIP LEVEL</a:t>
            </a:r>
            <a:endParaRPr b="1" sz="1100">
              <a:solidFill>
                <a:srgbClr val="5A6D60"/>
              </a:solidFill>
              <a:latin typeface="Nunito Sans"/>
              <a:ea typeface="Nunito Sans"/>
              <a:cs typeface="Nunito Sans"/>
              <a:sym typeface="Nunito Sans"/>
            </a:endParaRPr>
          </a:p>
        </p:txBody>
      </p:sp>
      <p:sp>
        <p:nvSpPr>
          <p:cNvPr id="268" name="Google Shape;268;p13"/>
          <p:cNvSpPr txBox="1"/>
          <p:nvPr/>
        </p:nvSpPr>
        <p:spPr>
          <a:xfrm>
            <a:off x="548640" y="2336800"/>
            <a:ext cx="1943100" cy="46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rgbClr val="5A6D60"/>
                </a:solidFill>
                <a:latin typeface="Nunito Sans"/>
                <a:ea typeface="Nunito Sans"/>
                <a:cs typeface="Nunito Sans"/>
                <a:sym typeface="Nunito Sans"/>
              </a:rPr>
              <a:t>ACCESS MENTIONS</a:t>
            </a:r>
            <a:endParaRPr b="1" sz="1200">
              <a:solidFill>
                <a:srgbClr val="5A6D60"/>
              </a:solidFill>
              <a:latin typeface="Nunito Sans"/>
              <a:ea typeface="Nunito Sans"/>
              <a:cs typeface="Nunito Sans"/>
              <a:sym typeface="Nunito Sans"/>
            </a:endParaRPr>
          </a:p>
        </p:txBody>
      </p:sp>
      <p:sp>
        <p:nvSpPr>
          <p:cNvPr id="269" name="Google Shape;269;p13"/>
          <p:cNvSpPr txBox="1"/>
          <p:nvPr/>
        </p:nvSpPr>
        <p:spPr>
          <a:xfrm>
            <a:off x="2603500" y="2286000"/>
            <a:ext cx="57531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245C49"/>
                </a:solidFill>
                <a:latin typeface="Georgia"/>
                <a:ea typeface="Georgia"/>
                <a:cs typeface="Georgia"/>
                <a:sym typeface="Georgia"/>
              </a:rPr>
              <a:t>56 ÷ 1,702 × 100 = 3.3%</a:t>
            </a:r>
            <a:endParaRPr b="1" sz="2100">
              <a:solidFill>
                <a:srgbClr val="245C49"/>
              </a:solidFill>
              <a:latin typeface="Georgia"/>
              <a:ea typeface="Georgia"/>
              <a:cs typeface="Georgia"/>
              <a:sym typeface="Georgia"/>
            </a:endParaRPr>
          </a:p>
        </p:txBody>
      </p:sp>
      <p:sp>
        <p:nvSpPr>
          <p:cNvPr id="270" name="Google Shape;270;p13"/>
          <p:cNvSpPr txBox="1"/>
          <p:nvPr/>
        </p:nvSpPr>
        <p:spPr>
          <a:xfrm>
            <a:off x="2603500" y="2819400"/>
            <a:ext cx="5753100" cy="66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ZIP 19134, 2019–21; praise and complaints count.</a:t>
            </a:r>
            <a:endParaRPr sz="1500">
              <a:solidFill>
                <a:srgbClr val="183E35"/>
              </a:solidFill>
              <a:latin typeface="Nunito Sans"/>
              <a:ea typeface="Nunito Sans"/>
              <a:cs typeface="Nunito Sans"/>
              <a:sym typeface="Nunito Sans"/>
            </a:endParaRPr>
          </a:p>
        </p:txBody>
      </p:sp>
      <p:sp>
        <p:nvSpPr>
          <p:cNvPr id="271" name="Google Shape;271;p13"/>
          <p:cNvSpPr txBox="1"/>
          <p:nvPr/>
        </p:nvSpPr>
        <p:spPr>
          <a:xfrm>
            <a:off x="548640" y="3378200"/>
            <a:ext cx="1943100" cy="46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rgbClr val="5A6D60"/>
                </a:solidFill>
                <a:latin typeface="Nunito Sans"/>
                <a:ea typeface="Nunito Sans"/>
                <a:cs typeface="Nunito Sans"/>
                <a:sym typeface="Nunito Sans"/>
              </a:rPr>
              <a:t>REVIEW ACTIVITY</a:t>
            </a:r>
            <a:endParaRPr b="1" sz="1200">
              <a:solidFill>
                <a:srgbClr val="5A6D60"/>
              </a:solidFill>
              <a:latin typeface="Nunito Sans"/>
              <a:ea typeface="Nunito Sans"/>
              <a:cs typeface="Nunito Sans"/>
              <a:sym typeface="Nunito Sans"/>
            </a:endParaRPr>
          </a:p>
        </p:txBody>
      </p:sp>
      <p:sp>
        <p:nvSpPr>
          <p:cNvPr id="272" name="Google Shape;272;p13"/>
          <p:cNvSpPr txBox="1"/>
          <p:nvPr/>
        </p:nvSpPr>
        <p:spPr>
          <a:xfrm>
            <a:off x="2603500" y="3327400"/>
            <a:ext cx="57531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245C49"/>
                </a:solidFill>
                <a:latin typeface="Georgia"/>
                <a:ea typeface="Georgia"/>
                <a:cs typeface="Georgia"/>
                <a:sym typeface="Georgia"/>
              </a:rPr>
              <a:t>reviews ÷ years ÷ km²</a:t>
            </a:r>
            <a:endParaRPr b="1" sz="2100">
              <a:solidFill>
                <a:srgbClr val="245C49"/>
              </a:solidFill>
              <a:latin typeface="Georgia"/>
              <a:ea typeface="Georgia"/>
              <a:cs typeface="Georgia"/>
              <a:sym typeface="Georgia"/>
            </a:endParaRPr>
          </a:p>
        </p:txBody>
      </p:sp>
      <p:sp>
        <p:nvSpPr>
          <p:cNvPr id="273" name="Google Shape;273;p13"/>
          <p:cNvSpPr txBox="1"/>
          <p:nvPr/>
        </p:nvSpPr>
        <p:spPr>
          <a:xfrm>
            <a:off x="2603500" y="3860800"/>
            <a:ext cx="5753100" cy="66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Annual density over the displayed ZCTA, including water.</a:t>
            </a:r>
            <a:endParaRPr sz="1500">
              <a:solidFill>
                <a:srgbClr val="183E35"/>
              </a:solidFill>
              <a:latin typeface="Nunito Sans"/>
              <a:ea typeface="Nunito Sans"/>
              <a:cs typeface="Nunito Sans"/>
              <a:sym typeface="Nunito Sans"/>
            </a:endParaRPr>
          </a:p>
        </p:txBody>
      </p:sp>
      <p:sp>
        <p:nvSpPr>
          <p:cNvPr id="274" name="Google Shape;274;p13"/>
          <p:cNvSpPr txBox="1"/>
          <p:nvPr/>
        </p:nvSpPr>
        <p:spPr>
          <a:xfrm>
            <a:off x="548640" y="4419600"/>
            <a:ext cx="1943100" cy="46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rgbClr val="5A6D60"/>
                </a:solidFill>
                <a:latin typeface="Nunito Sans"/>
                <a:ea typeface="Nunito Sans"/>
                <a:cs typeface="Nunito Sans"/>
                <a:sym typeface="Nunito Sans"/>
              </a:rPr>
              <a:t>RELATIVE SENTIMENT</a:t>
            </a:r>
            <a:endParaRPr b="1" sz="1200">
              <a:solidFill>
                <a:srgbClr val="5A6D60"/>
              </a:solidFill>
              <a:latin typeface="Nunito Sans"/>
              <a:ea typeface="Nunito Sans"/>
              <a:cs typeface="Nunito Sans"/>
              <a:sym typeface="Nunito Sans"/>
            </a:endParaRPr>
          </a:p>
        </p:txBody>
      </p:sp>
      <p:sp>
        <p:nvSpPr>
          <p:cNvPr id="275" name="Google Shape;275;p13"/>
          <p:cNvSpPr txBox="1"/>
          <p:nvPr/>
        </p:nvSpPr>
        <p:spPr>
          <a:xfrm>
            <a:off x="2603500" y="4368800"/>
            <a:ext cx="57531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245C49"/>
                </a:solidFill>
                <a:latin typeface="Georgia"/>
                <a:ea typeface="Georgia"/>
                <a:cs typeface="Georgia"/>
                <a:sym typeface="Georgia"/>
              </a:rPr>
              <a:t>ZIP change − comparison change</a:t>
            </a:r>
            <a:endParaRPr b="1" sz="2100">
              <a:solidFill>
                <a:srgbClr val="245C49"/>
              </a:solidFill>
              <a:latin typeface="Georgia"/>
              <a:ea typeface="Georgia"/>
              <a:cs typeface="Georgia"/>
              <a:sym typeface="Georgia"/>
            </a:endParaRPr>
          </a:p>
        </p:txBody>
      </p:sp>
      <p:sp>
        <p:nvSpPr>
          <p:cNvPr id="276" name="Google Shape;276;p13"/>
          <p:cNvSpPr txBox="1"/>
          <p:nvPr/>
        </p:nvSpPr>
        <p:spPr>
          <a:xfrm>
            <a:off x="2603500" y="4902200"/>
            <a:ext cx="5753100" cy="66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Review-weighted VADER; exclude this ZIP from its comparison.</a:t>
            </a:r>
            <a:endParaRPr sz="1500">
              <a:solidFill>
                <a:srgbClr val="183E35"/>
              </a:solidFill>
              <a:latin typeface="Nunito Sans"/>
              <a:ea typeface="Nunito Sans"/>
              <a:cs typeface="Nunito Sans"/>
              <a:sym typeface="Nunito Sans"/>
            </a:endParaRPr>
          </a:p>
        </p:txBody>
      </p:sp>
      <p:sp>
        <p:nvSpPr>
          <p:cNvPr id="277" name="Google Shape;277;p13"/>
          <p:cNvSpPr/>
          <p:nvPr/>
        </p:nvSpPr>
        <p:spPr>
          <a:xfrm>
            <a:off x="8763000" y="1701800"/>
            <a:ext cx="2883000" cy="4140300"/>
          </a:xfrm>
          <a:prstGeom prst="roundRect">
            <a:avLst>
              <a:gd fmla="val 16667" name="adj"/>
            </a:avLst>
          </a:prstGeom>
          <a:solidFill>
            <a:srgbClr val="EBF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8" name="Google Shape;278;p13"/>
          <p:cNvSpPr txBox="1"/>
          <p:nvPr/>
        </p:nvSpPr>
        <p:spPr>
          <a:xfrm>
            <a:off x="8940800" y="1866900"/>
            <a:ext cx="2502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rgbClr val="5A6D60"/>
                </a:solidFill>
                <a:latin typeface="Nunito Sans"/>
                <a:ea typeface="Nunito Sans"/>
                <a:cs typeface="Nunito Sans"/>
                <a:sym typeface="Nunito Sans"/>
              </a:rPr>
              <a:t>TECHNICAL CHOICES</a:t>
            </a:r>
            <a:endParaRPr b="1" sz="1200">
              <a:solidFill>
                <a:srgbClr val="5A6D60"/>
              </a:solidFill>
              <a:latin typeface="Nunito Sans"/>
              <a:ea typeface="Nunito Sans"/>
              <a:cs typeface="Nunito Sans"/>
              <a:sym typeface="Nunito Sans"/>
            </a:endParaRPr>
          </a:p>
        </p:txBody>
      </p:sp>
      <p:sp>
        <p:nvSpPr>
          <p:cNvPr id="279" name="Google Shape;279;p13"/>
          <p:cNvSpPr txBox="1"/>
          <p:nvPr/>
        </p:nvSpPr>
        <p:spPr>
          <a:xfrm>
            <a:off x="8940800" y="2247900"/>
            <a:ext cx="3000000" cy="30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Weighted mean</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Score sum divided by</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review count.</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Density</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Reviews per year per km².</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Comparison change</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Subtract the change in</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the rest of the metro.</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Support threshold</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100 reviews per required</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period; otherwise missing.</a:t>
            </a:r>
            <a:endParaRPr sz="1500">
              <a:solidFill>
                <a:srgbClr val="183E35"/>
              </a:solidFill>
              <a:latin typeface="Nunito Sans"/>
              <a:ea typeface="Nunito Sans"/>
              <a:cs typeface="Nunito Sans"/>
              <a:sym typeface="Nunito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6"/>
        </a:solidFill>
      </p:bgPr>
    </p:bg>
    <p:spTree>
      <p:nvGrpSpPr>
        <p:cNvPr id="284" name="Shape 284"/>
        <p:cNvGrpSpPr/>
        <p:nvPr/>
      </p:nvGrpSpPr>
      <p:grpSpPr>
        <a:xfrm>
          <a:off x="0" y="0"/>
          <a:ext cx="0" cy="0"/>
          <a:chOff x="0" y="0"/>
          <a:chExt cx="0" cy="0"/>
        </a:xfrm>
      </p:grpSpPr>
      <p:sp>
        <p:nvSpPr>
          <p:cNvPr id="285" name="Google Shape;285;p14"/>
          <p:cNvSpPr txBox="1"/>
          <p:nvPr/>
        </p:nvSpPr>
        <p:spPr>
          <a:xfrm>
            <a:off x="11094415" y="6355080"/>
            <a:ext cx="548700" cy="384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100">
                <a:solidFill>
                  <a:srgbClr val="5A6D60"/>
                </a:solidFill>
                <a:latin typeface="Nunito Sans"/>
                <a:ea typeface="Nunito Sans"/>
                <a:cs typeface="Nunito Sans"/>
                <a:sym typeface="Nunito Sans"/>
              </a:rPr>
              <a:t>12</a:t>
            </a:r>
            <a:endParaRPr sz="1100">
              <a:solidFill>
                <a:srgbClr val="5A6D60"/>
              </a:solidFill>
              <a:latin typeface="Nunito Sans"/>
              <a:ea typeface="Nunito Sans"/>
              <a:cs typeface="Nunito Sans"/>
              <a:sym typeface="Nunito Sans"/>
            </a:endParaRPr>
          </a:p>
        </p:txBody>
      </p:sp>
      <p:sp>
        <p:nvSpPr>
          <p:cNvPr id="286" name="Google Shape;286;p14"/>
          <p:cNvSpPr txBox="1"/>
          <p:nvPr/>
        </p:nvSpPr>
        <p:spPr>
          <a:xfrm>
            <a:off x="548640" y="411480"/>
            <a:ext cx="110943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83E35"/>
                </a:solidFill>
                <a:latin typeface="Georgia"/>
                <a:ea typeface="Georgia"/>
                <a:cs typeface="Georgia"/>
                <a:sym typeface="Georgia"/>
              </a:rPr>
              <a:t>Compare nearby change with the surrounding trend</a:t>
            </a:r>
            <a:endParaRPr b="1" sz="3200">
              <a:solidFill>
                <a:srgbClr val="183E35"/>
              </a:solidFill>
              <a:latin typeface="Georgia"/>
              <a:ea typeface="Georgia"/>
              <a:cs typeface="Georgia"/>
              <a:sym typeface="Georgia"/>
            </a:endParaRPr>
          </a:p>
        </p:txBody>
      </p:sp>
      <p:sp>
        <p:nvSpPr>
          <p:cNvPr id="287" name="Google Shape;287;p14"/>
          <p:cNvSpPr txBox="1"/>
          <p:nvPr/>
        </p:nvSpPr>
        <p:spPr>
          <a:xfrm>
            <a:off x="548640" y="2628900"/>
            <a:ext cx="78105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5A6D60"/>
                </a:solidFill>
                <a:latin typeface="Nunito Sans"/>
                <a:ea typeface="Nunito Sans"/>
                <a:cs typeface="Nunito Sans"/>
                <a:sym typeface="Nunito Sans"/>
              </a:rPr>
              <a:t>Sun Link · two years before and two years after opening</a:t>
            </a:r>
            <a:endParaRPr>
              <a:solidFill>
                <a:srgbClr val="5A6D60"/>
              </a:solidFill>
              <a:latin typeface="Nunito Sans"/>
              <a:ea typeface="Nunito Sans"/>
              <a:cs typeface="Nunito Sans"/>
              <a:sym typeface="Nunito Sans"/>
            </a:endParaRPr>
          </a:p>
        </p:txBody>
      </p:sp>
      <p:sp>
        <p:nvSpPr>
          <p:cNvPr id="288" name="Google Shape;288;p14"/>
          <p:cNvSpPr/>
          <p:nvPr/>
        </p:nvSpPr>
        <p:spPr>
          <a:xfrm>
            <a:off x="1463040" y="4898957"/>
            <a:ext cx="868800" cy="216600"/>
          </a:xfrm>
          <a:prstGeom prst="rect">
            <a:avLst/>
          </a:prstGeom>
          <a:solidFill>
            <a:srgbClr val="245C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9" name="Google Shape;289;p14"/>
          <p:cNvSpPr txBox="1"/>
          <p:nvPr/>
        </p:nvSpPr>
        <p:spPr>
          <a:xfrm>
            <a:off x="1188720" y="4598119"/>
            <a:ext cx="1417200" cy="40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a:solidFill>
                  <a:srgbClr val="183E35"/>
                </a:solidFill>
                <a:latin typeface="Nunito Sans"/>
                <a:ea typeface="Nunito Sans"/>
                <a:cs typeface="Nunito Sans"/>
                <a:sym typeface="Nunito Sans"/>
              </a:rPr>
              <a:t>3,807</a:t>
            </a:r>
            <a:endParaRPr b="1">
              <a:solidFill>
                <a:srgbClr val="183E35"/>
              </a:solidFill>
              <a:latin typeface="Nunito Sans"/>
              <a:ea typeface="Nunito Sans"/>
              <a:cs typeface="Nunito Sans"/>
              <a:sym typeface="Nunito Sans"/>
            </a:endParaRPr>
          </a:p>
        </p:txBody>
      </p:sp>
      <p:sp>
        <p:nvSpPr>
          <p:cNvPr id="290" name="Google Shape;290;p14"/>
          <p:cNvSpPr txBox="1"/>
          <p:nvPr/>
        </p:nvSpPr>
        <p:spPr>
          <a:xfrm>
            <a:off x="1188720" y="5147564"/>
            <a:ext cx="1417200" cy="40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a:solidFill>
                  <a:srgbClr val="183E35"/>
                </a:solidFill>
                <a:latin typeface="Nunito Sans"/>
                <a:ea typeface="Nunito Sans"/>
                <a:cs typeface="Nunito Sans"/>
                <a:sym typeface="Nunito Sans"/>
              </a:rPr>
              <a:t>Near, before</a:t>
            </a:r>
            <a:endParaRPr>
              <a:solidFill>
                <a:srgbClr val="183E35"/>
              </a:solidFill>
              <a:latin typeface="Nunito Sans"/>
              <a:ea typeface="Nunito Sans"/>
              <a:cs typeface="Nunito Sans"/>
              <a:sym typeface="Nunito Sans"/>
            </a:endParaRPr>
          </a:p>
        </p:txBody>
      </p:sp>
      <p:sp>
        <p:nvSpPr>
          <p:cNvPr id="291" name="Google Shape;291;p14"/>
          <p:cNvSpPr/>
          <p:nvPr/>
        </p:nvSpPr>
        <p:spPr>
          <a:xfrm>
            <a:off x="2651760" y="4549047"/>
            <a:ext cx="868800" cy="566700"/>
          </a:xfrm>
          <a:prstGeom prst="rect">
            <a:avLst/>
          </a:prstGeom>
          <a:solidFill>
            <a:srgbClr val="B9C2B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2" name="Google Shape;292;p14"/>
          <p:cNvSpPr txBox="1"/>
          <p:nvPr/>
        </p:nvSpPr>
        <p:spPr>
          <a:xfrm>
            <a:off x="2377440" y="4248209"/>
            <a:ext cx="1417200" cy="40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a:solidFill>
                  <a:srgbClr val="183E35"/>
                </a:solidFill>
                <a:latin typeface="Nunito Sans"/>
                <a:ea typeface="Nunito Sans"/>
                <a:cs typeface="Nunito Sans"/>
                <a:sym typeface="Nunito Sans"/>
              </a:rPr>
              <a:t>9,957</a:t>
            </a:r>
            <a:endParaRPr b="1">
              <a:solidFill>
                <a:srgbClr val="183E35"/>
              </a:solidFill>
              <a:latin typeface="Nunito Sans"/>
              <a:ea typeface="Nunito Sans"/>
              <a:cs typeface="Nunito Sans"/>
              <a:sym typeface="Nunito Sans"/>
            </a:endParaRPr>
          </a:p>
        </p:txBody>
      </p:sp>
      <p:sp>
        <p:nvSpPr>
          <p:cNvPr id="293" name="Google Shape;293;p14"/>
          <p:cNvSpPr txBox="1"/>
          <p:nvPr/>
        </p:nvSpPr>
        <p:spPr>
          <a:xfrm>
            <a:off x="2377440" y="5147564"/>
            <a:ext cx="1417200" cy="40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a:solidFill>
                  <a:srgbClr val="183E35"/>
                </a:solidFill>
                <a:latin typeface="Nunito Sans"/>
                <a:ea typeface="Nunito Sans"/>
                <a:cs typeface="Nunito Sans"/>
                <a:sym typeface="Nunito Sans"/>
              </a:rPr>
              <a:t>Ring, before</a:t>
            </a:r>
            <a:endParaRPr>
              <a:solidFill>
                <a:srgbClr val="183E35"/>
              </a:solidFill>
              <a:latin typeface="Nunito Sans"/>
              <a:ea typeface="Nunito Sans"/>
              <a:cs typeface="Nunito Sans"/>
              <a:sym typeface="Nunito Sans"/>
            </a:endParaRPr>
          </a:p>
        </p:txBody>
      </p:sp>
      <p:sp>
        <p:nvSpPr>
          <p:cNvPr id="294" name="Google Shape;294;p14"/>
          <p:cNvSpPr/>
          <p:nvPr/>
        </p:nvSpPr>
        <p:spPr>
          <a:xfrm>
            <a:off x="4389120" y="4492947"/>
            <a:ext cx="868800" cy="622800"/>
          </a:xfrm>
          <a:prstGeom prst="rect">
            <a:avLst/>
          </a:prstGeom>
          <a:solidFill>
            <a:srgbClr val="245C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5" name="Google Shape;295;p14"/>
          <p:cNvSpPr txBox="1"/>
          <p:nvPr/>
        </p:nvSpPr>
        <p:spPr>
          <a:xfrm>
            <a:off x="4114800" y="4143110"/>
            <a:ext cx="1417200" cy="40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a:solidFill>
                  <a:srgbClr val="183E35"/>
                </a:solidFill>
                <a:latin typeface="Nunito Sans"/>
                <a:ea typeface="Nunito Sans"/>
                <a:cs typeface="Nunito Sans"/>
                <a:sym typeface="Nunito Sans"/>
              </a:rPr>
              <a:t>10,943</a:t>
            </a:r>
            <a:endParaRPr b="1">
              <a:solidFill>
                <a:srgbClr val="183E35"/>
              </a:solidFill>
              <a:latin typeface="Nunito Sans"/>
              <a:ea typeface="Nunito Sans"/>
              <a:cs typeface="Nunito Sans"/>
              <a:sym typeface="Nunito Sans"/>
            </a:endParaRPr>
          </a:p>
        </p:txBody>
      </p:sp>
      <p:sp>
        <p:nvSpPr>
          <p:cNvPr id="296" name="Google Shape;296;p14"/>
          <p:cNvSpPr txBox="1"/>
          <p:nvPr/>
        </p:nvSpPr>
        <p:spPr>
          <a:xfrm>
            <a:off x="4114800" y="5147564"/>
            <a:ext cx="1417200" cy="40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a:solidFill>
                  <a:srgbClr val="183E35"/>
                </a:solidFill>
                <a:latin typeface="Nunito Sans"/>
                <a:ea typeface="Nunito Sans"/>
                <a:cs typeface="Nunito Sans"/>
                <a:sym typeface="Nunito Sans"/>
              </a:rPr>
              <a:t>Near, after</a:t>
            </a:r>
            <a:endParaRPr>
              <a:solidFill>
                <a:srgbClr val="183E35"/>
              </a:solidFill>
              <a:latin typeface="Nunito Sans"/>
              <a:ea typeface="Nunito Sans"/>
              <a:cs typeface="Nunito Sans"/>
              <a:sym typeface="Nunito Sans"/>
            </a:endParaRPr>
          </a:p>
        </p:txBody>
      </p:sp>
      <p:sp>
        <p:nvSpPr>
          <p:cNvPr id="297" name="Google Shape;297;p14"/>
          <p:cNvSpPr/>
          <p:nvPr/>
        </p:nvSpPr>
        <p:spPr>
          <a:xfrm>
            <a:off x="5577840" y="3158679"/>
            <a:ext cx="868800" cy="1956900"/>
          </a:xfrm>
          <a:prstGeom prst="rect">
            <a:avLst/>
          </a:prstGeom>
          <a:solidFill>
            <a:srgbClr val="B9C2B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8" name="Google Shape;298;p14"/>
          <p:cNvSpPr txBox="1"/>
          <p:nvPr/>
        </p:nvSpPr>
        <p:spPr>
          <a:xfrm>
            <a:off x="5303520" y="2857842"/>
            <a:ext cx="1417200" cy="40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a:solidFill>
                  <a:srgbClr val="183E35"/>
                </a:solidFill>
                <a:latin typeface="Nunito Sans"/>
                <a:ea typeface="Nunito Sans"/>
                <a:cs typeface="Nunito Sans"/>
                <a:sym typeface="Nunito Sans"/>
              </a:rPr>
              <a:t>34,394</a:t>
            </a:r>
            <a:endParaRPr b="1">
              <a:solidFill>
                <a:srgbClr val="183E35"/>
              </a:solidFill>
              <a:latin typeface="Nunito Sans"/>
              <a:ea typeface="Nunito Sans"/>
              <a:cs typeface="Nunito Sans"/>
              <a:sym typeface="Nunito Sans"/>
            </a:endParaRPr>
          </a:p>
        </p:txBody>
      </p:sp>
      <p:sp>
        <p:nvSpPr>
          <p:cNvPr id="299" name="Google Shape;299;p14"/>
          <p:cNvSpPr txBox="1"/>
          <p:nvPr/>
        </p:nvSpPr>
        <p:spPr>
          <a:xfrm>
            <a:off x="5303520" y="5147564"/>
            <a:ext cx="1417200" cy="40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a:solidFill>
                  <a:srgbClr val="183E35"/>
                </a:solidFill>
                <a:latin typeface="Nunito Sans"/>
                <a:ea typeface="Nunito Sans"/>
                <a:cs typeface="Nunito Sans"/>
                <a:sym typeface="Nunito Sans"/>
              </a:rPr>
              <a:t>Ring, after</a:t>
            </a:r>
            <a:endParaRPr>
              <a:solidFill>
                <a:srgbClr val="183E35"/>
              </a:solidFill>
              <a:latin typeface="Nunito Sans"/>
              <a:ea typeface="Nunito Sans"/>
              <a:cs typeface="Nunito Sans"/>
              <a:sym typeface="Nunito Sans"/>
            </a:endParaRPr>
          </a:p>
        </p:txBody>
      </p:sp>
      <p:sp>
        <p:nvSpPr>
          <p:cNvPr id="300" name="Google Shape;300;p14"/>
          <p:cNvSpPr/>
          <p:nvPr/>
        </p:nvSpPr>
        <p:spPr>
          <a:xfrm>
            <a:off x="1188720" y="5115560"/>
            <a:ext cx="5760600" cy="9600"/>
          </a:xfrm>
          <a:prstGeom prst="rect">
            <a:avLst/>
          </a:prstGeom>
          <a:solidFill>
            <a:srgbClr val="BFBF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14"/>
          <p:cNvSpPr/>
          <p:nvPr/>
        </p:nvSpPr>
        <p:spPr>
          <a:xfrm>
            <a:off x="4389120" y="4367358"/>
            <a:ext cx="868800" cy="748200"/>
          </a:xfrm>
          <a:prstGeom prst="rect">
            <a:avLst/>
          </a:prstGeom>
          <a:noFill/>
          <a:ln cap="flat" cmpd="sng" w="25400">
            <a:solidFill>
              <a:srgbClr val="B56B3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2" name="Google Shape;302;p14"/>
          <p:cNvSpPr txBox="1"/>
          <p:nvPr/>
        </p:nvSpPr>
        <p:spPr>
          <a:xfrm>
            <a:off x="548640" y="1600200"/>
            <a:ext cx="7810500" cy="9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rgbClr val="183E35"/>
                </a:solidFill>
                <a:latin typeface="Nunito Sans"/>
                <a:ea typeface="Nunito Sans"/>
                <a:cs typeface="Nunito Sans"/>
                <a:sym typeface="Nunito Sans"/>
              </a:rPr>
              <a:t>Expected: 3,807 × (34,394 ÷ 9,957) ≈ 13,150</a:t>
            </a:r>
            <a:endParaRPr sz="19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900">
                <a:solidFill>
                  <a:srgbClr val="183E35"/>
                </a:solidFill>
                <a:latin typeface="Nunito Sans"/>
                <a:ea typeface="Nunito Sans"/>
                <a:cs typeface="Nunito Sans"/>
                <a:sym typeface="Nunito Sans"/>
              </a:rPr>
              <a:t>Observed: 10,943 · 17% below expected</a:t>
            </a:r>
            <a:endParaRPr sz="1900">
              <a:solidFill>
                <a:srgbClr val="183E35"/>
              </a:solidFill>
              <a:latin typeface="Nunito Sans"/>
              <a:ea typeface="Nunito Sans"/>
              <a:cs typeface="Nunito Sans"/>
              <a:sym typeface="Nunito Sans"/>
            </a:endParaRPr>
          </a:p>
        </p:txBody>
      </p:sp>
      <p:sp>
        <p:nvSpPr>
          <p:cNvPr id="303" name="Google Shape;303;p14"/>
          <p:cNvSpPr txBox="1"/>
          <p:nvPr/>
        </p:nvSpPr>
        <p:spPr>
          <a:xfrm>
            <a:off x="1188720" y="5778500"/>
            <a:ext cx="70485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rgbClr val="B56B32"/>
                </a:solidFill>
                <a:latin typeface="Nunito Sans"/>
                <a:ea typeface="Nunito Sans"/>
                <a:cs typeface="Nunito Sans"/>
                <a:sym typeface="Nunito Sans"/>
              </a:rPr>
              <a:t>Dashed outline is the expected 13,150 if nearby grew like the ring</a:t>
            </a:r>
            <a:endParaRPr sz="1300">
              <a:solidFill>
                <a:srgbClr val="B56B32"/>
              </a:solidFill>
              <a:latin typeface="Nunito Sans"/>
              <a:ea typeface="Nunito Sans"/>
              <a:cs typeface="Nunito Sans"/>
              <a:sym typeface="Nunito Sans"/>
            </a:endParaRPr>
          </a:p>
        </p:txBody>
      </p:sp>
      <p:sp>
        <p:nvSpPr>
          <p:cNvPr id="304" name="Google Shape;304;p14"/>
          <p:cNvSpPr txBox="1"/>
          <p:nvPr/>
        </p:nvSpPr>
        <p:spPr>
          <a:xfrm>
            <a:off x="548640" y="101600"/>
            <a:ext cx="110490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5A6D60"/>
                </a:solidFill>
                <a:latin typeface="Nunito Sans"/>
                <a:ea typeface="Nunito Sans"/>
                <a:cs typeface="Nunito Sans"/>
                <a:sym typeface="Nunito Sans"/>
              </a:rPr>
              <a:t>PIPELINE / 06 · CONSTRUCT HISTORICAL COMPARISONS</a:t>
            </a:r>
            <a:endParaRPr b="1" sz="1100">
              <a:solidFill>
                <a:srgbClr val="5A6D60"/>
              </a:solidFill>
              <a:latin typeface="Nunito Sans"/>
              <a:ea typeface="Nunito Sans"/>
              <a:cs typeface="Nunito Sans"/>
              <a:sym typeface="Nunito Sans"/>
            </a:endParaRPr>
          </a:p>
        </p:txBody>
      </p:sp>
      <p:sp>
        <p:nvSpPr>
          <p:cNvPr id="305" name="Google Shape;305;p14"/>
          <p:cNvSpPr/>
          <p:nvPr/>
        </p:nvSpPr>
        <p:spPr>
          <a:xfrm>
            <a:off x="8763000" y="1701800"/>
            <a:ext cx="2883000" cy="4140300"/>
          </a:xfrm>
          <a:prstGeom prst="roundRect">
            <a:avLst>
              <a:gd fmla="val 16667" name="adj"/>
            </a:avLst>
          </a:prstGeom>
          <a:solidFill>
            <a:srgbClr val="EBF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6" name="Google Shape;306;p14"/>
          <p:cNvSpPr txBox="1"/>
          <p:nvPr/>
        </p:nvSpPr>
        <p:spPr>
          <a:xfrm>
            <a:off x="8940800" y="1866900"/>
            <a:ext cx="2502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rgbClr val="5A6D60"/>
                </a:solidFill>
                <a:latin typeface="Nunito Sans"/>
                <a:ea typeface="Nunito Sans"/>
                <a:cs typeface="Nunito Sans"/>
                <a:sym typeface="Nunito Sans"/>
              </a:rPr>
              <a:t>TECHNICAL CHOICES</a:t>
            </a:r>
            <a:endParaRPr b="1" sz="1200">
              <a:solidFill>
                <a:srgbClr val="5A6D60"/>
              </a:solidFill>
              <a:latin typeface="Nunito Sans"/>
              <a:ea typeface="Nunito Sans"/>
              <a:cs typeface="Nunito Sans"/>
              <a:sym typeface="Nunito Sans"/>
            </a:endParaRPr>
          </a:p>
        </p:txBody>
      </p:sp>
      <p:sp>
        <p:nvSpPr>
          <p:cNvPr id="307" name="Google Shape;307;p14"/>
          <p:cNvSpPr txBox="1"/>
          <p:nvPr/>
        </p:nvSpPr>
        <p:spPr>
          <a:xfrm>
            <a:off x="8940800" y="2247900"/>
            <a:ext cx="3000000" cy="30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Comparison adjustment</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Evaluate nearby change</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against surrounding growth.</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Expected count</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Near before × comparison</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growth factor.</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Cost-normalized outcome</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(Observed − expected)</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divided by cost in $M.</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Interpretation</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Observational, not causal.</a:t>
            </a:r>
            <a:endParaRPr sz="1500">
              <a:solidFill>
                <a:srgbClr val="183E35"/>
              </a:solidFill>
              <a:latin typeface="Nunito Sans"/>
              <a:ea typeface="Nunito Sans"/>
              <a:cs typeface="Nunito Sans"/>
              <a:sym typeface="Nunito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6"/>
        </a:solidFill>
      </p:bgPr>
    </p:bg>
    <p:spTree>
      <p:nvGrpSpPr>
        <p:cNvPr id="312" name="Shape 312"/>
        <p:cNvGrpSpPr/>
        <p:nvPr/>
      </p:nvGrpSpPr>
      <p:grpSpPr>
        <a:xfrm>
          <a:off x="0" y="0"/>
          <a:ext cx="0" cy="0"/>
          <a:chOff x="0" y="0"/>
          <a:chExt cx="0" cy="0"/>
        </a:xfrm>
      </p:grpSpPr>
      <p:sp>
        <p:nvSpPr>
          <p:cNvPr id="313" name="Google Shape;313;p15"/>
          <p:cNvSpPr txBox="1"/>
          <p:nvPr/>
        </p:nvSpPr>
        <p:spPr>
          <a:xfrm>
            <a:off x="11094415" y="6355080"/>
            <a:ext cx="548700" cy="384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100">
                <a:solidFill>
                  <a:srgbClr val="5A6D60"/>
                </a:solidFill>
                <a:latin typeface="Nunito Sans"/>
                <a:ea typeface="Nunito Sans"/>
                <a:cs typeface="Nunito Sans"/>
                <a:sym typeface="Nunito Sans"/>
              </a:rPr>
              <a:t>13</a:t>
            </a:r>
            <a:endParaRPr sz="1100">
              <a:solidFill>
                <a:srgbClr val="5A6D60"/>
              </a:solidFill>
              <a:latin typeface="Nunito Sans"/>
              <a:ea typeface="Nunito Sans"/>
              <a:cs typeface="Nunito Sans"/>
              <a:sym typeface="Nunito Sans"/>
            </a:endParaRPr>
          </a:p>
        </p:txBody>
      </p:sp>
      <p:sp>
        <p:nvSpPr>
          <p:cNvPr id="314" name="Google Shape;314;p15"/>
          <p:cNvSpPr txBox="1"/>
          <p:nvPr/>
        </p:nvSpPr>
        <p:spPr>
          <a:xfrm>
            <a:off x="548640" y="411480"/>
            <a:ext cx="110943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83E35"/>
                </a:solidFill>
                <a:latin typeface="Georgia"/>
                <a:ea typeface="Georgia"/>
                <a:cs typeface="Georgia"/>
                <a:sym typeface="Georgia"/>
              </a:rPr>
              <a:t>Test the model on entire held-out projects and cities</a:t>
            </a:r>
            <a:endParaRPr b="1" sz="3200">
              <a:solidFill>
                <a:srgbClr val="183E35"/>
              </a:solidFill>
              <a:latin typeface="Georgia"/>
              <a:ea typeface="Georgia"/>
              <a:cs typeface="Georgia"/>
              <a:sym typeface="Georgia"/>
            </a:endParaRPr>
          </a:p>
        </p:txBody>
      </p:sp>
      <p:sp>
        <p:nvSpPr>
          <p:cNvPr id="315" name="Google Shape;315;p15"/>
          <p:cNvSpPr txBox="1"/>
          <p:nvPr/>
        </p:nvSpPr>
        <p:spPr>
          <a:xfrm>
            <a:off x="548640" y="1783080"/>
            <a:ext cx="64008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A6D60"/>
                </a:solidFill>
                <a:latin typeface="Nunito Sans"/>
                <a:ea typeface="Nunito Sans"/>
                <a:cs typeface="Nunito Sans"/>
                <a:sym typeface="Nunito Sans"/>
              </a:rPr>
              <a:t>City-held-out MAE · excess reviews / $1M · lower is better</a:t>
            </a:r>
            <a:endParaRPr sz="1500">
              <a:solidFill>
                <a:srgbClr val="5A6D60"/>
              </a:solidFill>
              <a:latin typeface="Nunito Sans"/>
              <a:ea typeface="Nunito Sans"/>
              <a:cs typeface="Nunito Sans"/>
              <a:sym typeface="Nunito Sans"/>
            </a:endParaRPr>
          </a:p>
        </p:txBody>
      </p:sp>
      <p:sp>
        <p:nvSpPr>
          <p:cNvPr id="316" name="Google Shape;316;p15"/>
          <p:cNvSpPr txBox="1"/>
          <p:nvPr/>
        </p:nvSpPr>
        <p:spPr>
          <a:xfrm>
            <a:off x="548640" y="2331720"/>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Predict the average</a:t>
            </a:r>
            <a:endParaRPr>
              <a:solidFill>
                <a:srgbClr val="183E35"/>
              </a:solidFill>
              <a:latin typeface="Nunito Sans"/>
              <a:ea typeface="Nunito Sans"/>
              <a:cs typeface="Nunito Sans"/>
              <a:sym typeface="Nunito Sans"/>
            </a:endParaRPr>
          </a:p>
        </p:txBody>
      </p:sp>
      <p:sp>
        <p:nvSpPr>
          <p:cNvPr id="317" name="Google Shape;317;p15"/>
          <p:cNvSpPr/>
          <p:nvPr/>
        </p:nvSpPr>
        <p:spPr>
          <a:xfrm>
            <a:off x="3383280" y="2363724"/>
            <a:ext cx="2368200" cy="301800"/>
          </a:xfrm>
          <a:prstGeom prst="rect">
            <a:avLst/>
          </a:prstGeom>
          <a:solidFill>
            <a:srgbClr val="B9C2B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8" name="Google Shape;318;p15"/>
          <p:cNvSpPr txBox="1"/>
          <p:nvPr/>
        </p:nvSpPr>
        <p:spPr>
          <a:xfrm>
            <a:off x="5806472" y="2331720"/>
            <a:ext cx="7314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83E35"/>
                </a:solidFill>
                <a:latin typeface="Nunito Sans"/>
                <a:ea typeface="Nunito Sans"/>
                <a:cs typeface="Nunito Sans"/>
                <a:sym typeface="Nunito Sans"/>
              </a:rPr>
              <a:t>58.5</a:t>
            </a:r>
            <a:endParaRPr b="1">
              <a:solidFill>
                <a:srgbClr val="183E35"/>
              </a:solidFill>
              <a:latin typeface="Nunito Sans"/>
              <a:ea typeface="Nunito Sans"/>
              <a:cs typeface="Nunito Sans"/>
              <a:sym typeface="Nunito Sans"/>
            </a:endParaRPr>
          </a:p>
        </p:txBody>
      </p:sp>
      <p:sp>
        <p:nvSpPr>
          <p:cNvPr id="319" name="Google Shape;319;p15"/>
          <p:cNvSpPr txBox="1"/>
          <p:nvPr/>
        </p:nvSpPr>
        <p:spPr>
          <a:xfrm>
            <a:off x="548640" y="2880360"/>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Ridge: cost + activity</a:t>
            </a:r>
            <a:endParaRPr>
              <a:solidFill>
                <a:srgbClr val="183E35"/>
              </a:solidFill>
              <a:latin typeface="Nunito Sans"/>
              <a:ea typeface="Nunito Sans"/>
              <a:cs typeface="Nunito Sans"/>
              <a:sym typeface="Nunito Sans"/>
            </a:endParaRPr>
          </a:p>
        </p:txBody>
      </p:sp>
      <p:sp>
        <p:nvSpPr>
          <p:cNvPr id="320" name="Google Shape;320;p15"/>
          <p:cNvSpPr/>
          <p:nvPr/>
        </p:nvSpPr>
        <p:spPr>
          <a:xfrm>
            <a:off x="3383280" y="2912364"/>
            <a:ext cx="1846800" cy="301800"/>
          </a:xfrm>
          <a:prstGeom prst="rect">
            <a:avLst/>
          </a:prstGeom>
          <a:solidFill>
            <a:srgbClr val="245C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1" name="Google Shape;321;p15"/>
          <p:cNvSpPr txBox="1"/>
          <p:nvPr/>
        </p:nvSpPr>
        <p:spPr>
          <a:xfrm>
            <a:off x="5285072" y="2880360"/>
            <a:ext cx="7314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83E35"/>
                </a:solidFill>
                <a:latin typeface="Nunito Sans"/>
                <a:ea typeface="Nunito Sans"/>
                <a:cs typeface="Nunito Sans"/>
                <a:sym typeface="Nunito Sans"/>
              </a:rPr>
              <a:t>45.6</a:t>
            </a:r>
            <a:endParaRPr b="1">
              <a:solidFill>
                <a:srgbClr val="183E35"/>
              </a:solidFill>
              <a:latin typeface="Nunito Sans"/>
              <a:ea typeface="Nunito Sans"/>
              <a:cs typeface="Nunito Sans"/>
              <a:sym typeface="Nunito Sans"/>
            </a:endParaRPr>
          </a:p>
        </p:txBody>
      </p:sp>
      <p:sp>
        <p:nvSpPr>
          <p:cNvPr id="322" name="Google Shape;322;p15"/>
          <p:cNvSpPr txBox="1"/>
          <p:nvPr/>
        </p:nvSpPr>
        <p:spPr>
          <a:xfrm>
            <a:off x="548640" y="3429000"/>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 sentiment &amp; topic shares</a:t>
            </a:r>
            <a:endParaRPr>
              <a:solidFill>
                <a:srgbClr val="183E35"/>
              </a:solidFill>
              <a:latin typeface="Nunito Sans"/>
              <a:ea typeface="Nunito Sans"/>
              <a:cs typeface="Nunito Sans"/>
              <a:sym typeface="Nunito Sans"/>
            </a:endParaRPr>
          </a:p>
        </p:txBody>
      </p:sp>
      <p:sp>
        <p:nvSpPr>
          <p:cNvPr id="323" name="Google Shape;323;p15"/>
          <p:cNvSpPr/>
          <p:nvPr/>
        </p:nvSpPr>
        <p:spPr>
          <a:xfrm>
            <a:off x="3383280" y="3461004"/>
            <a:ext cx="1951500" cy="301800"/>
          </a:xfrm>
          <a:prstGeom prst="rect">
            <a:avLst/>
          </a:prstGeom>
          <a:solidFill>
            <a:srgbClr val="9FB59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4" name="Google Shape;324;p15"/>
          <p:cNvSpPr txBox="1"/>
          <p:nvPr/>
        </p:nvSpPr>
        <p:spPr>
          <a:xfrm>
            <a:off x="5389563" y="3429000"/>
            <a:ext cx="7314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83E35"/>
                </a:solidFill>
                <a:latin typeface="Nunito Sans"/>
                <a:ea typeface="Nunito Sans"/>
                <a:cs typeface="Nunito Sans"/>
                <a:sym typeface="Nunito Sans"/>
              </a:rPr>
              <a:t>48.2</a:t>
            </a:r>
            <a:endParaRPr b="1">
              <a:solidFill>
                <a:srgbClr val="183E35"/>
              </a:solidFill>
              <a:latin typeface="Nunito Sans"/>
              <a:ea typeface="Nunito Sans"/>
              <a:cs typeface="Nunito Sans"/>
              <a:sym typeface="Nunito Sans"/>
            </a:endParaRPr>
          </a:p>
        </p:txBody>
      </p:sp>
      <p:sp>
        <p:nvSpPr>
          <p:cNvPr id="325" name="Google Shape;325;p15"/>
          <p:cNvSpPr txBox="1"/>
          <p:nvPr/>
        </p:nvSpPr>
        <p:spPr>
          <a:xfrm>
            <a:off x="548640" y="3977640"/>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 pre-opening trend</a:t>
            </a:r>
            <a:endParaRPr>
              <a:solidFill>
                <a:srgbClr val="183E35"/>
              </a:solidFill>
              <a:latin typeface="Nunito Sans"/>
              <a:ea typeface="Nunito Sans"/>
              <a:cs typeface="Nunito Sans"/>
              <a:sym typeface="Nunito Sans"/>
            </a:endParaRPr>
          </a:p>
        </p:txBody>
      </p:sp>
      <p:sp>
        <p:nvSpPr>
          <p:cNvPr id="326" name="Google Shape;326;p15"/>
          <p:cNvSpPr/>
          <p:nvPr/>
        </p:nvSpPr>
        <p:spPr>
          <a:xfrm>
            <a:off x="3383280" y="4009644"/>
            <a:ext cx="1873200" cy="301800"/>
          </a:xfrm>
          <a:prstGeom prst="rect">
            <a:avLst/>
          </a:prstGeom>
          <a:solidFill>
            <a:srgbClr val="9FB59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7" name="Google Shape;327;p15"/>
          <p:cNvSpPr txBox="1"/>
          <p:nvPr/>
        </p:nvSpPr>
        <p:spPr>
          <a:xfrm>
            <a:off x="5311241" y="3977640"/>
            <a:ext cx="7314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83E35"/>
                </a:solidFill>
                <a:latin typeface="Nunito Sans"/>
                <a:ea typeface="Nunito Sans"/>
                <a:cs typeface="Nunito Sans"/>
                <a:sym typeface="Nunito Sans"/>
              </a:rPr>
              <a:t>46.3</a:t>
            </a:r>
            <a:endParaRPr b="1">
              <a:solidFill>
                <a:srgbClr val="183E35"/>
              </a:solidFill>
              <a:latin typeface="Nunito Sans"/>
              <a:ea typeface="Nunito Sans"/>
              <a:cs typeface="Nunito Sans"/>
              <a:sym typeface="Nunito Sans"/>
            </a:endParaRPr>
          </a:p>
        </p:txBody>
      </p:sp>
      <p:sp>
        <p:nvSpPr>
          <p:cNvPr id="328" name="Google Shape;328;p15"/>
          <p:cNvSpPr txBox="1"/>
          <p:nvPr/>
        </p:nvSpPr>
        <p:spPr>
          <a:xfrm>
            <a:off x="548640" y="4526280"/>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 TF-IDF / NMF topics</a:t>
            </a:r>
            <a:endParaRPr>
              <a:solidFill>
                <a:srgbClr val="183E35"/>
              </a:solidFill>
              <a:latin typeface="Nunito Sans"/>
              <a:ea typeface="Nunito Sans"/>
              <a:cs typeface="Nunito Sans"/>
              <a:sym typeface="Nunito Sans"/>
            </a:endParaRPr>
          </a:p>
        </p:txBody>
      </p:sp>
      <p:sp>
        <p:nvSpPr>
          <p:cNvPr id="329" name="Google Shape;329;p15"/>
          <p:cNvSpPr/>
          <p:nvPr/>
        </p:nvSpPr>
        <p:spPr>
          <a:xfrm>
            <a:off x="3383280" y="4558284"/>
            <a:ext cx="1890000" cy="301800"/>
          </a:xfrm>
          <a:prstGeom prst="rect">
            <a:avLst/>
          </a:prstGeom>
          <a:solidFill>
            <a:srgbClr val="9FB59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0" name="Google Shape;330;p15"/>
          <p:cNvSpPr txBox="1"/>
          <p:nvPr/>
        </p:nvSpPr>
        <p:spPr>
          <a:xfrm>
            <a:off x="5328065" y="4526280"/>
            <a:ext cx="7314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83E35"/>
                </a:solidFill>
                <a:latin typeface="Nunito Sans"/>
                <a:ea typeface="Nunito Sans"/>
                <a:cs typeface="Nunito Sans"/>
                <a:sym typeface="Nunito Sans"/>
              </a:rPr>
              <a:t>46.7</a:t>
            </a:r>
            <a:endParaRPr b="1">
              <a:solidFill>
                <a:srgbClr val="183E35"/>
              </a:solidFill>
              <a:latin typeface="Nunito Sans"/>
              <a:ea typeface="Nunito Sans"/>
              <a:cs typeface="Nunito Sans"/>
              <a:sym typeface="Nunito Sans"/>
            </a:endParaRPr>
          </a:p>
        </p:txBody>
      </p:sp>
      <p:sp>
        <p:nvSpPr>
          <p:cNvPr id="331" name="Google Shape;331;p15"/>
          <p:cNvSpPr/>
          <p:nvPr/>
        </p:nvSpPr>
        <p:spPr>
          <a:xfrm>
            <a:off x="3375965" y="2240280"/>
            <a:ext cx="14700" cy="2743200"/>
          </a:xfrm>
          <a:prstGeom prst="rect">
            <a:avLst/>
          </a:prstGeom>
          <a:solidFill>
            <a:srgbClr val="BFBF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2" name="Google Shape;332;p15"/>
          <p:cNvSpPr txBox="1"/>
          <p:nvPr/>
        </p:nvSpPr>
        <p:spPr>
          <a:xfrm>
            <a:off x="548640" y="5232400"/>
            <a:ext cx="7810500" cy="92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rgbClr val="183E35"/>
                </a:solidFill>
                <a:latin typeface="Nunito Sans"/>
                <a:ea typeface="Nunito Sans"/>
                <a:cs typeface="Nunito Sans"/>
                <a:sym typeface="Nunito Sans"/>
              </a:rPr>
              <a:t>10 projects, 7 cities. Text did not improve both holdouts.</a:t>
            </a:r>
            <a:endParaRPr sz="17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700">
                <a:solidFill>
                  <a:srgbClr val="183E35"/>
                </a:solidFill>
                <a:latin typeface="Nunito Sans"/>
                <a:ea typeface="Nunito Sans"/>
                <a:cs typeface="Nunito Sans"/>
                <a:sym typeface="Nunito Sans"/>
              </a:rPr>
              <a:t>Without 2020 windows: ridge 60.3 vs mean 59.5 MAE.</a:t>
            </a:r>
            <a:endParaRPr sz="1700">
              <a:solidFill>
                <a:srgbClr val="183E35"/>
              </a:solidFill>
              <a:latin typeface="Nunito Sans"/>
              <a:ea typeface="Nunito Sans"/>
              <a:cs typeface="Nunito Sans"/>
              <a:sym typeface="Nunito Sans"/>
            </a:endParaRPr>
          </a:p>
        </p:txBody>
      </p:sp>
      <p:sp>
        <p:nvSpPr>
          <p:cNvPr id="333" name="Google Shape;333;p15"/>
          <p:cNvSpPr txBox="1"/>
          <p:nvPr/>
        </p:nvSpPr>
        <p:spPr>
          <a:xfrm>
            <a:off x="548640" y="101600"/>
            <a:ext cx="110490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5A6D60"/>
                </a:solidFill>
                <a:latin typeface="Nunito Sans"/>
                <a:ea typeface="Nunito Sans"/>
                <a:cs typeface="Nunito Sans"/>
                <a:sym typeface="Nunito Sans"/>
              </a:rPr>
              <a:t>PIPELINE / 07 · TEST WHETHER THE FEATURES PREDICT</a:t>
            </a:r>
            <a:endParaRPr b="1" sz="1100">
              <a:solidFill>
                <a:srgbClr val="5A6D60"/>
              </a:solidFill>
              <a:latin typeface="Nunito Sans"/>
              <a:ea typeface="Nunito Sans"/>
              <a:cs typeface="Nunito Sans"/>
              <a:sym typeface="Nunito Sans"/>
            </a:endParaRPr>
          </a:p>
        </p:txBody>
      </p:sp>
      <p:sp>
        <p:nvSpPr>
          <p:cNvPr id="334" name="Google Shape;334;p15"/>
          <p:cNvSpPr/>
          <p:nvPr/>
        </p:nvSpPr>
        <p:spPr>
          <a:xfrm>
            <a:off x="8763000" y="1701800"/>
            <a:ext cx="2883000" cy="4140300"/>
          </a:xfrm>
          <a:prstGeom prst="roundRect">
            <a:avLst>
              <a:gd fmla="val 16667" name="adj"/>
            </a:avLst>
          </a:prstGeom>
          <a:solidFill>
            <a:srgbClr val="EBF0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5" name="Google Shape;335;p15"/>
          <p:cNvSpPr txBox="1"/>
          <p:nvPr/>
        </p:nvSpPr>
        <p:spPr>
          <a:xfrm>
            <a:off x="8940800" y="1866900"/>
            <a:ext cx="2502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rgbClr val="5A6D60"/>
                </a:solidFill>
                <a:latin typeface="Nunito Sans"/>
                <a:ea typeface="Nunito Sans"/>
                <a:cs typeface="Nunito Sans"/>
                <a:sym typeface="Nunito Sans"/>
              </a:rPr>
              <a:t>TECHNICAL CHOICES</a:t>
            </a:r>
            <a:endParaRPr b="1" sz="1200">
              <a:solidFill>
                <a:srgbClr val="5A6D60"/>
              </a:solidFill>
              <a:latin typeface="Nunito Sans"/>
              <a:ea typeface="Nunito Sans"/>
              <a:cs typeface="Nunito Sans"/>
              <a:sym typeface="Nunito Sans"/>
            </a:endParaRPr>
          </a:p>
        </p:txBody>
      </p:sp>
      <p:sp>
        <p:nvSpPr>
          <p:cNvPr id="336" name="Google Shape;336;p15"/>
          <p:cNvSpPr txBox="1"/>
          <p:nvPr/>
        </p:nvSpPr>
        <p:spPr>
          <a:xfrm>
            <a:off x="8940800" y="2247900"/>
            <a:ext cx="3000000" cy="30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Ridge regression</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Penalizes large coefficients;</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alpha = 10.</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Holdouts</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Test unseen projects / cities.</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MAE</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Mean absolute error;</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lower is better.</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b="1" lang="en-US" sz="1500">
                <a:solidFill>
                  <a:srgbClr val="183E35"/>
                </a:solidFill>
                <a:latin typeface="Nunito Sans"/>
                <a:ea typeface="Nunito Sans"/>
                <a:cs typeface="Nunito Sans"/>
                <a:sym typeface="Nunito Sans"/>
              </a:rPr>
              <a:t>Training-only fitting</a:t>
            </a:r>
            <a:endParaRPr b="1"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Learn scaling and text bases</a:t>
            </a:r>
            <a:endParaRPr sz="15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1500">
                <a:solidFill>
                  <a:srgbClr val="183E35"/>
                </a:solidFill>
                <a:latin typeface="Nunito Sans"/>
                <a:ea typeface="Nunito Sans"/>
                <a:cs typeface="Nunito Sans"/>
                <a:sym typeface="Nunito Sans"/>
              </a:rPr>
              <a:t>inside each training fold.</a:t>
            </a:r>
            <a:endParaRPr sz="1500">
              <a:solidFill>
                <a:srgbClr val="183E35"/>
              </a:solidFill>
              <a:latin typeface="Nunito Sans"/>
              <a:ea typeface="Nunito Sans"/>
              <a:cs typeface="Nunito Sans"/>
              <a:sym typeface="Nunito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6"/>
        </a:solidFill>
      </p:bgPr>
    </p:bg>
    <p:spTree>
      <p:nvGrpSpPr>
        <p:cNvPr id="341" name="Shape 341"/>
        <p:cNvGrpSpPr/>
        <p:nvPr/>
      </p:nvGrpSpPr>
      <p:grpSpPr>
        <a:xfrm>
          <a:off x="0" y="0"/>
          <a:ext cx="0" cy="0"/>
          <a:chOff x="0" y="0"/>
          <a:chExt cx="0" cy="0"/>
        </a:xfrm>
      </p:grpSpPr>
      <p:sp>
        <p:nvSpPr>
          <p:cNvPr id="342" name="Google Shape;342;p16"/>
          <p:cNvSpPr txBox="1"/>
          <p:nvPr/>
        </p:nvSpPr>
        <p:spPr>
          <a:xfrm>
            <a:off x="11094415" y="6355080"/>
            <a:ext cx="548700" cy="384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100">
                <a:solidFill>
                  <a:srgbClr val="5A6D60"/>
                </a:solidFill>
                <a:latin typeface="Nunito Sans"/>
                <a:ea typeface="Nunito Sans"/>
                <a:cs typeface="Nunito Sans"/>
                <a:sym typeface="Nunito Sans"/>
              </a:rPr>
              <a:t>14</a:t>
            </a:r>
            <a:endParaRPr sz="1100">
              <a:solidFill>
                <a:srgbClr val="5A6D60"/>
              </a:solidFill>
              <a:latin typeface="Nunito Sans"/>
              <a:ea typeface="Nunito Sans"/>
              <a:cs typeface="Nunito Sans"/>
              <a:sym typeface="Nunito Sans"/>
            </a:endParaRPr>
          </a:p>
        </p:txBody>
      </p:sp>
      <p:sp>
        <p:nvSpPr>
          <p:cNvPr id="343" name="Google Shape;343;p16"/>
          <p:cNvSpPr txBox="1"/>
          <p:nvPr/>
        </p:nvSpPr>
        <p:spPr>
          <a:xfrm>
            <a:off x="548640" y="411480"/>
            <a:ext cx="110943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83E35"/>
                </a:solidFill>
                <a:latin typeface="Georgia"/>
                <a:ea typeface="Georgia"/>
                <a:cs typeface="Georgia"/>
                <a:sym typeface="Georgia"/>
              </a:rPr>
              <a:t>Past projects show a mixed picture of review activity</a:t>
            </a:r>
            <a:endParaRPr b="1" sz="3200">
              <a:solidFill>
                <a:srgbClr val="183E35"/>
              </a:solidFill>
              <a:latin typeface="Georgia"/>
              <a:ea typeface="Georgia"/>
              <a:cs typeface="Georgia"/>
              <a:sym typeface="Georgia"/>
            </a:endParaRPr>
          </a:p>
        </p:txBody>
      </p:sp>
      <p:sp>
        <p:nvSpPr>
          <p:cNvPr id="344" name="Google Shape;344;p16"/>
          <p:cNvSpPr txBox="1"/>
          <p:nvPr/>
        </p:nvSpPr>
        <p:spPr>
          <a:xfrm>
            <a:off x="548640" y="1691640"/>
            <a:ext cx="78639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5A6D60"/>
                </a:solidFill>
                <a:latin typeface="Nunito Sans"/>
                <a:ea typeface="Nunito Sans"/>
                <a:cs typeface="Nunito Sans"/>
                <a:sym typeface="Nunito Sans"/>
              </a:rPr>
              <a:t>Change in reviews near each project, adjusted for its comparison area</a:t>
            </a:r>
            <a:endParaRPr>
              <a:solidFill>
                <a:srgbClr val="5A6D60"/>
              </a:solidFill>
              <a:latin typeface="Nunito Sans"/>
              <a:ea typeface="Nunito Sans"/>
              <a:cs typeface="Nunito Sans"/>
              <a:sym typeface="Nunito Sans"/>
            </a:endParaRPr>
          </a:p>
        </p:txBody>
      </p:sp>
      <p:sp>
        <p:nvSpPr>
          <p:cNvPr id="345" name="Google Shape;345;p16"/>
          <p:cNvSpPr txBox="1"/>
          <p:nvPr/>
        </p:nvSpPr>
        <p:spPr>
          <a:xfrm>
            <a:off x="548640" y="2112264"/>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Riverfront / Ascend</a:t>
            </a:r>
            <a:endParaRPr>
              <a:solidFill>
                <a:srgbClr val="183E35"/>
              </a:solidFill>
              <a:latin typeface="Nunito Sans"/>
              <a:ea typeface="Nunito Sans"/>
              <a:cs typeface="Nunito Sans"/>
              <a:sym typeface="Nunito Sans"/>
            </a:endParaRPr>
          </a:p>
        </p:txBody>
      </p:sp>
      <p:sp>
        <p:nvSpPr>
          <p:cNvPr id="346" name="Google Shape;346;p16"/>
          <p:cNvSpPr/>
          <p:nvPr/>
        </p:nvSpPr>
        <p:spPr>
          <a:xfrm>
            <a:off x="4870704" y="2189531"/>
            <a:ext cx="2658000" cy="211200"/>
          </a:xfrm>
          <a:prstGeom prst="rect">
            <a:avLst/>
          </a:prstGeom>
          <a:solidFill>
            <a:srgbClr val="245C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7" name="Google Shape;347;p16"/>
          <p:cNvSpPr txBox="1"/>
          <p:nvPr/>
        </p:nvSpPr>
        <p:spPr>
          <a:xfrm>
            <a:off x="7583700" y="2112264"/>
            <a:ext cx="8229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83E35"/>
                </a:solidFill>
                <a:latin typeface="Nunito Sans"/>
                <a:ea typeface="Nunito Sans"/>
                <a:cs typeface="Nunito Sans"/>
                <a:sym typeface="Nunito Sans"/>
              </a:rPr>
              <a:t>+95%</a:t>
            </a:r>
            <a:endParaRPr b="1">
              <a:solidFill>
                <a:srgbClr val="183E35"/>
              </a:solidFill>
              <a:latin typeface="Nunito Sans"/>
              <a:ea typeface="Nunito Sans"/>
              <a:cs typeface="Nunito Sans"/>
              <a:sym typeface="Nunito Sans"/>
            </a:endParaRPr>
          </a:p>
        </p:txBody>
      </p:sp>
      <p:sp>
        <p:nvSpPr>
          <p:cNvPr id="348" name="Google Shape;348;p16"/>
          <p:cNvSpPr txBox="1"/>
          <p:nvPr/>
        </p:nvSpPr>
        <p:spPr>
          <a:xfrm>
            <a:off x="548640" y="2496312"/>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Lafitte</a:t>
            </a:r>
            <a:endParaRPr>
              <a:solidFill>
                <a:srgbClr val="183E35"/>
              </a:solidFill>
              <a:latin typeface="Nunito Sans"/>
              <a:ea typeface="Nunito Sans"/>
              <a:cs typeface="Nunito Sans"/>
              <a:sym typeface="Nunito Sans"/>
            </a:endParaRPr>
          </a:p>
        </p:txBody>
      </p:sp>
      <p:sp>
        <p:nvSpPr>
          <p:cNvPr id="349" name="Google Shape;349;p16"/>
          <p:cNvSpPr/>
          <p:nvPr/>
        </p:nvSpPr>
        <p:spPr>
          <a:xfrm>
            <a:off x="4870704" y="2573579"/>
            <a:ext cx="427800" cy="211200"/>
          </a:xfrm>
          <a:prstGeom prst="rect">
            <a:avLst/>
          </a:prstGeom>
          <a:solidFill>
            <a:srgbClr val="245C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0" name="Google Shape;350;p16"/>
          <p:cNvSpPr txBox="1"/>
          <p:nvPr/>
        </p:nvSpPr>
        <p:spPr>
          <a:xfrm>
            <a:off x="5353447" y="2496312"/>
            <a:ext cx="8229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83E35"/>
                </a:solidFill>
                <a:latin typeface="Nunito Sans"/>
                <a:ea typeface="Nunito Sans"/>
                <a:cs typeface="Nunito Sans"/>
                <a:sym typeface="Nunito Sans"/>
              </a:rPr>
              <a:t>+15%</a:t>
            </a:r>
            <a:endParaRPr b="1">
              <a:solidFill>
                <a:srgbClr val="183E35"/>
              </a:solidFill>
              <a:latin typeface="Nunito Sans"/>
              <a:ea typeface="Nunito Sans"/>
              <a:cs typeface="Nunito Sans"/>
              <a:sym typeface="Nunito Sans"/>
            </a:endParaRPr>
          </a:p>
        </p:txBody>
      </p:sp>
      <p:sp>
        <p:nvSpPr>
          <p:cNvPr id="351" name="Google Shape;351;p16"/>
          <p:cNvSpPr txBox="1"/>
          <p:nvPr/>
        </p:nvSpPr>
        <p:spPr>
          <a:xfrm>
            <a:off x="548640" y="2880360"/>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The Rail Park</a:t>
            </a:r>
            <a:endParaRPr>
              <a:solidFill>
                <a:srgbClr val="183E35"/>
              </a:solidFill>
              <a:latin typeface="Nunito Sans"/>
              <a:ea typeface="Nunito Sans"/>
              <a:cs typeface="Nunito Sans"/>
              <a:sym typeface="Nunito Sans"/>
            </a:endParaRPr>
          </a:p>
        </p:txBody>
      </p:sp>
      <p:sp>
        <p:nvSpPr>
          <p:cNvPr id="352" name="Google Shape;352;p16"/>
          <p:cNvSpPr/>
          <p:nvPr/>
        </p:nvSpPr>
        <p:spPr>
          <a:xfrm>
            <a:off x="4870704" y="2957627"/>
            <a:ext cx="416400" cy="211200"/>
          </a:xfrm>
          <a:prstGeom prst="rect">
            <a:avLst/>
          </a:prstGeom>
          <a:solidFill>
            <a:srgbClr val="245C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3" name="Google Shape;353;p16"/>
          <p:cNvSpPr txBox="1"/>
          <p:nvPr/>
        </p:nvSpPr>
        <p:spPr>
          <a:xfrm>
            <a:off x="5341874" y="2880360"/>
            <a:ext cx="8229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83E35"/>
                </a:solidFill>
                <a:latin typeface="Nunito Sans"/>
                <a:ea typeface="Nunito Sans"/>
                <a:cs typeface="Nunito Sans"/>
                <a:sym typeface="Nunito Sans"/>
              </a:rPr>
              <a:t>+15%</a:t>
            </a:r>
            <a:endParaRPr b="1">
              <a:solidFill>
                <a:srgbClr val="183E35"/>
              </a:solidFill>
              <a:latin typeface="Nunito Sans"/>
              <a:ea typeface="Nunito Sans"/>
              <a:cs typeface="Nunito Sans"/>
              <a:sym typeface="Nunito Sans"/>
            </a:endParaRPr>
          </a:p>
        </p:txBody>
      </p:sp>
      <p:sp>
        <p:nvSpPr>
          <p:cNvPr id="354" name="Google Shape;354;p16"/>
          <p:cNvSpPr txBox="1"/>
          <p:nvPr/>
        </p:nvSpPr>
        <p:spPr>
          <a:xfrm>
            <a:off x="548640" y="3264408"/>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Dilworth Park</a:t>
            </a:r>
            <a:endParaRPr>
              <a:solidFill>
                <a:srgbClr val="183E35"/>
              </a:solidFill>
              <a:latin typeface="Nunito Sans"/>
              <a:ea typeface="Nunito Sans"/>
              <a:cs typeface="Nunito Sans"/>
              <a:sym typeface="Nunito Sans"/>
            </a:endParaRPr>
          </a:p>
        </p:txBody>
      </p:sp>
      <p:sp>
        <p:nvSpPr>
          <p:cNvPr id="355" name="Google Shape;355;p16"/>
          <p:cNvSpPr/>
          <p:nvPr/>
        </p:nvSpPr>
        <p:spPr>
          <a:xfrm>
            <a:off x="4870704" y="3341675"/>
            <a:ext cx="277500" cy="211200"/>
          </a:xfrm>
          <a:prstGeom prst="rect">
            <a:avLst/>
          </a:prstGeom>
          <a:solidFill>
            <a:srgbClr val="245C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6" name="Google Shape;356;p16"/>
          <p:cNvSpPr txBox="1"/>
          <p:nvPr/>
        </p:nvSpPr>
        <p:spPr>
          <a:xfrm>
            <a:off x="5203092" y="3264408"/>
            <a:ext cx="8229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83E35"/>
                </a:solidFill>
                <a:latin typeface="Nunito Sans"/>
                <a:ea typeface="Nunito Sans"/>
                <a:cs typeface="Nunito Sans"/>
                <a:sym typeface="Nunito Sans"/>
              </a:rPr>
              <a:t>+10%</a:t>
            </a:r>
            <a:endParaRPr b="1">
              <a:solidFill>
                <a:srgbClr val="183E35"/>
              </a:solidFill>
              <a:latin typeface="Nunito Sans"/>
              <a:ea typeface="Nunito Sans"/>
              <a:cs typeface="Nunito Sans"/>
              <a:sym typeface="Nunito Sans"/>
            </a:endParaRPr>
          </a:p>
        </p:txBody>
      </p:sp>
      <p:sp>
        <p:nvSpPr>
          <p:cNvPr id="357" name="Google Shape;357;p16"/>
          <p:cNvSpPr txBox="1"/>
          <p:nvPr/>
        </p:nvSpPr>
        <p:spPr>
          <a:xfrm>
            <a:off x="548640" y="3648456"/>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Tampa Riverwalk</a:t>
            </a:r>
            <a:endParaRPr>
              <a:solidFill>
                <a:srgbClr val="183E35"/>
              </a:solidFill>
              <a:latin typeface="Nunito Sans"/>
              <a:ea typeface="Nunito Sans"/>
              <a:cs typeface="Nunito Sans"/>
              <a:sym typeface="Nunito Sans"/>
            </a:endParaRPr>
          </a:p>
        </p:txBody>
      </p:sp>
      <p:sp>
        <p:nvSpPr>
          <p:cNvPr id="358" name="Google Shape;358;p16"/>
          <p:cNvSpPr/>
          <p:nvPr/>
        </p:nvSpPr>
        <p:spPr>
          <a:xfrm>
            <a:off x="4870704" y="3725723"/>
            <a:ext cx="108900" cy="211200"/>
          </a:xfrm>
          <a:prstGeom prst="rect">
            <a:avLst/>
          </a:prstGeom>
          <a:solidFill>
            <a:srgbClr val="245C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9" name="Google Shape;359;p16"/>
          <p:cNvSpPr txBox="1"/>
          <p:nvPr/>
        </p:nvSpPr>
        <p:spPr>
          <a:xfrm>
            <a:off x="5034574" y="3648456"/>
            <a:ext cx="8229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83E35"/>
                </a:solidFill>
                <a:latin typeface="Nunito Sans"/>
                <a:ea typeface="Nunito Sans"/>
                <a:cs typeface="Nunito Sans"/>
                <a:sym typeface="Nunito Sans"/>
              </a:rPr>
              <a:t>+4%</a:t>
            </a:r>
            <a:endParaRPr b="1">
              <a:solidFill>
                <a:srgbClr val="183E35"/>
              </a:solidFill>
              <a:latin typeface="Nunito Sans"/>
              <a:ea typeface="Nunito Sans"/>
              <a:cs typeface="Nunito Sans"/>
              <a:sym typeface="Nunito Sans"/>
            </a:endParaRPr>
          </a:p>
        </p:txBody>
      </p:sp>
      <p:sp>
        <p:nvSpPr>
          <p:cNvPr id="360" name="Google Shape;360;p16"/>
          <p:cNvSpPr txBox="1"/>
          <p:nvPr/>
        </p:nvSpPr>
        <p:spPr>
          <a:xfrm>
            <a:off x="548640" y="4032504"/>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Crescent Park</a:t>
            </a:r>
            <a:endParaRPr>
              <a:solidFill>
                <a:srgbClr val="183E35"/>
              </a:solidFill>
              <a:latin typeface="Nunito Sans"/>
              <a:ea typeface="Nunito Sans"/>
              <a:cs typeface="Nunito Sans"/>
              <a:sym typeface="Nunito Sans"/>
            </a:endParaRPr>
          </a:p>
        </p:txBody>
      </p:sp>
      <p:sp>
        <p:nvSpPr>
          <p:cNvPr id="361" name="Google Shape;361;p16"/>
          <p:cNvSpPr/>
          <p:nvPr/>
        </p:nvSpPr>
        <p:spPr>
          <a:xfrm>
            <a:off x="4496738" y="4109771"/>
            <a:ext cx="374100" cy="211200"/>
          </a:xfrm>
          <a:prstGeom prst="rect">
            <a:avLst/>
          </a:prstGeom>
          <a:solidFill>
            <a:srgbClr val="B56B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2" name="Google Shape;362;p16"/>
          <p:cNvSpPr txBox="1"/>
          <p:nvPr/>
        </p:nvSpPr>
        <p:spPr>
          <a:xfrm>
            <a:off x="3618914" y="4032504"/>
            <a:ext cx="8229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a:solidFill>
                  <a:srgbClr val="183E35"/>
                </a:solidFill>
                <a:latin typeface="Nunito Sans"/>
                <a:ea typeface="Nunito Sans"/>
                <a:cs typeface="Nunito Sans"/>
                <a:sym typeface="Nunito Sans"/>
              </a:rPr>
              <a:t>−13%</a:t>
            </a:r>
            <a:endParaRPr b="1">
              <a:solidFill>
                <a:srgbClr val="183E35"/>
              </a:solidFill>
              <a:latin typeface="Nunito Sans"/>
              <a:ea typeface="Nunito Sans"/>
              <a:cs typeface="Nunito Sans"/>
              <a:sym typeface="Nunito Sans"/>
            </a:endParaRPr>
          </a:p>
        </p:txBody>
      </p:sp>
      <p:sp>
        <p:nvSpPr>
          <p:cNvPr id="363" name="Google Shape;363;p16"/>
          <p:cNvSpPr txBox="1"/>
          <p:nvPr/>
        </p:nvSpPr>
        <p:spPr>
          <a:xfrm>
            <a:off x="548640" y="4416552"/>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Indianapolis Cultural Trail</a:t>
            </a:r>
            <a:endParaRPr>
              <a:solidFill>
                <a:srgbClr val="183E35"/>
              </a:solidFill>
              <a:latin typeface="Nunito Sans"/>
              <a:ea typeface="Nunito Sans"/>
              <a:cs typeface="Nunito Sans"/>
              <a:sym typeface="Nunito Sans"/>
            </a:endParaRPr>
          </a:p>
        </p:txBody>
      </p:sp>
      <p:sp>
        <p:nvSpPr>
          <p:cNvPr id="364" name="Google Shape;364;p16"/>
          <p:cNvSpPr/>
          <p:nvPr/>
        </p:nvSpPr>
        <p:spPr>
          <a:xfrm>
            <a:off x="4454906" y="4493819"/>
            <a:ext cx="415800" cy="211200"/>
          </a:xfrm>
          <a:prstGeom prst="rect">
            <a:avLst/>
          </a:prstGeom>
          <a:solidFill>
            <a:srgbClr val="B56B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5" name="Google Shape;365;p16"/>
          <p:cNvSpPr txBox="1"/>
          <p:nvPr/>
        </p:nvSpPr>
        <p:spPr>
          <a:xfrm>
            <a:off x="3577082" y="4416552"/>
            <a:ext cx="8229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a:solidFill>
                  <a:srgbClr val="183E35"/>
                </a:solidFill>
                <a:latin typeface="Nunito Sans"/>
                <a:ea typeface="Nunito Sans"/>
                <a:cs typeface="Nunito Sans"/>
                <a:sym typeface="Nunito Sans"/>
              </a:rPr>
              <a:t>−15%</a:t>
            </a:r>
            <a:endParaRPr b="1">
              <a:solidFill>
                <a:srgbClr val="183E35"/>
              </a:solidFill>
              <a:latin typeface="Nunito Sans"/>
              <a:ea typeface="Nunito Sans"/>
              <a:cs typeface="Nunito Sans"/>
              <a:sym typeface="Nunito Sans"/>
            </a:endParaRPr>
          </a:p>
        </p:txBody>
      </p:sp>
      <p:sp>
        <p:nvSpPr>
          <p:cNvPr id="366" name="Google Shape;366;p16"/>
          <p:cNvSpPr txBox="1"/>
          <p:nvPr/>
        </p:nvSpPr>
        <p:spPr>
          <a:xfrm>
            <a:off x="548640" y="4800600"/>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Sun Link</a:t>
            </a:r>
            <a:endParaRPr>
              <a:solidFill>
                <a:srgbClr val="183E35"/>
              </a:solidFill>
              <a:latin typeface="Nunito Sans"/>
              <a:ea typeface="Nunito Sans"/>
              <a:cs typeface="Nunito Sans"/>
              <a:sym typeface="Nunito Sans"/>
            </a:endParaRPr>
          </a:p>
        </p:txBody>
      </p:sp>
      <p:sp>
        <p:nvSpPr>
          <p:cNvPr id="367" name="Google Shape;367;p16"/>
          <p:cNvSpPr/>
          <p:nvPr/>
        </p:nvSpPr>
        <p:spPr>
          <a:xfrm>
            <a:off x="4400014" y="4877867"/>
            <a:ext cx="470700" cy="211200"/>
          </a:xfrm>
          <a:prstGeom prst="rect">
            <a:avLst/>
          </a:prstGeom>
          <a:solidFill>
            <a:srgbClr val="B56B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8" name="Google Shape;368;p16"/>
          <p:cNvSpPr txBox="1"/>
          <p:nvPr/>
        </p:nvSpPr>
        <p:spPr>
          <a:xfrm>
            <a:off x="3522190" y="4800600"/>
            <a:ext cx="8229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a:solidFill>
                  <a:srgbClr val="183E35"/>
                </a:solidFill>
                <a:latin typeface="Nunito Sans"/>
                <a:ea typeface="Nunito Sans"/>
                <a:cs typeface="Nunito Sans"/>
                <a:sym typeface="Nunito Sans"/>
              </a:rPr>
              <a:t>−17%</a:t>
            </a:r>
            <a:endParaRPr b="1">
              <a:solidFill>
                <a:srgbClr val="183E35"/>
              </a:solidFill>
              <a:latin typeface="Nunito Sans"/>
              <a:ea typeface="Nunito Sans"/>
              <a:cs typeface="Nunito Sans"/>
              <a:sym typeface="Nunito Sans"/>
            </a:endParaRPr>
          </a:p>
        </p:txBody>
      </p:sp>
      <p:sp>
        <p:nvSpPr>
          <p:cNvPr id="369" name="Google Shape;369;p16"/>
          <p:cNvSpPr txBox="1"/>
          <p:nvPr/>
        </p:nvSpPr>
        <p:spPr>
          <a:xfrm>
            <a:off x="548640" y="5184648"/>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Gateway Arch Park</a:t>
            </a:r>
            <a:endParaRPr>
              <a:solidFill>
                <a:srgbClr val="183E35"/>
              </a:solidFill>
              <a:latin typeface="Nunito Sans"/>
              <a:ea typeface="Nunito Sans"/>
              <a:cs typeface="Nunito Sans"/>
              <a:sym typeface="Nunito Sans"/>
            </a:endParaRPr>
          </a:p>
        </p:txBody>
      </p:sp>
      <p:sp>
        <p:nvSpPr>
          <p:cNvPr id="370" name="Google Shape;370;p16"/>
          <p:cNvSpPr/>
          <p:nvPr/>
        </p:nvSpPr>
        <p:spPr>
          <a:xfrm>
            <a:off x="4036119" y="5261915"/>
            <a:ext cx="834600" cy="211200"/>
          </a:xfrm>
          <a:prstGeom prst="rect">
            <a:avLst/>
          </a:prstGeom>
          <a:solidFill>
            <a:srgbClr val="B56B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1" name="Google Shape;371;p16"/>
          <p:cNvSpPr txBox="1"/>
          <p:nvPr/>
        </p:nvSpPr>
        <p:spPr>
          <a:xfrm>
            <a:off x="3158295" y="5184648"/>
            <a:ext cx="8229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a:solidFill>
                  <a:srgbClr val="183E35"/>
                </a:solidFill>
                <a:latin typeface="Nunito Sans"/>
                <a:ea typeface="Nunito Sans"/>
                <a:cs typeface="Nunito Sans"/>
                <a:sym typeface="Nunito Sans"/>
              </a:rPr>
              <a:t>−30%</a:t>
            </a:r>
            <a:endParaRPr b="1">
              <a:solidFill>
                <a:srgbClr val="183E35"/>
              </a:solidFill>
              <a:latin typeface="Nunito Sans"/>
              <a:ea typeface="Nunito Sans"/>
              <a:cs typeface="Nunito Sans"/>
              <a:sym typeface="Nunito Sans"/>
            </a:endParaRPr>
          </a:p>
        </p:txBody>
      </p:sp>
      <p:sp>
        <p:nvSpPr>
          <p:cNvPr id="372" name="Google Shape;372;p16"/>
          <p:cNvSpPr txBox="1"/>
          <p:nvPr/>
        </p:nvSpPr>
        <p:spPr>
          <a:xfrm>
            <a:off x="548640" y="5568696"/>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Schuylkill Boardwalk</a:t>
            </a:r>
            <a:endParaRPr>
              <a:solidFill>
                <a:srgbClr val="183E35"/>
              </a:solidFill>
              <a:latin typeface="Nunito Sans"/>
              <a:ea typeface="Nunito Sans"/>
              <a:cs typeface="Nunito Sans"/>
              <a:sym typeface="Nunito Sans"/>
            </a:endParaRPr>
          </a:p>
        </p:txBody>
      </p:sp>
      <p:sp>
        <p:nvSpPr>
          <p:cNvPr id="373" name="Google Shape;373;p16"/>
          <p:cNvSpPr/>
          <p:nvPr/>
        </p:nvSpPr>
        <p:spPr>
          <a:xfrm>
            <a:off x="4016781" y="5645963"/>
            <a:ext cx="853800" cy="211200"/>
          </a:xfrm>
          <a:prstGeom prst="rect">
            <a:avLst/>
          </a:prstGeom>
          <a:solidFill>
            <a:srgbClr val="B56B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4" name="Google Shape;374;p16"/>
          <p:cNvSpPr txBox="1"/>
          <p:nvPr/>
        </p:nvSpPr>
        <p:spPr>
          <a:xfrm>
            <a:off x="3138957" y="5568696"/>
            <a:ext cx="8229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a:solidFill>
                  <a:srgbClr val="183E35"/>
                </a:solidFill>
                <a:latin typeface="Nunito Sans"/>
                <a:ea typeface="Nunito Sans"/>
                <a:cs typeface="Nunito Sans"/>
                <a:sym typeface="Nunito Sans"/>
              </a:rPr>
              <a:t>−30%</a:t>
            </a:r>
            <a:endParaRPr b="1">
              <a:solidFill>
                <a:srgbClr val="183E35"/>
              </a:solidFill>
              <a:latin typeface="Nunito Sans"/>
              <a:ea typeface="Nunito Sans"/>
              <a:cs typeface="Nunito Sans"/>
              <a:sym typeface="Nunito Sans"/>
            </a:endParaRPr>
          </a:p>
        </p:txBody>
      </p:sp>
      <p:sp>
        <p:nvSpPr>
          <p:cNvPr id="375" name="Google Shape;375;p16"/>
          <p:cNvSpPr/>
          <p:nvPr/>
        </p:nvSpPr>
        <p:spPr>
          <a:xfrm>
            <a:off x="4863389" y="2103120"/>
            <a:ext cx="14700" cy="3840600"/>
          </a:xfrm>
          <a:prstGeom prst="rect">
            <a:avLst/>
          </a:prstGeom>
          <a:solidFill>
            <a:srgbClr val="BFBF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6" name="Google Shape;376;p16"/>
          <p:cNvSpPr txBox="1"/>
          <p:nvPr/>
        </p:nvSpPr>
        <p:spPr>
          <a:xfrm>
            <a:off x="8732520" y="2103120"/>
            <a:ext cx="2926200" cy="292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rgbClr val="183E35"/>
                </a:solidFill>
                <a:latin typeface="Nunito Sans"/>
                <a:ea typeface="Nunito Sans"/>
                <a:cs typeface="Nunito Sans"/>
                <a:sym typeface="Nunito Sans"/>
              </a:rPr>
              <a:t>5 of 10 grew faster than their surroundings.</a:t>
            </a:r>
            <a:endParaRPr sz="22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22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2200">
                <a:solidFill>
                  <a:srgbClr val="183E35"/>
                </a:solidFill>
                <a:latin typeface="Nunito Sans"/>
                <a:ea typeface="Nunito Sans"/>
                <a:cs typeface="Nunito Sans"/>
                <a:sym typeface="Nunito Sans"/>
              </a:rPr>
              <a:t>Raw growth alone looked positive for 9 of 10.</a:t>
            </a:r>
            <a:endParaRPr sz="2200">
              <a:solidFill>
                <a:srgbClr val="183E35"/>
              </a:solidFill>
              <a:latin typeface="Nunito Sans"/>
              <a:ea typeface="Nunito Sans"/>
              <a:cs typeface="Nunito Sans"/>
              <a:sym typeface="Nunito Sans"/>
            </a:endParaRPr>
          </a:p>
        </p:txBody>
      </p:sp>
      <p:sp>
        <p:nvSpPr>
          <p:cNvPr id="377" name="Google Shape;377;p16"/>
          <p:cNvSpPr txBox="1"/>
          <p:nvPr/>
        </p:nvSpPr>
        <p:spPr>
          <a:xfrm>
            <a:off x="548640" y="101600"/>
            <a:ext cx="110490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5A6D60"/>
                </a:solidFill>
                <a:latin typeface="Nunito Sans"/>
                <a:ea typeface="Nunito Sans"/>
                <a:cs typeface="Nunito Sans"/>
                <a:sym typeface="Nunito Sans"/>
              </a:rPr>
              <a:t>HOW DO WE SOLVE IT?</a:t>
            </a:r>
            <a:endParaRPr b="1" sz="1100">
              <a:solidFill>
                <a:srgbClr val="5A6D60"/>
              </a:solidFill>
              <a:latin typeface="Nunito Sans"/>
              <a:ea typeface="Nunito Sans"/>
              <a:cs typeface="Nunito Sans"/>
              <a:sym typeface="Nunito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6"/>
        </a:solidFill>
      </p:bgPr>
    </p:bg>
    <p:spTree>
      <p:nvGrpSpPr>
        <p:cNvPr id="382" name="Shape 382"/>
        <p:cNvGrpSpPr/>
        <p:nvPr/>
      </p:nvGrpSpPr>
      <p:grpSpPr>
        <a:xfrm>
          <a:off x="0" y="0"/>
          <a:ext cx="0" cy="0"/>
          <a:chOff x="0" y="0"/>
          <a:chExt cx="0" cy="0"/>
        </a:xfrm>
      </p:grpSpPr>
      <p:sp>
        <p:nvSpPr>
          <p:cNvPr id="383" name="Google Shape;383;p17"/>
          <p:cNvSpPr txBox="1"/>
          <p:nvPr/>
        </p:nvSpPr>
        <p:spPr>
          <a:xfrm>
            <a:off x="11094415" y="6355080"/>
            <a:ext cx="548700" cy="384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100">
                <a:solidFill>
                  <a:srgbClr val="5A6D60"/>
                </a:solidFill>
                <a:latin typeface="Nunito Sans"/>
                <a:ea typeface="Nunito Sans"/>
                <a:cs typeface="Nunito Sans"/>
                <a:sym typeface="Nunito Sans"/>
              </a:rPr>
              <a:t>15</a:t>
            </a:r>
            <a:endParaRPr sz="1100">
              <a:solidFill>
                <a:srgbClr val="5A6D60"/>
              </a:solidFill>
              <a:latin typeface="Nunito Sans"/>
              <a:ea typeface="Nunito Sans"/>
              <a:cs typeface="Nunito Sans"/>
              <a:sym typeface="Nunito Sans"/>
            </a:endParaRPr>
          </a:p>
        </p:txBody>
      </p:sp>
      <p:sp>
        <p:nvSpPr>
          <p:cNvPr id="384" name="Google Shape;384;p17"/>
          <p:cNvSpPr txBox="1"/>
          <p:nvPr/>
        </p:nvSpPr>
        <p:spPr>
          <a:xfrm>
            <a:off x="548640" y="411480"/>
            <a:ext cx="110943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83E35"/>
                </a:solidFill>
                <a:latin typeface="Georgia"/>
                <a:ea typeface="Georgia"/>
                <a:cs typeface="Georgia"/>
                <a:sym typeface="Georgia"/>
              </a:rPr>
              <a:t>Sentiment changes were modest across the past projects</a:t>
            </a:r>
            <a:endParaRPr b="1" sz="3200">
              <a:solidFill>
                <a:srgbClr val="183E35"/>
              </a:solidFill>
              <a:latin typeface="Georgia"/>
              <a:ea typeface="Georgia"/>
              <a:cs typeface="Georgia"/>
              <a:sym typeface="Georgia"/>
            </a:endParaRPr>
          </a:p>
        </p:txBody>
      </p:sp>
      <p:sp>
        <p:nvSpPr>
          <p:cNvPr id="385" name="Google Shape;385;p17"/>
          <p:cNvSpPr txBox="1"/>
          <p:nvPr/>
        </p:nvSpPr>
        <p:spPr>
          <a:xfrm>
            <a:off x="548640" y="1691640"/>
            <a:ext cx="78639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5A6D60"/>
                </a:solidFill>
                <a:latin typeface="Nunito Sans"/>
                <a:ea typeface="Nunito Sans"/>
                <a:cs typeface="Nunito Sans"/>
                <a:sym typeface="Nunito Sans"/>
              </a:rPr>
              <a:t>Adjusted change in average VADER sentiment near each project</a:t>
            </a:r>
            <a:endParaRPr>
              <a:solidFill>
                <a:srgbClr val="5A6D60"/>
              </a:solidFill>
              <a:latin typeface="Nunito Sans"/>
              <a:ea typeface="Nunito Sans"/>
              <a:cs typeface="Nunito Sans"/>
              <a:sym typeface="Nunito Sans"/>
            </a:endParaRPr>
          </a:p>
        </p:txBody>
      </p:sp>
      <p:sp>
        <p:nvSpPr>
          <p:cNvPr id="386" name="Google Shape;386;p17"/>
          <p:cNvSpPr txBox="1"/>
          <p:nvPr/>
        </p:nvSpPr>
        <p:spPr>
          <a:xfrm>
            <a:off x="548640" y="2112264"/>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Riverfront / Ascend</a:t>
            </a:r>
            <a:endParaRPr>
              <a:solidFill>
                <a:srgbClr val="183E35"/>
              </a:solidFill>
              <a:latin typeface="Nunito Sans"/>
              <a:ea typeface="Nunito Sans"/>
              <a:cs typeface="Nunito Sans"/>
              <a:sym typeface="Nunito Sans"/>
            </a:endParaRPr>
          </a:p>
        </p:txBody>
      </p:sp>
      <p:sp>
        <p:nvSpPr>
          <p:cNvPr id="387" name="Google Shape;387;p17"/>
          <p:cNvSpPr/>
          <p:nvPr/>
        </p:nvSpPr>
        <p:spPr>
          <a:xfrm>
            <a:off x="6272784" y="2189531"/>
            <a:ext cx="1361700" cy="211200"/>
          </a:xfrm>
          <a:prstGeom prst="rect">
            <a:avLst/>
          </a:prstGeom>
          <a:solidFill>
            <a:srgbClr val="245C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8" name="Google Shape;388;p17"/>
          <p:cNvSpPr txBox="1"/>
          <p:nvPr/>
        </p:nvSpPr>
        <p:spPr>
          <a:xfrm>
            <a:off x="7689298" y="2112264"/>
            <a:ext cx="8229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83E35"/>
                </a:solidFill>
                <a:latin typeface="Nunito Sans"/>
                <a:ea typeface="Nunito Sans"/>
                <a:cs typeface="Nunito Sans"/>
                <a:sym typeface="Nunito Sans"/>
              </a:rPr>
              <a:t>+0.065</a:t>
            </a:r>
            <a:endParaRPr b="1">
              <a:solidFill>
                <a:srgbClr val="183E35"/>
              </a:solidFill>
              <a:latin typeface="Nunito Sans"/>
              <a:ea typeface="Nunito Sans"/>
              <a:cs typeface="Nunito Sans"/>
              <a:sym typeface="Nunito Sans"/>
            </a:endParaRPr>
          </a:p>
        </p:txBody>
      </p:sp>
      <p:sp>
        <p:nvSpPr>
          <p:cNvPr id="389" name="Google Shape;389;p17"/>
          <p:cNvSpPr txBox="1"/>
          <p:nvPr/>
        </p:nvSpPr>
        <p:spPr>
          <a:xfrm>
            <a:off x="548640" y="2496312"/>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Schuylkill Boardwalk</a:t>
            </a:r>
            <a:endParaRPr>
              <a:solidFill>
                <a:srgbClr val="183E35"/>
              </a:solidFill>
              <a:latin typeface="Nunito Sans"/>
              <a:ea typeface="Nunito Sans"/>
              <a:cs typeface="Nunito Sans"/>
              <a:sym typeface="Nunito Sans"/>
            </a:endParaRPr>
          </a:p>
        </p:txBody>
      </p:sp>
      <p:sp>
        <p:nvSpPr>
          <p:cNvPr id="390" name="Google Shape;390;p17"/>
          <p:cNvSpPr/>
          <p:nvPr/>
        </p:nvSpPr>
        <p:spPr>
          <a:xfrm>
            <a:off x="6272784" y="2573579"/>
            <a:ext cx="1269900" cy="211200"/>
          </a:xfrm>
          <a:prstGeom prst="rect">
            <a:avLst/>
          </a:prstGeom>
          <a:solidFill>
            <a:srgbClr val="245C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1" name="Google Shape;391;p17"/>
          <p:cNvSpPr txBox="1"/>
          <p:nvPr/>
        </p:nvSpPr>
        <p:spPr>
          <a:xfrm>
            <a:off x="7597432" y="2496312"/>
            <a:ext cx="8229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83E35"/>
                </a:solidFill>
                <a:latin typeface="Nunito Sans"/>
                <a:ea typeface="Nunito Sans"/>
                <a:cs typeface="Nunito Sans"/>
                <a:sym typeface="Nunito Sans"/>
              </a:rPr>
              <a:t>+0.060</a:t>
            </a:r>
            <a:endParaRPr b="1">
              <a:solidFill>
                <a:srgbClr val="183E35"/>
              </a:solidFill>
              <a:latin typeface="Nunito Sans"/>
              <a:ea typeface="Nunito Sans"/>
              <a:cs typeface="Nunito Sans"/>
              <a:sym typeface="Nunito Sans"/>
            </a:endParaRPr>
          </a:p>
        </p:txBody>
      </p:sp>
      <p:sp>
        <p:nvSpPr>
          <p:cNvPr id="392" name="Google Shape;392;p17"/>
          <p:cNvSpPr txBox="1"/>
          <p:nvPr/>
        </p:nvSpPr>
        <p:spPr>
          <a:xfrm>
            <a:off x="548640" y="2880360"/>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Sun Link</a:t>
            </a:r>
            <a:endParaRPr>
              <a:solidFill>
                <a:srgbClr val="183E35"/>
              </a:solidFill>
              <a:latin typeface="Nunito Sans"/>
              <a:ea typeface="Nunito Sans"/>
              <a:cs typeface="Nunito Sans"/>
              <a:sym typeface="Nunito Sans"/>
            </a:endParaRPr>
          </a:p>
        </p:txBody>
      </p:sp>
      <p:sp>
        <p:nvSpPr>
          <p:cNvPr id="393" name="Google Shape;393;p17"/>
          <p:cNvSpPr/>
          <p:nvPr/>
        </p:nvSpPr>
        <p:spPr>
          <a:xfrm>
            <a:off x="6272784" y="2957627"/>
            <a:ext cx="949500" cy="211200"/>
          </a:xfrm>
          <a:prstGeom prst="rect">
            <a:avLst/>
          </a:prstGeom>
          <a:solidFill>
            <a:srgbClr val="245C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4" name="Google Shape;394;p17"/>
          <p:cNvSpPr txBox="1"/>
          <p:nvPr/>
        </p:nvSpPr>
        <p:spPr>
          <a:xfrm>
            <a:off x="7277292" y="2880360"/>
            <a:ext cx="8229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83E35"/>
                </a:solidFill>
                <a:latin typeface="Nunito Sans"/>
                <a:ea typeface="Nunito Sans"/>
                <a:cs typeface="Nunito Sans"/>
                <a:sym typeface="Nunito Sans"/>
              </a:rPr>
              <a:t>+0.045</a:t>
            </a:r>
            <a:endParaRPr b="1">
              <a:solidFill>
                <a:srgbClr val="183E35"/>
              </a:solidFill>
              <a:latin typeface="Nunito Sans"/>
              <a:ea typeface="Nunito Sans"/>
              <a:cs typeface="Nunito Sans"/>
              <a:sym typeface="Nunito Sans"/>
            </a:endParaRPr>
          </a:p>
        </p:txBody>
      </p:sp>
      <p:sp>
        <p:nvSpPr>
          <p:cNvPr id="395" name="Google Shape;395;p17"/>
          <p:cNvSpPr txBox="1"/>
          <p:nvPr/>
        </p:nvSpPr>
        <p:spPr>
          <a:xfrm>
            <a:off x="548640" y="3264408"/>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Lafitte</a:t>
            </a:r>
            <a:endParaRPr>
              <a:solidFill>
                <a:srgbClr val="183E35"/>
              </a:solidFill>
              <a:latin typeface="Nunito Sans"/>
              <a:ea typeface="Nunito Sans"/>
              <a:cs typeface="Nunito Sans"/>
              <a:sym typeface="Nunito Sans"/>
            </a:endParaRPr>
          </a:p>
        </p:txBody>
      </p:sp>
      <p:sp>
        <p:nvSpPr>
          <p:cNvPr id="396" name="Google Shape;396;p17"/>
          <p:cNvSpPr/>
          <p:nvPr/>
        </p:nvSpPr>
        <p:spPr>
          <a:xfrm>
            <a:off x="6272784" y="3341675"/>
            <a:ext cx="578700" cy="211200"/>
          </a:xfrm>
          <a:prstGeom prst="rect">
            <a:avLst/>
          </a:prstGeom>
          <a:solidFill>
            <a:srgbClr val="245C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7" name="Google Shape;397;p17"/>
          <p:cNvSpPr txBox="1"/>
          <p:nvPr/>
        </p:nvSpPr>
        <p:spPr>
          <a:xfrm>
            <a:off x="6906332" y="3264408"/>
            <a:ext cx="8229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83E35"/>
                </a:solidFill>
                <a:latin typeface="Nunito Sans"/>
                <a:ea typeface="Nunito Sans"/>
                <a:cs typeface="Nunito Sans"/>
                <a:sym typeface="Nunito Sans"/>
              </a:rPr>
              <a:t>+0.028</a:t>
            </a:r>
            <a:endParaRPr b="1">
              <a:solidFill>
                <a:srgbClr val="183E35"/>
              </a:solidFill>
              <a:latin typeface="Nunito Sans"/>
              <a:ea typeface="Nunito Sans"/>
              <a:cs typeface="Nunito Sans"/>
              <a:sym typeface="Nunito Sans"/>
            </a:endParaRPr>
          </a:p>
        </p:txBody>
      </p:sp>
      <p:sp>
        <p:nvSpPr>
          <p:cNvPr id="398" name="Google Shape;398;p17"/>
          <p:cNvSpPr txBox="1"/>
          <p:nvPr/>
        </p:nvSpPr>
        <p:spPr>
          <a:xfrm>
            <a:off x="548640" y="3648456"/>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Dilworth Park</a:t>
            </a:r>
            <a:endParaRPr>
              <a:solidFill>
                <a:srgbClr val="183E35"/>
              </a:solidFill>
              <a:latin typeface="Nunito Sans"/>
              <a:ea typeface="Nunito Sans"/>
              <a:cs typeface="Nunito Sans"/>
              <a:sym typeface="Nunito Sans"/>
            </a:endParaRPr>
          </a:p>
        </p:txBody>
      </p:sp>
      <p:sp>
        <p:nvSpPr>
          <p:cNvPr id="399" name="Google Shape;399;p17"/>
          <p:cNvSpPr/>
          <p:nvPr/>
        </p:nvSpPr>
        <p:spPr>
          <a:xfrm>
            <a:off x="6272784" y="3725723"/>
            <a:ext cx="479700" cy="211200"/>
          </a:xfrm>
          <a:prstGeom prst="rect">
            <a:avLst/>
          </a:prstGeom>
          <a:solidFill>
            <a:srgbClr val="245C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0" name="Google Shape;400;p17"/>
          <p:cNvSpPr txBox="1"/>
          <p:nvPr/>
        </p:nvSpPr>
        <p:spPr>
          <a:xfrm>
            <a:off x="6807230" y="3648456"/>
            <a:ext cx="8229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83E35"/>
                </a:solidFill>
                <a:latin typeface="Nunito Sans"/>
                <a:ea typeface="Nunito Sans"/>
                <a:cs typeface="Nunito Sans"/>
                <a:sym typeface="Nunito Sans"/>
              </a:rPr>
              <a:t>+0.023</a:t>
            </a:r>
            <a:endParaRPr b="1">
              <a:solidFill>
                <a:srgbClr val="183E35"/>
              </a:solidFill>
              <a:latin typeface="Nunito Sans"/>
              <a:ea typeface="Nunito Sans"/>
              <a:cs typeface="Nunito Sans"/>
              <a:sym typeface="Nunito Sans"/>
            </a:endParaRPr>
          </a:p>
        </p:txBody>
      </p:sp>
      <p:sp>
        <p:nvSpPr>
          <p:cNvPr id="401" name="Google Shape;401;p17"/>
          <p:cNvSpPr txBox="1"/>
          <p:nvPr/>
        </p:nvSpPr>
        <p:spPr>
          <a:xfrm>
            <a:off x="548640" y="4032504"/>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The Rail Park</a:t>
            </a:r>
            <a:endParaRPr>
              <a:solidFill>
                <a:srgbClr val="183E35"/>
              </a:solidFill>
              <a:latin typeface="Nunito Sans"/>
              <a:ea typeface="Nunito Sans"/>
              <a:cs typeface="Nunito Sans"/>
              <a:sym typeface="Nunito Sans"/>
            </a:endParaRPr>
          </a:p>
        </p:txBody>
      </p:sp>
      <p:sp>
        <p:nvSpPr>
          <p:cNvPr id="402" name="Google Shape;402;p17"/>
          <p:cNvSpPr/>
          <p:nvPr/>
        </p:nvSpPr>
        <p:spPr>
          <a:xfrm>
            <a:off x="6272784" y="4109771"/>
            <a:ext cx="230700" cy="211200"/>
          </a:xfrm>
          <a:prstGeom prst="rect">
            <a:avLst/>
          </a:prstGeom>
          <a:solidFill>
            <a:srgbClr val="245C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3" name="Google Shape;403;p17"/>
          <p:cNvSpPr txBox="1"/>
          <p:nvPr/>
        </p:nvSpPr>
        <p:spPr>
          <a:xfrm>
            <a:off x="6558403" y="4032504"/>
            <a:ext cx="8229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83E35"/>
                </a:solidFill>
                <a:latin typeface="Nunito Sans"/>
                <a:ea typeface="Nunito Sans"/>
                <a:cs typeface="Nunito Sans"/>
                <a:sym typeface="Nunito Sans"/>
              </a:rPr>
              <a:t>+0.011</a:t>
            </a:r>
            <a:endParaRPr b="1">
              <a:solidFill>
                <a:srgbClr val="183E35"/>
              </a:solidFill>
              <a:latin typeface="Nunito Sans"/>
              <a:ea typeface="Nunito Sans"/>
              <a:cs typeface="Nunito Sans"/>
              <a:sym typeface="Nunito Sans"/>
            </a:endParaRPr>
          </a:p>
        </p:txBody>
      </p:sp>
      <p:sp>
        <p:nvSpPr>
          <p:cNvPr id="404" name="Google Shape;404;p17"/>
          <p:cNvSpPr txBox="1"/>
          <p:nvPr/>
        </p:nvSpPr>
        <p:spPr>
          <a:xfrm>
            <a:off x="548640" y="4416552"/>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Tampa Riverwalk</a:t>
            </a:r>
            <a:endParaRPr>
              <a:solidFill>
                <a:srgbClr val="183E35"/>
              </a:solidFill>
              <a:latin typeface="Nunito Sans"/>
              <a:ea typeface="Nunito Sans"/>
              <a:cs typeface="Nunito Sans"/>
              <a:sym typeface="Nunito Sans"/>
            </a:endParaRPr>
          </a:p>
        </p:txBody>
      </p:sp>
      <p:sp>
        <p:nvSpPr>
          <p:cNvPr id="405" name="Google Shape;405;p17"/>
          <p:cNvSpPr/>
          <p:nvPr/>
        </p:nvSpPr>
        <p:spPr>
          <a:xfrm>
            <a:off x="6272784" y="4493819"/>
            <a:ext cx="90000" cy="211200"/>
          </a:xfrm>
          <a:prstGeom prst="rect">
            <a:avLst/>
          </a:prstGeom>
          <a:solidFill>
            <a:srgbClr val="245C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6" name="Google Shape;406;p17"/>
          <p:cNvSpPr txBox="1"/>
          <p:nvPr/>
        </p:nvSpPr>
        <p:spPr>
          <a:xfrm>
            <a:off x="6417730" y="4416552"/>
            <a:ext cx="8229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83E35"/>
                </a:solidFill>
                <a:latin typeface="Nunito Sans"/>
                <a:ea typeface="Nunito Sans"/>
                <a:cs typeface="Nunito Sans"/>
                <a:sym typeface="Nunito Sans"/>
              </a:rPr>
              <a:t>+0.004</a:t>
            </a:r>
            <a:endParaRPr b="1">
              <a:solidFill>
                <a:srgbClr val="183E35"/>
              </a:solidFill>
              <a:latin typeface="Nunito Sans"/>
              <a:ea typeface="Nunito Sans"/>
              <a:cs typeface="Nunito Sans"/>
              <a:sym typeface="Nunito Sans"/>
            </a:endParaRPr>
          </a:p>
        </p:txBody>
      </p:sp>
      <p:sp>
        <p:nvSpPr>
          <p:cNvPr id="407" name="Google Shape;407;p17"/>
          <p:cNvSpPr txBox="1"/>
          <p:nvPr/>
        </p:nvSpPr>
        <p:spPr>
          <a:xfrm>
            <a:off x="548640" y="4800600"/>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Indianapolis Cultural Trail</a:t>
            </a:r>
            <a:endParaRPr>
              <a:solidFill>
                <a:srgbClr val="183E35"/>
              </a:solidFill>
              <a:latin typeface="Nunito Sans"/>
              <a:ea typeface="Nunito Sans"/>
              <a:cs typeface="Nunito Sans"/>
              <a:sym typeface="Nunito Sans"/>
            </a:endParaRPr>
          </a:p>
        </p:txBody>
      </p:sp>
      <p:sp>
        <p:nvSpPr>
          <p:cNvPr id="408" name="Google Shape;408;p17"/>
          <p:cNvSpPr/>
          <p:nvPr/>
        </p:nvSpPr>
        <p:spPr>
          <a:xfrm>
            <a:off x="6249762" y="4877867"/>
            <a:ext cx="27300" cy="211200"/>
          </a:xfrm>
          <a:prstGeom prst="rect">
            <a:avLst/>
          </a:prstGeom>
          <a:solidFill>
            <a:srgbClr val="B56B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9" name="Google Shape;409;p17"/>
          <p:cNvSpPr txBox="1"/>
          <p:nvPr/>
        </p:nvSpPr>
        <p:spPr>
          <a:xfrm>
            <a:off x="5371938" y="4800600"/>
            <a:ext cx="8229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a:solidFill>
                  <a:srgbClr val="183E35"/>
                </a:solidFill>
                <a:latin typeface="Nunito Sans"/>
                <a:ea typeface="Nunito Sans"/>
                <a:cs typeface="Nunito Sans"/>
                <a:sym typeface="Nunito Sans"/>
              </a:rPr>
              <a:t>−0.001</a:t>
            </a:r>
            <a:endParaRPr b="1">
              <a:solidFill>
                <a:srgbClr val="183E35"/>
              </a:solidFill>
              <a:latin typeface="Nunito Sans"/>
              <a:ea typeface="Nunito Sans"/>
              <a:cs typeface="Nunito Sans"/>
              <a:sym typeface="Nunito Sans"/>
            </a:endParaRPr>
          </a:p>
        </p:txBody>
      </p:sp>
      <p:sp>
        <p:nvSpPr>
          <p:cNvPr id="410" name="Google Shape;410;p17"/>
          <p:cNvSpPr txBox="1"/>
          <p:nvPr/>
        </p:nvSpPr>
        <p:spPr>
          <a:xfrm>
            <a:off x="548640" y="5184648"/>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Crescent Park</a:t>
            </a:r>
            <a:endParaRPr>
              <a:solidFill>
                <a:srgbClr val="183E35"/>
              </a:solidFill>
              <a:latin typeface="Nunito Sans"/>
              <a:ea typeface="Nunito Sans"/>
              <a:cs typeface="Nunito Sans"/>
              <a:sym typeface="Nunito Sans"/>
            </a:endParaRPr>
          </a:p>
        </p:txBody>
      </p:sp>
      <p:sp>
        <p:nvSpPr>
          <p:cNvPr id="411" name="Google Shape;411;p17"/>
          <p:cNvSpPr/>
          <p:nvPr/>
        </p:nvSpPr>
        <p:spPr>
          <a:xfrm>
            <a:off x="6126415" y="5261915"/>
            <a:ext cx="146400" cy="211200"/>
          </a:xfrm>
          <a:prstGeom prst="rect">
            <a:avLst/>
          </a:prstGeom>
          <a:solidFill>
            <a:srgbClr val="B56B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2" name="Google Shape;412;p17"/>
          <p:cNvSpPr txBox="1"/>
          <p:nvPr/>
        </p:nvSpPr>
        <p:spPr>
          <a:xfrm>
            <a:off x="5248591" y="5184648"/>
            <a:ext cx="8229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a:solidFill>
                  <a:srgbClr val="183E35"/>
                </a:solidFill>
                <a:latin typeface="Nunito Sans"/>
                <a:ea typeface="Nunito Sans"/>
                <a:cs typeface="Nunito Sans"/>
                <a:sym typeface="Nunito Sans"/>
              </a:rPr>
              <a:t>−0.007</a:t>
            </a:r>
            <a:endParaRPr b="1">
              <a:solidFill>
                <a:srgbClr val="183E35"/>
              </a:solidFill>
              <a:latin typeface="Nunito Sans"/>
              <a:ea typeface="Nunito Sans"/>
              <a:cs typeface="Nunito Sans"/>
              <a:sym typeface="Nunito Sans"/>
            </a:endParaRPr>
          </a:p>
        </p:txBody>
      </p:sp>
      <p:sp>
        <p:nvSpPr>
          <p:cNvPr id="413" name="Google Shape;413;p17"/>
          <p:cNvSpPr txBox="1"/>
          <p:nvPr/>
        </p:nvSpPr>
        <p:spPr>
          <a:xfrm>
            <a:off x="548640" y="5568696"/>
            <a:ext cx="27432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Gateway Arch Park</a:t>
            </a:r>
            <a:endParaRPr>
              <a:solidFill>
                <a:srgbClr val="183E35"/>
              </a:solidFill>
              <a:latin typeface="Nunito Sans"/>
              <a:ea typeface="Nunito Sans"/>
              <a:cs typeface="Nunito Sans"/>
              <a:sym typeface="Nunito Sans"/>
            </a:endParaRPr>
          </a:p>
        </p:txBody>
      </p:sp>
      <p:sp>
        <p:nvSpPr>
          <p:cNvPr id="414" name="Google Shape;414;p17"/>
          <p:cNvSpPr/>
          <p:nvPr/>
        </p:nvSpPr>
        <p:spPr>
          <a:xfrm>
            <a:off x="4208599" y="5645963"/>
            <a:ext cx="2064300" cy="211200"/>
          </a:xfrm>
          <a:prstGeom prst="rect">
            <a:avLst/>
          </a:prstGeom>
          <a:solidFill>
            <a:srgbClr val="B56B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5" name="Google Shape;415;p17"/>
          <p:cNvSpPr txBox="1"/>
          <p:nvPr/>
        </p:nvSpPr>
        <p:spPr>
          <a:xfrm>
            <a:off x="3330775" y="5568696"/>
            <a:ext cx="8229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a:solidFill>
                  <a:srgbClr val="183E35"/>
                </a:solidFill>
                <a:latin typeface="Nunito Sans"/>
                <a:ea typeface="Nunito Sans"/>
                <a:cs typeface="Nunito Sans"/>
                <a:sym typeface="Nunito Sans"/>
              </a:rPr>
              <a:t>−0.098</a:t>
            </a:r>
            <a:endParaRPr b="1">
              <a:solidFill>
                <a:srgbClr val="183E35"/>
              </a:solidFill>
              <a:latin typeface="Nunito Sans"/>
              <a:ea typeface="Nunito Sans"/>
              <a:cs typeface="Nunito Sans"/>
              <a:sym typeface="Nunito Sans"/>
            </a:endParaRPr>
          </a:p>
        </p:txBody>
      </p:sp>
      <p:sp>
        <p:nvSpPr>
          <p:cNvPr id="416" name="Google Shape;416;p17"/>
          <p:cNvSpPr/>
          <p:nvPr/>
        </p:nvSpPr>
        <p:spPr>
          <a:xfrm>
            <a:off x="6265469" y="2103120"/>
            <a:ext cx="14700" cy="3840600"/>
          </a:xfrm>
          <a:prstGeom prst="rect">
            <a:avLst/>
          </a:prstGeom>
          <a:solidFill>
            <a:srgbClr val="BFBF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7" name="Google Shape;417;p17"/>
          <p:cNvSpPr txBox="1"/>
          <p:nvPr/>
        </p:nvSpPr>
        <p:spPr>
          <a:xfrm>
            <a:off x="8732520" y="2103120"/>
            <a:ext cx="2926200" cy="292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rgbClr val="183E35"/>
                </a:solidFill>
                <a:latin typeface="Nunito Sans"/>
                <a:ea typeface="Nunito Sans"/>
                <a:cs typeface="Nunito Sans"/>
                <a:sym typeface="Nunito Sans"/>
              </a:rPr>
              <a:t>7 of 10 became relatively more positive.</a:t>
            </a:r>
            <a:endParaRPr sz="22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22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2200">
                <a:solidFill>
                  <a:srgbClr val="183E35"/>
                </a:solidFill>
                <a:latin typeface="Nunito Sans"/>
                <a:ea typeface="Nunito Sans"/>
                <a:cs typeface="Nunito Sans"/>
                <a:sym typeface="Nunito Sans"/>
              </a:rPr>
              <a:t>Every change was under 0.1 in magnitude.</a:t>
            </a:r>
            <a:endParaRPr sz="22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22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2200">
                <a:solidFill>
                  <a:srgbClr val="183E35"/>
                </a:solidFill>
                <a:latin typeface="Nunito Sans"/>
                <a:ea typeface="Nunito Sans"/>
                <a:cs typeface="Nunito Sans"/>
                <a:sym typeface="Nunito Sans"/>
              </a:rPr>
              <a:t>These are associations.</a:t>
            </a:r>
            <a:endParaRPr sz="2200">
              <a:solidFill>
                <a:srgbClr val="183E35"/>
              </a:solidFill>
              <a:latin typeface="Nunito Sans"/>
              <a:ea typeface="Nunito Sans"/>
              <a:cs typeface="Nunito Sans"/>
              <a:sym typeface="Nunito Sans"/>
            </a:endParaRPr>
          </a:p>
        </p:txBody>
      </p:sp>
      <p:sp>
        <p:nvSpPr>
          <p:cNvPr id="418" name="Google Shape;418;p17"/>
          <p:cNvSpPr txBox="1"/>
          <p:nvPr/>
        </p:nvSpPr>
        <p:spPr>
          <a:xfrm>
            <a:off x="548640" y="101600"/>
            <a:ext cx="110490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5A6D60"/>
                </a:solidFill>
                <a:latin typeface="Nunito Sans"/>
                <a:ea typeface="Nunito Sans"/>
                <a:cs typeface="Nunito Sans"/>
                <a:sym typeface="Nunito Sans"/>
              </a:rPr>
              <a:t>HOW DO WE SOLVE IT?</a:t>
            </a:r>
            <a:endParaRPr b="1" sz="1100">
              <a:solidFill>
                <a:srgbClr val="5A6D60"/>
              </a:solidFill>
              <a:latin typeface="Nunito Sans"/>
              <a:ea typeface="Nunito Sans"/>
              <a:cs typeface="Nunito Sans"/>
              <a:sym typeface="Nunito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6"/>
        </a:solidFill>
      </p:bgPr>
    </p:bg>
    <p:spTree>
      <p:nvGrpSpPr>
        <p:cNvPr id="423" name="Shape 423"/>
        <p:cNvGrpSpPr/>
        <p:nvPr/>
      </p:nvGrpSpPr>
      <p:grpSpPr>
        <a:xfrm>
          <a:off x="0" y="0"/>
          <a:ext cx="0" cy="0"/>
          <a:chOff x="0" y="0"/>
          <a:chExt cx="0" cy="0"/>
        </a:xfrm>
      </p:grpSpPr>
      <p:sp>
        <p:nvSpPr>
          <p:cNvPr id="424" name="Google Shape;424;p18"/>
          <p:cNvSpPr txBox="1"/>
          <p:nvPr/>
        </p:nvSpPr>
        <p:spPr>
          <a:xfrm>
            <a:off x="11094415" y="6355080"/>
            <a:ext cx="548700" cy="384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100">
                <a:solidFill>
                  <a:srgbClr val="5A6D60"/>
                </a:solidFill>
                <a:latin typeface="Nunito Sans"/>
                <a:ea typeface="Nunito Sans"/>
                <a:cs typeface="Nunito Sans"/>
                <a:sym typeface="Nunito Sans"/>
              </a:rPr>
              <a:t>A1</a:t>
            </a:r>
            <a:endParaRPr sz="1100">
              <a:solidFill>
                <a:srgbClr val="5A6D60"/>
              </a:solidFill>
              <a:latin typeface="Nunito Sans"/>
              <a:ea typeface="Nunito Sans"/>
              <a:cs typeface="Nunito Sans"/>
              <a:sym typeface="Nunito Sans"/>
            </a:endParaRPr>
          </a:p>
        </p:txBody>
      </p:sp>
      <p:sp>
        <p:nvSpPr>
          <p:cNvPr id="425" name="Google Shape;425;p18"/>
          <p:cNvSpPr txBox="1"/>
          <p:nvPr/>
        </p:nvSpPr>
        <p:spPr>
          <a:xfrm>
            <a:off x="548640" y="411480"/>
            <a:ext cx="110943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83E35"/>
                </a:solidFill>
                <a:latin typeface="Georgia"/>
                <a:ea typeface="Georgia"/>
                <a:cs typeface="Georgia"/>
                <a:sym typeface="Georgia"/>
              </a:rPr>
              <a:t>Reviews grew 39% in Philadelphia but 163% in Tampa Bay</a:t>
            </a:r>
            <a:endParaRPr b="1" sz="3200">
              <a:solidFill>
                <a:srgbClr val="183E35"/>
              </a:solidFill>
              <a:latin typeface="Georgia"/>
              <a:ea typeface="Georgia"/>
              <a:cs typeface="Georgia"/>
              <a:sym typeface="Georgia"/>
            </a:endParaRPr>
          </a:p>
        </p:txBody>
      </p:sp>
      <p:sp>
        <p:nvSpPr>
          <p:cNvPr id="426" name="Google Shape;426;p18"/>
          <p:cNvSpPr txBox="1"/>
          <p:nvPr/>
        </p:nvSpPr>
        <p:spPr>
          <a:xfrm>
            <a:off x="548640" y="1783080"/>
            <a:ext cx="69495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5A6D60"/>
                </a:solidFill>
                <a:latin typeface="Nunito Sans"/>
                <a:ea typeface="Nunito Sans"/>
                <a:cs typeface="Nunito Sans"/>
                <a:sym typeface="Nunito Sans"/>
              </a:rPr>
              <a:t>Median change in a ZIP's review count, 2012–14 to 2019–21</a:t>
            </a:r>
            <a:endParaRPr>
              <a:solidFill>
                <a:srgbClr val="5A6D60"/>
              </a:solidFill>
              <a:latin typeface="Nunito Sans"/>
              <a:ea typeface="Nunito Sans"/>
              <a:cs typeface="Nunito Sans"/>
              <a:sym typeface="Nunito Sans"/>
            </a:endParaRPr>
          </a:p>
        </p:txBody>
      </p:sp>
      <p:sp>
        <p:nvSpPr>
          <p:cNvPr id="427" name="Google Shape;427;p18"/>
          <p:cNvSpPr txBox="1"/>
          <p:nvPr/>
        </p:nvSpPr>
        <p:spPr>
          <a:xfrm>
            <a:off x="548640" y="2432304"/>
            <a:ext cx="17373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Tampa Bay</a:t>
            </a:r>
            <a:endParaRPr>
              <a:solidFill>
                <a:srgbClr val="183E35"/>
              </a:solidFill>
              <a:latin typeface="Nunito Sans"/>
              <a:ea typeface="Nunito Sans"/>
              <a:cs typeface="Nunito Sans"/>
              <a:sym typeface="Nunito Sans"/>
            </a:endParaRPr>
          </a:p>
        </p:txBody>
      </p:sp>
      <p:sp>
        <p:nvSpPr>
          <p:cNvPr id="428" name="Google Shape;428;p18"/>
          <p:cNvSpPr/>
          <p:nvPr/>
        </p:nvSpPr>
        <p:spPr>
          <a:xfrm>
            <a:off x="2377440" y="2434133"/>
            <a:ext cx="3805500" cy="362100"/>
          </a:xfrm>
          <a:prstGeom prst="rect">
            <a:avLst/>
          </a:prstGeom>
          <a:solidFill>
            <a:srgbClr val="245C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9" name="Google Shape;429;p18"/>
          <p:cNvSpPr txBox="1"/>
          <p:nvPr/>
        </p:nvSpPr>
        <p:spPr>
          <a:xfrm>
            <a:off x="6237950" y="2432304"/>
            <a:ext cx="9144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83E35"/>
                </a:solidFill>
                <a:latin typeface="Nunito Sans"/>
                <a:ea typeface="Nunito Sans"/>
                <a:cs typeface="Nunito Sans"/>
                <a:sym typeface="Nunito Sans"/>
              </a:rPr>
              <a:t>+163%</a:t>
            </a:r>
            <a:endParaRPr b="1">
              <a:solidFill>
                <a:srgbClr val="183E35"/>
              </a:solidFill>
              <a:latin typeface="Nunito Sans"/>
              <a:ea typeface="Nunito Sans"/>
              <a:cs typeface="Nunito Sans"/>
              <a:sym typeface="Nunito Sans"/>
            </a:endParaRPr>
          </a:p>
        </p:txBody>
      </p:sp>
      <p:sp>
        <p:nvSpPr>
          <p:cNvPr id="430" name="Google Shape;430;p18"/>
          <p:cNvSpPr txBox="1"/>
          <p:nvPr/>
        </p:nvSpPr>
        <p:spPr>
          <a:xfrm>
            <a:off x="548640" y="3090672"/>
            <a:ext cx="17373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Tucson</a:t>
            </a:r>
            <a:endParaRPr>
              <a:solidFill>
                <a:srgbClr val="183E35"/>
              </a:solidFill>
              <a:latin typeface="Nunito Sans"/>
              <a:ea typeface="Nunito Sans"/>
              <a:cs typeface="Nunito Sans"/>
              <a:sym typeface="Nunito Sans"/>
            </a:endParaRPr>
          </a:p>
        </p:txBody>
      </p:sp>
      <p:sp>
        <p:nvSpPr>
          <p:cNvPr id="431" name="Google Shape;431;p18"/>
          <p:cNvSpPr/>
          <p:nvPr/>
        </p:nvSpPr>
        <p:spPr>
          <a:xfrm>
            <a:off x="2377440" y="3092501"/>
            <a:ext cx="2612100" cy="362100"/>
          </a:xfrm>
          <a:prstGeom prst="rect">
            <a:avLst/>
          </a:prstGeom>
          <a:solidFill>
            <a:srgbClr val="B9C2B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2" name="Google Shape;432;p18"/>
          <p:cNvSpPr txBox="1"/>
          <p:nvPr/>
        </p:nvSpPr>
        <p:spPr>
          <a:xfrm>
            <a:off x="5044333" y="3090672"/>
            <a:ext cx="9144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83E35"/>
                </a:solidFill>
                <a:latin typeface="Nunito Sans"/>
                <a:ea typeface="Nunito Sans"/>
                <a:cs typeface="Nunito Sans"/>
                <a:sym typeface="Nunito Sans"/>
              </a:rPr>
              <a:t>+112%</a:t>
            </a:r>
            <a:endParaRPr b="1">
              <a:solidFill>
                <a:srgbClr val="183E35"/>
              </a:solidFill>
              <a:latin typeface="Nunito Sans"/>
              <a:ea typeface="Nunito Sans"/>
              <a:cs typeface="Nunito Sans"/>
              <a:sym typeface="Nunito Sans"/>
            </a:endParaRPr>
          </a:p>
        </p:txBody>
      </p:sp>
      <p:sp>
        <p:nvSpPr>
          <p:cNvPr id="433" name="Google Shape;433;p18"/>
          <p:cNvSpPr txBox="1"/>
          <p:nvPr/>
        </p:nvSpPr>
        <p:spPr>
          <a:xfrm>
            <a:off x="548640" y="3749040"/>
            <a:ext cx="17373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Nashville</a:t>
            </a:r>
            <a:endParaRPr>
              <a:solidFill>
                <a:srgbClr val="183E35"/>
              </a:solidFill>
              <a:latin typeface="Nunito Sans"/>
              <a:ea typeface="Nunito Sans"/>
              <a:cs typeface="Nunito Sans"/>
              <a:sym typeface="Nunito Sans"/>
            </a:endParaRPr>
          </a:p>
        </p:txBody>
      </p:sp>
      <p:sp>
        <p:nvSpPr>
          <p:cNvPr id="434" name="Google Shape;434;p18"/>
          <p:cNvSpPr/>
          <p:nvPr/>
        </p:nvSpPr>
        <p:spPr>
          <a:xfrm>
            <a:off x="2377440" y="3750869"/>
            <a:ext cx="2489700" cy="362100"/>
          </a:xfrm>
          <a:prstGeom prst="rect">
            <a:avLst/>
          </a:prstGeom>
          <a:solidFill>
            <a:srgbClr val="B9C2B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5" name="Google Shape;435;p18"/>
          <p:cNvSpPr txBox="1"/>
          <p:nvPr/>
        </p:nvSpPr>
        <p:spPr>
          <a:xfrm>
            <a:off x="4921892" y="3749040"/>
            <a:ext cx="9144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83E35"/>
                </a:solidFill>
                <a:latin typeface="Nunito Sans"/>
                <a:ea typeface="Nunito Sans"/>
                <a:cs typeface="Nunito Sans"/>
                <a:sym typeface="Nunito Sans"/>
              </a:rPr>
              <a:t>+107%</a:t>
            </a:r>
            <a:endParaRPr b="1">
              <a:solidFill>
                <a:srgbClr val="183E35"/>
              </a:solidFill>
              <a:latin typeface="Nunito Sans"/>
              <a:ea typeface="Nunito Sans"/>
              <a:cs typeface="Nunito Sans"/>
              <a:sym typeface="Nunito Sans"/>
            </a:endParaRPr>
          </a:p>
        </p:txBody>
      </p:sp>
      <p:sp>
        <p:nvSpPr>
          <p:cNvPr id="436" name="Google Shape;436;p18"/>
          <p:cNvSpPr txBox="1"/>
          <p:nvPr/>
        </p:nvSpPr>
        <p:spPr>
          <a:xfrm>
            <a:off x="548640" y="4407408"/>
            <a:ext cx="17373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New Orleans</a:t>
            </a:r>
            <a:endParaRPr>
              <a:solidFill>
                <a:srgbClr val="183E35"/>
              </a:solidFill>
              <a:latin typeface="Nunito Sans"/>
              <a:ea typeface="Nunito Sans"/>
              <a:cs typeface="Nunito Sans"/>
              <a:sym typeface="Nunito Sans"/>
            </a:endParaRPr>
          </a:p>
        </p:txBody>
      </p:sp>
      <p:sp>
        <p:nvSpPr>
          <p:cNvPr id="437" name="Google Shape;437;p18"/>
          <p:cNvSpPr/>
          <p:nvPr/>
        </p:nvSpPr>
        <p:spPr>
          <a:xfrm>
            <a:off x="2377440" y="4409237"/>
            <a:ext cx="1935000" cy="362100"/>
          </a:xfrm>
          <a:prstGeom prst="rect">
            <a:avLst/>
          </a:prstGeom>
          <a:solidFill>
            <a:srgbClr val="B9C2B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8" name="Google Shape;438;p18"/>
          <p:cNvSpPr txBox="1"/>
          <p:nvPr/>
        </p:nvSpPr>
        <p:spPr>
          <a:xfrm>
            <a:off x="4367296" y="4407408"/>
            <a:ext cx="9144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83E35"/>
                </a:solidFill>
                <a:latin typeface="Nunito Sans"/>
                <a:ea typeface="Nunito Sans"/>
                <a:cs typeface="Nunito Sans"/>
                <a:sym typeface="Nunito Sans"/>
              </a:rPr>
              <a:t>+83%</a:t>
            </a:r>
            <a:endParaRPr b="1">
              <a:solidFill>
                <a:srgbClr val="183E35"/>
              </a:solidFill>
              <a:latin typeface="Nunito Sans"/>
              <a:ea typeface="Nunito Sans"/>
              <a:cs typeface="Nunito Sans"/>
              <a:sym typeface="Nunito Sans"/>
            </a:endParaRPr>
          </a:p>
        </p:txBody>
      </p:sp>
      <p:sp>
        <p:nvSpPr>
          <p:cNvPr id="439" name="Google Shape;439;p18"/>
          <p:cNvSpPr txBox="1"/>
          <p:nvPr/>
        </p:nvSpPr>
        <p:spPr>
          <a:xfrm>
            <a:off x="548640" y="5065776"/>
            <a:ext cx="1737300" cy="36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rgbClr val="183E35"/>
                </a:solidFill>
                <a:latin typeface="Nunito Sans"/>
                <a:ea typeface="Nunito Sans"/>
                <a:cs typeface="Nunito Sans"/>
                <a:sym typeface="Nunito Sans"/>
              </a:rPr>
              <a:t>Philadelphia</a:t>
            </a:r>
            <a:endParaRPr>
              <a:solidFill>
                <a:srgbClr val="183E35"/>
              </a:solidFill>
              <a:latin typeface="Nunito Sans"/>
              <a:ea typeface="Nunito Sans"/>
              <a:cs typeface="Nunito Sans"/>
              <a:sym typeface="Nunito Sans"/>
            </a:endParaRPr>
          </a:p>
        </p:txBody>
      </p:sp>
      <p:sp>
        <p:nvSpPr>
          <p:cNvPr id="440" name="Google Shape;440;p18"/>
          <p:cNvSpPr/>
          <p:nvPr/>
        </p:nvSpPr>
        <p:spPr>
          <a:xfrm>
            <a:off x="2377440" y="5067605"/>
            <a:ext cx="903300" cy="362100"/>
          </a:xfrm>
          <a:prstGeom prst="rect">
            <a:avLst/>
          </a:prstGeom>
          <a:solidFill>
            <a:srgbClr val="245C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1" name="Google Shape;441;p18"/>
          <p:cNvSpPr txBox="1"/>
          <p:nvPr/>
        </p:nvSpPr>
        <p:spPr>
          <a:xfrm>
            <a:off x="3335659" y="5065776"/>
            <a:ext cx="9144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83E35"/>
                </a:solidFill>
                <a:latin typeface="Nunito Sans"/>
                <a:ea typeface="Nunito Sans"/>
                <a:cs typeface="Nunito Sans"/>
                <a:sym typeface="Nunito Sans"/>
              </a:rPr>
              <a:t>+39%</a:t>
            </a:r>
            <a:endParaRPr b="1">
              <a:solidFill>
                <a:srgbClr val="183E35"/>
              </a:solidFill>
              <a:latin typeface="Nunito Sans"/>
              <a:ea typeface="Nunito Sans"/>
              <a:cs typeface="Nunito Sans"/>
              <a:sym typeface="Nunito Sans"/>
            </a:endParaRPr>
          </a:p>
        </p:txBody>
      </p:sp>
      <p:sp>
        <p:nvSpPr>
          <p:cNvPr id="442" name="Google Shape;442;p18"/>
          <p:cNvSpPr/>
          <p:nvPr/>
        </p:nvSpPr>
        <p:spPr>
          <a:xfrm>
            <a:off x="2370125" y="2286000"/>
            <a:ext cx="14700" cy="3291900"/>
          </a:xfrm>
          <a:prstGeom prst="rect">
            <a:avLst/>
          </a:prstGeom>
          <a:solidFill>
            <a:srgbClr val="BFBF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3" name="Google Shape;443;p18"/>
          <p:cNvSpPr txBox="1"/>
          <p:nvPr/>
        </p:nvSpPr>
        <p:spPr>
          <a:xfrm>
            <a:off x="8001000" y="2286000"/>
            <a:ext cx="3657600" cy="310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rgbClr val="183E35"/>
                </a:solidFill>
                <a:latin typeface="Nunito Sans"/>
                <a:ea typeface="Nunito Sans"/>
                <a:cs typeface="Nunito Sans"/>
                <a:sym typeface="Nunito Sans"/>
              </a:rPr>
              <a:t>Review counts grew unevenly across metros.</a:t>
            </a:r>
            <a:endParaRPr sz="2200">
              <a:solidFill>
                <a:srgbClr val="183E35"/>
              </a:solidFill>
              <a:latin typeface="Nunito Sans"/>
              <a:ea typeface="Nunito Sans"/>
              <a:cs typeface="Nunito Sans"/>
              <a:sym typeface="Nunito Sans"/>
            </a:endParaRPr>
          </a:p>
          <a:p>
            <a:pPr indent="0" lvl="0" marL="0" rtl="0" algn="l">
              <a:spcBef>
                <a:spcPts val="0"/>
              </a:spcBef>
              <a:spcAft>
                <a:spcPts val="0"/>
              </a:spcAft>
              <a:buNone/>
            </a:pPr>
            <a:r>
              <a:t/>
            </a:r>
            <a:endParaRPr sz="2200">
              <a:solidFill>
                <a:srgbClr val="183E35"/>
              </a:solidFill>
              <a:latin typeface="Nunito Sans"/>
              <a:ea typeface="Nunito Sans"/>
              <a:cs typeface="Nunito Sans"/>
              <a:sym typeface="Nunito Sans"/>
            </a:endParaRPr>
          </a:p>
          <a:p>
            <a:pPr indent="0" lvl="0" marL="0" rtl="0" algn="l">
              <a:spcBef>
                <a:spcPts val="0"/>
              </a:spcBef>
              <a:spcAft>
                <a:spcPts val="0"/>
              </a:spcAft>
              <a:buNone/>
            </a:pPr>
            <a:r>
              <a:rPr lang="en-US" sz="2200">
                <a:solidFill>
                  <a:srgbClr val="183E35"/>
                </a:solidFill>
                <a:latin typeface="Nunito Sans"/>
                <a:ea typeface="Nunito Sans"/>
                <a:cs typeface="Nunito Sans"/>
                <a:sym typeface="Nunito Sans"/>
              </a:rPr>
              <a:t>A comparison area helps account for broader growth.</a:t>
            </a:r>
            <a:endParaRPr sz="2200">
              <a:solidFill>
                <a:srgbClr val="183E35"/>
              </a:solidFill>
              <a:latin typeface="Nunito Sans"/>
              <a:ea typeface="Nunito Sans"/>
              <a:cs typeface="Nunito Sans"/>
              <a:sym typeface="Nunito Sans"/>
            </a:endParaRPr>
          </a:p>
        </p:txBody>
      </p:sp>
      <p:sp>
        <p:nvSpPr>
          <p:cNvPr id="444" name="Google Shape;444;p18"/>
          <p:cNvSpPr txBox="1"/>
          <p:nvPr/>
        </p:nvSpPr>
        <p:spPr>
          <a:xfrm>
            <a:off x="548640" y="101600"/>
            <a:ext cx="110490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5A6D60"/>
                </a:solidFill>
                <a:latin typeface="Nunito Sans"/>
                <a:ea typeface="Nunito Sans"/>
                <a:cs typeface="Nunito Sans"/>
                <a:sym typeface="Nunito Sans"/>
              </a:rPr>
              <a:t>APPENDIX / SUPPORTING EVIDENCE</a:t>
            </a:r>
            <a:endParaRPr b="1" sz="1100">
              <a:solidFill>
                <a:srgbClr val="5A6D60"/>
              </a:solidFill>
              <a:latin typeface="Nunito Sans"/>
              <a:ea typeface="Nunito Sans"/>
              <a:cs typeface="Nunito Sans"/>
              <a:sym typeface="Nunito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6"/>
        </a:solidFill>
      </p:bgPr>
    </p:bg>
    <p:spTree>
      <p:nvGrpSpPr>
        <p:cNvPr id="449" name="Shape 449"/>
        <p:cNvGrpSpPr/>
        <p:nvPr/>
      </p:nvGrpSpPr>
      <p:grpSpPr>
        <a:xfrm>
          <a:off x="0" y="0"/>
          <a:ext cx="0" cy="0"/>
          <a:chOff x="0" y="0"/>
          <a:chExt cx="0" cy="0"/>
        </a:xfrm>
      </p:grpSpPr>
      <p:sp>
        <p:nvSpPr>
          <p:cNvPr id="450" name="Google Shape;450;p19"/>
          <p:cNvSpPr txBox="1"/>
          <p:nvPr/>
        </p:nvSpPr>
        <p:spPr>
          <a:xfrm>
            <a:off x="11094415" y="6355080"/>
            <a:ext cx="548700" cy="384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100">
                <a:solidFill>
                  <a:srgbClr val="5A6D60"/>
                </a:solidFill>
                <a:latin typeface="Nunito Sans"/>
                <a:ea typeface="Nunito Sans"/>
                <a:cs typeface="Nunito Sans"/>
                <a:sym typeface="Nunito Sans"/>
              </a:rPr>
              <a:t>A2</a:t>
            </a:r>
            <a:endParaRPr sz="1100">
              <a:solidFill>
                <a:srgbClr val="5A6D60"/>
              </a:solidFill>
              <a:latin typeface="Nunito Sans"/>
              <a:ea typeface="Nunito Sans"/>
              <a:cs typeface="Nunito Sans"/>
              <a:sym typeface="Nunito Sans"/>
            </a:endParaRPr>
          </a:p>
        </p:txBody>
      </p:sp>
      <p:sp>
        <p:nvSpPr>
          <p:cNvPr id="451" name="Google Shape;451;p19"/>
          <p:cNvSpPr txBox="1"/>
          <p:nvPr/>
        </p:nvSpPr>
        <p:spPr>
          <a:xfrm>
            <a:off x="548640" y="411480"/>
            <a:ext cx="110943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83E35"/>
                </a:solidFill>
                <a:latin typeface="Georgia"/>
                <a:ea typeface="Georgia"/>
                <a:cs typeface="Georgia"/>
                <a:sym typeface="Georgia"/>
              </a:rPr>
              <a:t>Review activity correlates with sentiment; poverty barely does</a:t>
            </a:r>
            <a:endParaRPr b="1" sz="3200">
              <a:solidFill>
                <a:srgbClr val="183E35"/>
              </a:solidFill>
              <a:latin typeface="Georgia"/>
              <a:ea typeface="Georgia"/>
              <a:cs typeface="Georgia"/>
              <a:sym typeface="Georgia"/>
            </a:endParaRPr>
          </a:p>
        </p:txBody>
      </p:sp>
      <p:sp>
        <p:nvSpPr>
          <p:cNvPr id="452" name="Google Shape;452;p19"/>
          <p:cNvSpPr txBox="1"/>
          <p:nvPr/>
        </p:nvSpPr>
        <p:spPr>
          <a:xfrm>
            <a:off x="548640" y="1691640"/>
            <a:ext cx="73152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5A6D60"/>
                </a:solidFill>
                <a:latin typeface="Nunito Sans"/>
                <a:ea typeface="Nunito Sans"/>
                <a:cs typeface="Nunito Sans"/>
                <a:sym typeface="Nunito Sans"/>
              </a:rPr>
              <a:t>Average VADER sentiment by ZIP, 2019–21</a:t>
            </a:r>
            <a:endParaRPr>
              <a:solidFill>
                <a:srgbClr val="5A6D60"/>
              </a:solidFill>
              <a:latin typeface="Nunito Sans"/>
              <a:ea typeface="Nunito Sans"/>
              <a:cs typeface="Nunito Sans"/>
              <a:sym typeface="Nunito Sans"/>
            </a:endParaRPr>
          </a:p>
        </p:txBody>
      </p:sp>
      <p:sp>
        <p:nvSpPr>
          <p:cNvPr id="453" name="Google Shape;453;p19"/>
          <p:cNvSpPr txBox="1"/>
          <p:nvPr/>
        </p:nvSpPr>
        <p:spPr>
          <a:xfrm>
            <a:off x="8183880" y="1783080"/>
            <a:ext cx="3474600" cy="6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000">
                <a:solidFill>
                  <a:srgbClr val="245C49"/>
                </a:solidFill>
                <a:latin typeface="Georgia"/>
                <a:ea typeface="Georgia"/>
                <a:cs typeface="Georgia"/>
                <a:sym typeface="Georgia"/>
              </a:rPr>
              <a:t>ρ = 0.55</a:t>
            </a:r>
            <a:endParaRPr b="1" sz="3000">
              <a:solidFill>
                <a:srgbClr val="245C49"/>
              </a:solidFill>
              <a:latin typeface="Georgia"/>
              <a:ea typeface="Georgia"/>
              <a:cs typeface="Georgia"/>
              <a:sym typeface="Georgia"/>
            </a:endParaRPr>
          </a:p>
        </p:txBody>
      </p:sp>
      <p:sp>
        <p:nvSpPr>
          <p:cNvPr id="454" name="Google Shape;454;p19"/>
          <p:cNvSpPr txBox="1"/>
          <p:nvPr/>
        </p:nvSpPr>
        <p:spPr>
          <a:xfrm>
            <a:off x="8183880" y="2377440"/>
            <a:ext cx="3474600" cy="6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engagement and sentiment rise together</a:t>
            </a:r>
            <a:endParaRPr sz="1600">
              <a:solidFill>
                <a:srgbClr val="183E35"/>
              </a:solidFill>
              <a:latin typeface="Nunito Sans"/>
              <a:ea typeface="Nunito Sans"/>
              <a:cs typeface="Nunito Sans"/>
              <a:sym typeface="Nunito Sans"/>
            </a:endParaRPr>
          </a:p>
        </p:txBody>
      </p:sp>
      <p:sp>
        <p:nvSpPr>
          <p:cNvPr id="455" name="Google Shape;455;p19"/>
          <p:cNvSpPr txBox="1"/>
          <p:nvPr/>
        </p:nvSpPr>
        <p:spPr>
          <a:xfrm>
            <a:off x="8183880" y="3063240"/>
            <a:ext cx="3474600" cy="6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000">
                <a:solidFill>
                  <a:srgbClr val="183E35"/>
                </a:solidFill>
                <a:latin typeface="Georgia"/>
                <a:ea typeface="Georgia"/>
                <a:cs typeface="Georgia"/>
                <a:sym typeface="Georgia"/>
              </a:rPr>
              <a:t>ρ = −0.04</a:t>
            </a:r>
            <a:endParaRPr b="1" sz="3000">
              <a:solidFill>
                <a:srgbClr val="183E35"/>
              </a:solidFill>
              <a:latin typeface="Georgia"/>
              <a:ea typeface="Georgia"/>
              <a:cs typeface="Georgia"/>
              <a:sym typeface="Georgia"/>
            </a:endParaRPr>
          </a:p>
        </p:txBody>
      </p:sp>
      <p:sp>
        <p:nvSpPr>
          <p:cNvPr id="456" name="Google Shape;456;p19"/>
          <p:cNvSpPr txBox="1"/>
          <p:nvPr/>
        </p:nvSpPr>
        <p:spPr>
          <a:xfrm>
            <a:off x="8183880" y="3657600"/>
            <a:ext cx="3474600" cy="96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poverty and sentiment barely move together. Green dots mark ZIPs with at least 20% poverty.</a:t>
            </a:r>
            <a:endParaRPr sz="1600">
              <a:solidFill>
                <a:srgbClr val="183E35"/>
              </a:solidFill>
              <a:latin typeface="Nunito Sans"/>
              <a:ea typeface="Nunito Sans"/>
              <a:cs typeface="Nunito Sans"/>
              <a:sym typeface="Nunito Sans"/>
            </a:endParaRPr>
          </a:p>
        </p:txBody>
      </p:sp>
      <p:sp>
        <p:nvSpPr>
          <p:cNvPr id="457" name="Google Shape;457;p19"/>
          <p:cNvSpPr txBox="1"/>
          <p:nvPr/>
        </p:nvSpPr>
        <p:spPr>
          <a:xfrm>
            <a:off x="8183880" y="4663440"/>
            <a:ext cx="3474600" cy="6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000">
                <a:solidFill>
                  <a:srgbClr val="183E35"/>
                </a:solidFill>
                <a:latin typeface="Georgia"/>
                <a:ea typeface="Georgia"/>
                <a:cs typeface="Georgia"/>
                <a:sym typeface="Georgia"/>
              </a:rPr>
              <a:t>30%</a:t>
            </a:r>
            <a:endParaRPr b="1" sz="3000">
              <a:solidFill>
                <a:srgbClr val="183E35"/>
              </a:solidFill>
              <a:latin typeface="Georgia"/>
              <a:ea typeface="Georgia"/>
              <a:cs typeface="Georgia"/>
              <a:sym typeface="Georgia"/>
            </a:endParaRPr>
          </a:p>
        </p:txBody>
      </p:sp>
      <p:sp>
        <p:nvSpPr>
          <p:cNvPr id="458" name="Google Shape;458;p19"/>
          <p:cNvSpPr txBox="1"/>
          <p:nvPr/>
        </p:nvSpPr>
        <p:spPr>
          <a:xfrm>
            <a:off x="8183880" y="5257800"/>
            <a:ext cx="3474600" cy="6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of random reviews mention the surroundings at all</a:t>
            </a:r>
            <a:endParaRPr sz="1600">
              <a:solidFill>
                <a:srgbClr val="183E35"/>
              </a:solidFill>
              <a:latin typeface="Nunito Sans"/>
              <a:ea typeface="Nunito Sans"/>
              <a:cs typeface="Nunito Sans"/>
              <a:sym typeface="Nunito Sans"/>
            </a:endParaRPr>
          </a:p>
        </p:txBody>
      </p:sp>
      <p:pic>
        <p:nvPicPr>
          <p:cNvPr id="459" name="Google Shape;459;p19"/>
          <p:cNvPicPr preferRelativeResize="0"/>
          <p:nvPr/>
        </p:nvPicPr>
        <p:blipFill>
          <a:blip r:embed="rId3">
            <a:alphaModFix/>
          </a:blip>
          <a:stretch>
            <a:fillRect/>
          </a:stretch>
        </p:blipFill>
        <p:spPr>
          <a:xfrm>
            <a:off x="548640" y="2103120"/>
            <a:ext cx="6949440" cy="4121737"/>
          </a:xfrm>
          <a:prstGeom prst="rect">
            <a:avLst/>
          </a:prstGeom>
          <a:noFill/>
          <a:ln>
            <a:noFill/>
          </a:ln>
        </p:spPr>
      </p:pic>
      <p:sp>
        <p:nvSpPr>
          <p:cNvPr id="460" name="Google Shape;460;p19"/>
          <p:cNvSpPr txBox="1"/>
          <p:nvPr/>
        </p:nvSpPr>
        <p:spPr>
          <a:xfrm>
            <a:off x="548640" y="101600"/>
            <a:ext cx="110490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5A6D60"/>
                </a:solidFill>
                <a:latin typeface="Nunito Sans"/>
                <a:ea typeface="Nunito Sans"/>
                <a:cs typeface="Nunito Sans"/>
                <a:sym typeface="Nunito Sans"/>
              </a:rPr>
              <a:t>APPENDIX / SUPPORTING EVIDENCE</a:t>
            </a:r>
            <a:endParaRPr b="1" sz="1100">
              <a:solidFill>
                <a:srgbClr val="5A6D60"/>
              </a:solidFill>
              <a:latin typeface="Nunito Sans"/>
              <a:ea typeface="Nunito Sans"/>
              <a:cs typeface="Nunito Sans"/>
              <a:sym typeface="Nunito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6"/>
        </a:solidFill>
      </p:bgPr>
    </p:bg>
    <p:spTree>
      <p:nvGrpSpPr>
        <p:cNvPr id="465" name="Shape 465"/>
        <p:cNvGrpSpPr/>
        <p:nvPr/>
      </p:nvGrpSpPr>
      <p:grpSpPr>
        <a:xfrm>
          <a:off x="0" y="0"/>
          <a:ext cx="0" cy="0"/>
          <a:chOff x="0" y="0"/>
          <a:chExt cx="0" cy="0"/>
        </a:xfrm>
      </p:grpSpPr>
      <p:sp>
        <p:nvSpPr>
          <p:cNvPr id="466" name="Google Shape;466;p20"/>
          <p:cNvSpPr txBox="1"/>
          <p:nvPr/>
        </p:nvSpPr>
        <p:spPr>
          <a:xfrm>
            <a:off x="11094415" y="6355080"/>
            <a:ext cx="548700" cy="384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100">
                <a:solidFill>
                  <a:srgbClr val="5A6D60"/>
                </a:solidFill>
                <a:latin typeface="Nunito Sans"/>
                <a:ea typeface="Nunito Sans"/>
                <a:cs typeface="Nunito Sans"/>
                <a:sym typeface="Nunito Sans"/>
              </a:rPr>
              <a:t>18</a:t>
            </a:r>
            <a:endParaRPr sz="1100">
              <a:solidFill>
                <a:srgbClr val="5A6D60"/>
              </a:solidFill>
              <a:latin typeface="Nunito Sans"/>
              <a:ea typeface="Nunito Sans"/>
              <a:cs typeface="Nunito Sans"/>
              <a:sym typeface="Nunito Sans"/>
            </a:endParaRPr>
          </a:p>
        </p:txBody>
      </p:sp>
      <p:sp>
        <p:nvSpPr>
          <p:cNvPr id="467" name="Google Shape;467;p20"/>
          <p:cNvSpPr txBox="1"/>
          <p:nvPr/>
        </p:nvSpPr>
        <p:spPr>
          <a:xfrm>
            <a:off x="548640" y="411480"/>
            <a:ext cx="110943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83E35"/>
                </a:solidFill>
                <a:latin typeface="Georgia"/>
                <a:ea typeface="Georgia"/>
                <a:cs typeface="Georgia"/>
                <a:sym typeface="Georgia"/>
              </a:rPr>
              <a:t>From a planning question to an area worth investigating</a:t>
            </a:r>
            <a:endParaRPr b="1" sz="3200">
              <a:solidFill>
                <a:srgbClr val="183E35"/>
              </a:solidFill>
              <a:latin typeface="Georgia"/>
              <a:ea typeface="Georgia"/>
              <a:cs typeface="Georgia"/>
              <a:sym typeface="Georgia"/>
            </a:endParaRPr>
          </a:p>
        </p:txBody>
      </p:sp>
      <p:sp>
        <p:nvSpPr>
          <p:cNvPr id="468" name="Google Shape;468;p20"/>
          <p:cNvSpPr txBox="1"/>
          <p:nvPr/>
        </p:nvSpPr>
        <p:spPr>
          <a:xfrm>
            <a:off x="548640" y="5765800"/>
            <a:ext cx="110871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245C49"/>
                </a:solidFill>
                <a:latin typeface="Nunito Sans"/>
                <a:ea typeface="Nunito Sans"/>
                <a:cs typeface="Nunito Sans"/>
                <a:sym typeface="Nunito Sans"/>
              </a:rPr>
              <a:t>Live demo: intreaction.github.io/neighborhood-sentiment-map</a:t>
            </a:r>
            <a:endParaRPr b="1" sz="1600">
              <a:solidFill>
                <a:srgbClr val="245C49"/>
              </a:solidFill>
              <a:latin typeface="Nunito Sans"/>
              <a:ea typeface="Nunito Sans"/>
              <a:cs typeface="Nunito Sans"/>
              <a:sym typeface="Nunito Sans"/>
            </a:endParaRPr>
          </a:p>
        </p:txBody>
      </p:sp>
      <p:sp>
        <p:nvSpPr>
          <p:cNvPr id="469" name="Google Shape;469;p20"/>
          <p:cNvSpPr txBox="1"/>
          <p:nvPr/>
        </p:nvSpPr>
        <p:spPr>
          <a:xfrm>
            <a:off x="548640" y="101600"/>
            <a:ext cx="110490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5A6D60"/>
                </a:solidFill>
                <a:latin typeface="Nunito Sans"/>
                <a:ea typeface="Nunito Sans"/>
                <a:cs typeface="Nunito Sans"/>
                <a:sym typeface="Nunito Sans"/>
              </a:rPr>
              <a:t>HOW DO WE SOLVE IT?</a:t>
            </a:r>
            <a:endParaRPr b="1" sz="1100">
              <a:solidFill>
                <a:srgbClr val="5A6D60"/>
              </a:solidFill>
              <a:latin typeface="Nunito Sans"/>
              <a:ea typeface="Nunito Sans"/>
              <a:cs typeface="Nunito Sans"/>
              <a:sym typeface="Nunito Sans"/>
            </a:endParaRPr>
          </a:p>
        </p:txBody>
      </p:sp>
      <p:pic>
        <p:nvPicPr>
          <p:cNvPr id="470" name="Google Shape;470;p20"/>
          <p:cNvPicPr preferRelativeResize="0"/>
          <p:nvPr/>
        </p:nvPicPr>
        <p:blipFill>
          <a:blip r:embed="rId3">
            <a:alphaModFix/>
          </a:blip>
          <a:stretch>
            <a:fillRect/>
          </a:stretch>
        </p:blipFill>
        <p:spPr>
          <a:xfrm>
            <a:off x="549594" y="1689100"/>
            <a:ext cx="5408292" cy="3961826"/>
          </a:xfrm>
          <a:prstGeom prst="rect">
            <a:avLst/>
          </a:prstGeom>
          <a:noFill/>
          <a:ln>
            <a:noFill/>
          </a:ln>
        </p:spPr>
      </p:pic>
      <p:sp>
        <p:nvSpPr>
          <p:cNvPr id="471" name="Google Shape;471;p20"/>
          <p:cNvSpPr txBox="1"/>
          <p:nvPr/>
        </p:nvSpPr>
        <p:spPr>
          <a:xfrm>
            <a:off x="6233160" y="1714500"/>
            <a:ext cx="54102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solidFill>
                  <a:srgbClr val="5A6D60"/>
                </a:solidFill>
                <a:latin typeface="Nunito Sans"/>
                <a:ea typeface="Nunito Sans"/>
                <a:cs typeface="Nunito Sans"/>
                <a:sym typeface="Nunito Sans"/>
              </a:rPr>
              <a:t>PHILADELPHIA / ZIP 19134</a:t>
            </a:r>
            <a:endParaRPr b="1" sz="1700">
              <a:solidFill>
                <a:srgbClr val="5A6D60"/>
              </a:solidFill>
              <a:latin typeface="Nunito Sans"/>
              <a:ea typeface="Nunito Sans"/>
              <a:cs typeface="Nunito Sans"/>
              <a:sym typeface="Nunito Sans"/>
            </a:endParaRPr>
          </a:p>
        </p:txBody>
      </p:sp>
      <p:sp>
        <p:nvSpPr>
          <p:cNvPr id="472" name="Google Shape;472;p20"/>
          <p:cNvSpPr txBox="1"/>
          <p:nvPr/>
        </p:nvSpPr>
        <p:spPr>
          <a:xfrm>
            <a:off x="6233160" y="2298700"/>
            <a:ext cx="2793900" cy="9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800">
                <a:solidFill>
                  <a:srgbClr val="245C49"/>
                </a:solidFill>
                <a:latin typeface="Georgia"/>
                <a:ea typeface="Georgia"/>
                <a:cs typeface="Georgia"/>
                <a:sym typeface="Georgia"/>
              </a:rPr>
              <a:t>3.3%</a:t>
            </a:r>
            <a:endParaRPr b="1" sz="4800">
              <a:solidFill>
                <a:srgbClr val="245C49"/>
              </a:solidFill>
              <a:latin typeface="Georgia"/>
              <a:ea typeface="Georgia"/>
              <a:cs typeface="Georgia"/>
              <a:sym typeface="Georgia"/>
            </a:endParaRPr>
          </a:p>
        </p:txBody>
      </p:sp>
      <p:sp>
        <p:nvSpPr>
          <p:cNvPr id="473" name="Google Shape;473;p20"/>
          <p:cNvSpPr txBox="1"/>
          <p:nvPr/>
        </p:nvSpPr>
        <p:spPr>
          <a:xfrm>
            <a:off x="6233160" y="3213100"/>
            <a:ext cx="5410200" cy="5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183E35"/>
                </a:solidFill>
                <a:latin typeface="Nunito Sans"/>
                <a:ea typeface="Nunito Sans"/>
                <a:cs typeface="Nunito Sans"/>
                <a:sym typeface="Nunito Sans"/>
              </a:rPr>
              <a:t>56 of 1,702 reviews mention access</a:t>
            </a:r>
            <a:endParaRPr sz="2000">
              <a:solidFill>
                <a:srgbClr val="183E35"/>
              </a:solidFill>
              <a:latin typeface="Nunito Sans"/>
              <a:ea typeface="Nunito Sans"/>
              <a:cs typeface="Nunito Sans"/>
              <a:sym typeface="Nunito Sans"/>
            </a:endParaRPr>
          </a:p>
        </p:txBody>
      </p:sp>
      <p:sp>
        <p:nvSpPr>
          <p:cNvPr id="474" name="Google Shape;474;p20"/>
          <p:cNvSpPr txBox="1"/>
          <p:nvPr/>
        </p:nvSpPr>
        <p:spPr>
          <a:xfrm>
            <a:off x="6233160" y="3860800"/>
            <a:ext cx="2412900" cy="78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800">
                <a:solidFill>
                  <a:srgbClr val="245C49"/>
                </a:solidFill>
                <a:latin typeface="Georgia"/>
                <a:ea typeface="Georgia"/>
                <a:cs typeface="Georgia"/>
                <a:sym typeface="Georgia"/>
              </a:rPr>
              <a:t>49%</a:t>
            </a:r>
            <a:endParaRPr b="1" sz="3800">
              <a:solidFill>
                <a:srgbClr val="245C49"/>
              </a:solidFill>
              <a:latin typeface="Georgia"/>
              <a:ea typeface="Georgia"/>
              <a:cs typeface="Georgia"/>
              <a:sym typeface="Georgia"/>
            </a:endParaRPr>
          </a:p>
        </p:txBody>
      </p:sp>
      <p:sp>
        <p:nvSpPr>
          <p:cNvPr id="475" name="Google Shape;475;p20"/>
          <p:cNvSpPr txBox="1"/>
          <p:nvPr/>
        </p:nvSpPr>
        <p:spPr>
          <a:xfrm>
            <a:off x="8255000" y="4025900"/>
            <a:ext cx="33783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rgbClr val="183E35"/>
                </a:solidFill>
                <a:latin typeface="Nunito Sans"/>
                <a:ea typeface="Nunito Sans"/>
                <a:cs typeface="Nunito Sans"/>
                <a:sym typeface="Nunito Sans"/>
              </a:rPr>
              <a:t>historical poverty estimate</a:t>
            </a:r>
            <a:endParaRPr sz="1900">
              <a:solidFill>
                <a:srgbClr val="183E35"/>
              </a:solidFill>
              <a:latin typeface="Nunito Sans"/>
              <a:ea typeface="Nunito Sans"/>
              <a:cs typeface="Nunito Sans"/>
              <a:sym typeface="Nunito Sans"/>
            </a:endParaRPr>
          </a:p>
        </p:txBody>
      </p:sp>
      <p:sp>
        <p:nvSpPr>
          <p:cNvPr id="476" name="Google Shape;476;p20"/>
          <p:cNvSpPr txBox="1"/>
          <p:nvPr/>
        </p:nvSpPr>
        <p:spPr>
          <a:xfrm>
            <a:off x="6233160" y="4902200"/>
            <a:ext cx="5410200" cy="74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183E35"/>
                </a:solidFill>
                <a:latin typeface="Nunito Sans"/>
                <a:ea typeface="Nunito Sans"/>
                <a:cs typeface="Nunito Sans"/>
                <a:sym typeface="Nunito Sans"/>
              </a:rPr>
              <a:t>Use the evidence to focus an accessibility audit request.</a:t>
            </a:r>
            <a:endParaRPr b="1" sz="2100">
              <a:solidFill>
                <a:srgbClr val="183E35"/>
              </a:solidFill>
              <a:latin typeface="Nunito Sans"/>
              <a:ea typeface="Nunito Sans"/>
              <a:cs typeface="Nunito Sans"/>
              <a:sym typeface="Nunito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6"/>
        </a:solidFill>
      </p:bgPr>
    </p:bg>
    <p:spTree>
      <p:nvGrpSpPr>
        <p:cNvPr id="481" name="Shape 481"/>
        <p:cNvGrpSpPr/>
        <p:nvPr/>
      </p:nvGrpSpPr>
      <p:grpSpPr>
        <a:xfrm>
          <a:off x="0" y="0"/>
          <a:ext cx="0" cy="0"/>
          <a:chOff x="0" y="0"/>
          <a:chExt cx="0" cy="0"/>
        </a:xfrm>
      </p:grpSpPr>
      <p:sp>
        <p:nvSpPr>
          <p:cNvPr id="482" name="Google Shape;482;p21"/>
          <p:cNvSpPr txBox="1"/>
          <p:nvPr/>
        </p:nvSpPr>
        <p:spPr>
          <a:xfrm>
            <a:off x="11094415" y="6355080"/>
            <a:ext cx="548700" cy="384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100">
                <a:solidFill>
                  <a:srgbClr val="5A6D60"/>
                </a:solidFill>
                <a:latin typeface="Nunito Sans"/>
                <a:ea typeface="Nunito Sans"/>
                <a:cs typeface="Nunito Sans"/>
                <a:sym typeface="Nunito Sans"/>
              </a:rPr>
              <a:t>A3</a:t>
            </a:r>
            <a:endParaRPr sz="1100">
              <a:solidFill>
                <a:srgbClr val="5A6D60"/>
              </a:solidFill>
              <a:latin typeface="Nunito Sans"/>
              <a:ea typeface="Nunito Sans"/>
              <a:cs typeface="Nunito Sans"/>
              <a:sym typeface="Nunito Sans"/>
            </a:endParaRPr>
          </a:p>
        </p:txBody>
      </p:sp>
      <p:sp>
        <p:nvSpPr>
          <p:cNvPr id="483" name="Google Shape;483;p21"/>
          <p:cNvSpPr txBox="1"/>
          <p:nvPr/>
        </p:nvSpPr>
        <p:spPr>
          <a:xfrm>
            <a:off x="548640" y="411480"/>
            <a:ext cx="110943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83E35"/>
                </a:solidFill>
                <a:latin typeface="Georgia"/>
                <a:ea typeface="Georgia"/>
                <a:cs typeface="Georgia"/>
                <a:sym typeface="Georgia"/>
              </a:rPr>
              <a:t>Sources</a:t>
            </a:r>
            <a:endParaRPr b="1" sz="3200">
              <a:solidFill>
                <a:srgbClr val="183E35"/>
              </a:solidFill>
              <a:latin typeface="Georgia"/>
              <a:ea typeface="Georgia"/>
              <a:cs typeface="Georgia"/>
              <a:sym typeface="Georgia"/>
            </a:endParaRPr>
          </a:p>
        </p:txBody>
      </p:sp>
      <p:sp>
        <p:nvSpPr>
          <p:cNvPr id="484" name="Google Shape;484;p21"/>
          <p:cNvSpPr txBox="1"/>
          <p:nvPr/>
        </p:nvSpPr>
        <p:spPr>
          <a:xfrm>
            <a:off x="548640" y="1691640"/>
            <a:ext cx="11094300" cy="42063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rgbClr val="183E35"/>
              </a:buClr>
              <a:buSzPts val="1500"/>
              <a:buFont typeface="Nunito Sans"/>
              <a:buChar char="●"/>
            </a:pPr>
            <a:r>
              <a:rPr lang="en-US" sz="1500" u="sng">
                <a:solidFill>
                  <a:schemeClr val="hlink"/>
                </a:solidFill>
                <a:latin typeface="Nunito Sans"/>
                <a:ea typeface="Nunito Sans"/>
                <a:cs typeface="Nunito Sans"/>
                <a:sym typeface="Nunito Sans"/>
                <a:hlinkClick r:id="rId3"/>
              </a:rPr>
              <a:t>NYC Mayor’s Office of Contract Services. Citywide Indicators Report FY2026</a:t>
            </a:r>
            <a:r>
              <a:rPr lang="en-US" sz="1500">
                <a:solidFill>
                  <a:srgbClr val="183E35"/>
                </a:solidFill>
                <a:latin typeface="Nunito Sans"/>
                <a:ea typeface="Nunito Sans"/>
                <a:cs typeface="Nunito Sans"/>
                <a:sym typeface="Nunito Sans"/>
              </a:rPr>
              <a:t>, citywide procurement cycle times.</a:t>
            </a:r>
            <a:endParaRPr sz="1500">
              <a:solidFill>
                <a:srgbClr val="183E35"/>
              </a:solidFill>
              <a:latin typeface="Nunito Sans"/>
              <a:ea typeface="Nunito Sans"/>
              <a:cs typeface="Nunito Sans"/>
              <a:sym typeface="Nunito Sans"/>
            </a:endParaRPr>
          </a:p>
          <a:p>
            <a:pPr indent="-323850" lvl="0" marL="457200" rtl="0" algn="l">
              <a:spcBef>
                <a:spcPts val="0"/>
              </a:spcBef>
              <a:spcAft>
                <a:spcPts val="0"/>
              </a:spcAft>
              <a:buClr>
                <a:srgbClr val="183E35"/>
              </a:buClr>
              <a:buSzPts val="1500"/>
              <a:buFont typeface="Nunito Sans"/>
              <a:buChar char="●"/>
            </a:pPr>
            <a:r>
              <a:rPr lang="en-US" sz="1500" u="sng">
                <a:solidFill>
                  <a:schemeClr val="hlink"/>
                </a:solidFill>
                <a:latin typeface="Nunito Sans"/>
                <a:ea typeface="Nunito Sans"/>
                <a:cs typeface="Nunito Sans"/>
                <a:sym typeface="Nunito Sans"/>
                <a:hlinkClick r:id="rId4"/>
              </a:rPr>
              <a:t>Federal Data Strategy. Practices 1, 4 and 33</a:t>
            </a:r>
            <a:r>
              <a:rPr lang="en-US" sz="1500">
                <a:solidFill>
                  <a:srgbClr val="183E35"/>
                </a:solidFill>
                <a:latin typeface="Nunito Sans"/>
                <a:ea typeface="Nunito Sans"/>
                <a:cs typeface="Nunito Sans"/>
                <a:sym typeface="Nunito Sans"/>
              </a:rPr>
              <a:t>: data needs, decision-making and open access.</a:t>
            </a:r>
            <a:endParaRPr sz="1500">
              <a:solidFill>
                <a:srgbClr val="183E35"/>
              </a:solidFill>
              <a:latin typeface="Nunito Sans"/>
              <a:ea typeface="Nunito Sans"/>
              <a:cs typeface="Nunito Sans"/>
              <a:sym typeface="Nunito Sans"/>
            </a:endParaRPr>
          </a:p>
          <a:p>
            <a:pPr indent="-323850" lvl="0" marL="457200" rtl="0" algn="l">
              <a:spcBef>
                <a:spcPts val="0"/>
              </a:spcBef>
              <a:spcAft>
                <a:spcPts val="0"/>
              </a:spcAft>
              <a:buClr>
                <a:srgbClr val="183E35"/>
              </a:buClr>
              <a:buSzPts val="1500"/>
              <a:buFont typeface="Nunito Sans"/>
              <a:buChar char="●"/>
            </a:pPr>
            <a:r>
              <a:rPr lang="en-US" sz="1500" u="sng">
                <a:solidFill>
                  <a:schemeClr val="hlink"/>
                </a:solidFill>
                <a:latin typeface="Nunito Sans"/>
                <a:ea typeface="Nunito Sans"/>
                <a:cs typeface="Nunito Sans"/>
                <a:sym typeface="Nunito Sans"/>
                <a:hlinkClick r:id="rId5"/>
              </a:rPr>
              <a:t>Federal Acquisition Regulation 12.202</a:t>
            </a:r>
            <a:r>
              <a:rPr lang="en-US" sz="1500">
                <a:solidFill>
                  <a:srgbClr val="183E35"/>
                </a:solidFill>
                <a:latin typeface="Nunito Sans"/>
                <a:ea typeface="Nunito Sans"/>
                <a:cs typeface="Nunito Sans"/>
                <a:sym typeface="Nunito Sans"/>
              </a:rPr>
              <a:t>. Market research and description of agency need.</a:t>
            </a:r>
            <a:endParaRPr sz="1500">
              <a:solidFill>
                <a:srgbClr val="183E35"/>
              </a:solidFill>
              <a:latin typeface="Nunito Sans"/>
              <a:ea typeface="Nunito Sans"/>
              <a:cs typeface="Nunito Sans"/>
              <a:sym typeface="Nunito Sans"/>
            </a:endParaRPr>
          </a:p>
          <a:p>
            <a:pPr indent="-323850" lvl="0" marL="457200" rtl="0" algn="l">
              <a:spcBef>
                <a:spcPts val="0"/>
              </a:spcBef>
              <a:spcAft>
                <a:spcPts val="0"/>
              </a:spcAft>
              <a:buClr>
                <a:srgbClr val="183E35"/>
              </a:buClr>
              <a:buSzPts val="1500"/>
              <a:buFont typeface="Nunito Sans"/>
              <a:buChar char="●"/>
            </a:pPr>
            <a:r>
              <a:rPr lang="en-US" sz="1500">
                <a:solidFill>
                  <a:srgbClr val="183E35"/>
                </a:solidFill>
                <a:latin typeface="Nunito Sans"/>
                <a:ea typeface="Nunito Sans"/>
                <a:cs typeface="Nunito Sans"/>
                <a:sym typeface="Nunito Sans"/>
              </a:rPr>
              <a:t>Yelp Open Dataset, January 2022 archive, used under the dataset terms</a:t>
            </a:r>
            <a:endParaRPr sz="1500">
              <a:solidFill>
                <a:srgbClr val="183E35"/>
              </a:solidFill>
              <a:latin typeface="Nunito Sans"/>
              <a:ea typeface="Nunito Sans"/>
              <a:cs typeface="Nunito Sans"/>
              <a:sym typeface="Nunito Sans"/>
            </a:endParaRPr>
          </a:p>
          <a:p>
            <a:pPr indent="-323850" lvl="0" marL="457200" rtl="0" algn="l">
              <a:spcBef>
                <a:spcPts val="0"/>
              </a:spcBef>
              <a:spcAft>
                <a:spcPts val="0"/>
              </a:spcAft>
              <a:buClr>
                <a:srgbClr val="183E35"/>
              </a:buClr>
              <a:buSzPts val="1500"/>
              <a:buFont typeface="Nunito Sans"/>
              <a:buChar char="●"/>
            </a:pPr>
            <a:r>
              <a:rPr lang="en-US" sz="1500">
                <a:solidFill>
                  <a:srgbClr val="183E35"/>
                </a:solidFill>
                <a:latin typeface="Nunito Sans"/>
                <a:ea typeface="Nunito Sans"/>
                <a:cs typeface="Nunito Sans"/>
                <a:sym typeface="Nunito Sans"/>
              </a:rPr>
              <a:t>U.S. Census Bureau. American Community Survey 5-year estimates; TIGERweb ZCTA boundaries</a:t>
            </a:r>
            <a:endParaRPr sz="1500">
              <a:solidFill>
                <a:srgbClr val="183E35"/>
              </a:solidFill>
              <a:latin typeface="Nunito Sans"/>
              <a:ea typeface="Nunito Sans"/>
              <a:cs typeface="Nunito Sans"/>
              <a:sym typeface="Nunito Sans"/>
            </a:endParaRPr>
          </a:p>
          <a:p>
            <a:pPr indent="-323850" lvl="0" marL="457200" rtl="0" algn="l">
              <a:spcBef>
                <a:spcPts val="0"/>
              </a:spcBef>
              <a:spcAft>
                <a:spcPts val="0"/>
              </a:spcAft>
              <a:buClr>
                <a:srgbClr val="183E35"/>
              </a:buClr>
              <a:buSzPts val="1500"/>
              <a:buFont typeface="Nunito Sans"/>
              <a:buChar char="●"/>
            </a:pPr>
            <a:r>
              <a:rPr lang="en-US" sz="1500">
                <a:solidFill>
                  <a:srgbClr val="183E35"/>
                </a:solidFill>
                <a:latin typeface="Nunito Sans"/>
                <a:ea typeface="Nunito Sans"/>
                <a:cs typeface="Nunito Sans"/>
                <a:sym typeface="Nunito Sans"/>
              </a:rPr>
              <a:t>Hutto, C. and Gilbert, E. (2014). VADER. ICWSM</a:t>
            </a:r>
            <a:endParaRPr sz="1500">
              <a:solidFill>
                <a:srgbClr val="183E35"/>
              </a:solidFill>
              <a:latin typeface="Nunito Sans"/>
              <a:ea typeface="Nunito Sans"/>
              <a:cs typeface="Nunito Sans"/>
              <a:sym typeface="Nunito Sans"/>
            </a:endParaRPr>
          </a:p>
          <a:p>
            <a:pPr indent="-323850" lvl="0" marL="457200" rtl="0" algn="l">
              <a:spcBef>
                <a:spcPts val="0"/>
              </a:spcBef>
              <a:spcAft>
                <a:spcPts val="0"/>
              </a:spcAft>
              <a:buClr>
                <a:srgbClr val="183E35"/>
              </a:buClr>
              <a:buSzPts val="1500"/>
              <a:buFont typeface="Nunito Sans"/>
              <a:buChar char="●"/>
            </a:pPr>
            <a:r>
              <a:rPr lang="en-US" sz="1500">
                <a:solidFill>
                  <a:srgbClr val="183E35"/>
                </a:solidFill>
                <a:latin typeface="Nunito Sans"/>
                <a:ea typeface="Nunito Sans"/>
                <a:cs typeface="Nunito Sans"/>
                <a:sym typeface="Nunito Sans"/>
              </a:rPr>
              <a:t>Reimers, N. and Gurevych, I. (2019). Sentence-BERT. EMNLP. Grootendorst, M. (2022). BERTopic</a:t>
            </a:r>
            <a:endParaRPr sz="1500">
              <a:solidFill>
                <a:srgbClr val="183E35"/>
              </a:solidFill>
              <a:latin typeface="Nunito Sans"/>
              <a:ea typeface="Nunito Sans"/>
              <a:cs typeface="Nunito Sans"/>
              <a:sym typeface="Nunito Sans"/>
            </a:endParaRPr>
          </a:p>
          <a:p>
            <a:pPr indent="-323850" lvl="0" marL="457200" rtl="0" algn="l">
              <a:spcBef>
                <a:spcPts val="0"/>
              </a:spcBef>
              <a:spcAft>
                <a:spcPts val="0"/>
              </a:spcAft>
              <a:buClr>
                <a:srgbClr val="183E35"/>
              </a:buClr>
              <a:buSzPts val="1500"/>
              <a:buFont typeface="Nunito Sans"/>
              <a:buChar char="●"/>
            </a:pPr>
            <a:r>
              <a:rPr lang="en-US" sz="1500">
                <a:solidFill>
                  <a:srgbClr val="183E35"/>
                </a:solidFill>
                <a:latin typeface="Nunito Sans"/>
                <a:ea typeface="Nunito Sans"/>
                <a:cs typeface="Nunito Sans"/>
                <a:sym typeface="Nunito Sans"/>
              </a:rPr>
              <a:t>Project repository, methodology and data: github.com/intreaction/neighborhood-sentiment-map</a:t>
            </a:r>
            <a:endParaRPr sz="1500">
              <a:solidFill>
                <a:srgbClr val="183E35"/>
              </a:solidFill>
              <a:latin typeface="Nunito Sans"/>
              <a:ea typeface="Nunito Sans"/>
              <a:cs typeface="Nunito Sans"/>
              <a:sym typeface="Nunito Sans"/>
            </a:endParaRPr>
          </a:p>
          <a:p>
            <a:pPr indent="-323850" lvl="0" marL="457200" rtl="0" algn="l">
              <a:spcBef>
                <a:spcPts val="0"/>
              </a:spcBef>
              <a:spcAft>
                <a:spcPts val="0"/>
              </a:spcAft>
              <a:buClr>
                <a:srgbClr val="183E35"/>
              </a:buClr>
              <a:buSzPts val="1500"/>
              <a:buFont typeface="Nunito Sans"/>
              <a:buChar char="●"/>
            </a:pPr>
            <a:r>
              <a:rPr lang="en-US" sz="1500">
                <a:solidFill>
                  <a:srgbClr val="183E35"/>
                </a:solidFill>
                <a:latin typeface="Nunito Sans"/>
                <a:ea typeface="Nunito Sans"/>
                <a:cs typeface="Nunito Sans"/>
                <a:sym typeface="Nunito Sans"/>
              </a:rPr>
              <a:t>AI use: OpenAI Codex and Anthropic Claude helped write code, check analysis and draft text. Claude Opus produced the 731 validation labels, which human reviewers checked and found satisfactory. The team reviewed all of it and is responsible for the work</a:t>
            </a:r>
            <a:endParaRPr sz="1500">
              <a:solidFill>
                <a:srgbClr val="183E35"/>
              </a:solidFill>
              <a:latin typeface="Nunito Sans"/>
              <a:ea typeface="Nunito Sans"/>
              <a:cs typeface="Nunito Sans"/>
              <a:sym typeface="Nunito Sans"/>
            </a:endParaRPr>
          </a:p>
          <a:p>
            <a:pPr indent="0" lvl="0" marL="0" rtl="0" algn="l">
              <a:spcBef>
                <a:spcPts val="800"/>
              </a:spcBef>
              <a:spcAft>
                <a:spcPts val="800"/>
              </a:spcAft>
              <a:buNone/>
            </a:pPr>
            <a:r>
              <a:t/>
            </a:r>
            <a:endParaRPr sz="1500">
              <a:solidFill>
                <a:srgbClr val="183E35"/>
              </a:solidFill>
              <a:latin typeface="Nunito Sans"/>
              <a:ea typeface="Nunito Sans"/>
              <a:cs typeface="Nunito Sans"/>
              <a:sym typeface="Nunito Sans"/>
            </a:endParaRPr>
          </a:p>
        </p:txBody>
      </p:sp>
      <p:sp>
        <p:nvSpPr>
          <p:cNvPr id="485" name="Google Shape;485;p21"/>
          <p:cNvSpPr txBox="1"/>
          <p:nvPr/>
        </p:nvSpPr>
        <p:spPr>
          <a:xfrm>
            <a:off x="548640" y="101600"/>
            <a:ext cx="110490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5A6D60"/>
                </a:solidFill>
                <a:latin typeface="Nunito Sans"/>
                <a:ea typeface="Nunito Sans"/>
                <a:cs typeface="Nunito Sans"/>
                <a:sym typeface="Nunito Sans"/>
              </a:rPr>
              <a:t>APPENDIX / SUPPORTING EVIDENCE</a:t>
            </a:r>
            <a:endParaRPr b="1" sz="1100">
              <a:solidFill>
                <a:srgbClr val="5A6D60"/>
              </a:solidFill>
              <a:latin typeface="Nunito Sans"/>
              <a:ea typeface="Nunito Sans"/>
              <a:cs typeface="Nunito Sans"/>
              <a:sym typeface="Nunito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6"/>
        </a:solidFill>
      </p:bgPr>
    </p:bg>
    <p:spTree>
      <p:nvGrpSpPr>
        <p:cNvPr id="490" name="Shape 490"/>
        <p:cNvGrpSpPr/>
        <p:nvPr/>
      </p:nvGrpSpPr>
      <p:grpSpPr>
        <a:xfrm>
          <a:off x="0" y="0"/>
          <a:ext cx="0" cy="0"/>
          <a:chOff x="0" y="0"/>
          <a:chExt cx="0" cy="0"/>
        </a:xfrm>
      </p:grpSpPr>
      <p:sp>
        <p:nvSpPr>
          <p:cNvPr id="491" name="Google Shape;491;p22"/>
          <p:cNvSpPr txBox="1"/>
          <p:nvPr/>
        </p:nvSpPr>
        <p:spPr>
          <a:xfrm>
            <a:off x="11094415" y="6355080"/>
            <a:ext cx="548700" cy="384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100">
                <a:solidFill>
                  <a:srgbClr val="5A6D60"/>
                </a:solidFill>
                <a:latin typeface="Nunito Sans"/>
                <a:ea typeface="Nunito Sans"/>
                <a:cs typeface="Nunito Sans"/>
                <a:sym typeface="Nunito Sans"/>
              </a:rPr>
              <a:t>A4</a:t>
            </a:r>
            <a:endParaRPr sz="1100">
              <a:solidFill>
                <a:srgbClr val="5A6D60"/>
              </a:solidFill>
              <a:latin typeface="Nunito Sans"/>
              <a:ea typeface="Nunito Sans"/>
              <a:cs typeface="Nunito Sans"/>
              <a:sym typeface="Nunito Sans"/>
            </a:endParaRPr>
          </a:p>
        </p:txBody>
      </p:sp>
      <p:sp>
        <p:nvSpPr>
          <p:cNvPr id="492" name="Google Shape;492;p22"/>
          <p:cNvSpPr txBox="1"/>
          <p:nvPr/>
        </p:nvSpPr>
        <p:spPr>
          <a:xfrm>
            <a:off x="548640" y="411480"/>
            <a:ext cx="110943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83E35"/>
                </a:solidFill>
                <a:latin typeface="Georgia"/>
                <a:ea typeface="Georgia"/>
                <a:cs typeface="Georgia"/>
                <a:sym typeface="Georgia"/>
              </a:rPr>
              <a:t>Technical methods behind the evidence workflow</a:t>
            </a:r>
            <a:endParaRPr b="1" sz="3200">
              <a:solidFill>
                <a:srgbClr val="183E35"/>
              </a:solidFill>
              <a:latin typeface="Georgia"/>
              <a:ea typeface="Georgia"/>
              <a:cs typeface="Georgia"/>
              <a:sym typeface="Georgia"/>
            </a:endParaRPr>
          </a:p>
        </p:txBody>
      </p:sp>
      <p:graphicFrame>
        <p:nvGraphicFramePr>
          <p:cNvPr id="493" name="Google Shape;493;p22"/>
          <p:cNvGraphicFramePr/>
          <p:nvPr/>
        </p:nvGraphicFramePr>
        <p:xfrm>
          <a:off x="1752603" y="2118393"/>
          <a:ext cx="3000000" cy="3000000"/>
        </p:xfrm>
        <a:graphic>
          <a:graphicData uri="http://schemas.openxmlformats.org/drawingml/2006/table">
            <a:tbl>
              <a:tblPr>
                <a:noFill/>
                <a:tableStyleId>{A134502A-B179-4CCE-84E0-B1C01C1024C8}</a:tableStyleId>
              </a:tblPr>
              <a:tblGrid>
                <a:gridCol w="3291825"/>
                <a:gridCol w="5394950"/>
              </a:tblGrid>
              <a:tr h="426725">
                <a:tc>
                  <a:txBody>
                    <a:bodyPr/>
                    <a:lstStyle/>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Method</a:t>
                      </a:r>
                      <a:endParaRPr b="1"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Question it answers</a:t>
                      </a:r>
                      <a:endParaRPr b="1" sz="1600">
                        <a:solidFill>
                          <a:srgbClr val="183E35"/>
                        </a:solidFill>
                        <a:latin typeface="Nunito Sans"/>
                        <a:ea typeface="Nunito Sans"/>
                        <a:cs typeface="Nunito Sans"/>
                        <a:sym typeface="Nunito Sans"/>
                      </a:endParaRPr>
                    </a:p>
                  </a:txBody>
                  <a:tcPr marT="91425" marB="91425" marR="91425" marL="91425"/>
                </a:tc>
              </a:tr>
              <a:tr h="426725">
                <a:tc>
                  <a:txBody>
                    <a:bodyPr/>
                    <a:lstStyle/>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VADER lexicon sentiment</a:t>
                      </a:r>
                      <a:endParaRPr b="1"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How positive is a review or a clause?</a:t>
                      </a:r>
                      <a:endParaRPr sz="1600">
                        <a:solidFill>
                          <a:srgbClr val="183E35"/>
                        </a:solidFill>
                        <a:latin typeface="Nunito Sans"/>
                        <a:ea typeface="Nunito Sans"/>
                        <a:cs typeface="Nunito Sans"/>
                        <a:sym typeface="Nunito Sans"/>
                      </a:endParaRPr>
                    </a:p>
                  </a:txBody>
                  <a:tcPr marT="91425" marB="91425" marR="91425" marL="91425"/>
                </a:tc>
              </a:tr>
              <a:tr h="426725">
                <a:tc>
                  <a:txBody>
                    <a:bodyPr/>
                    <a:lstStyle/>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Keyword and target rules</a:t>
                      </a:r>
                      <a:endParaRPr b="1"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Is a comment about the area or the business? Which topic? Negative?</a:t>
                      </a:r>
                      <a:endParaRPr sz="1600">
                        <a:solidFill>
                          <a:srgbClr val="183E35"/>
                        </a:solidFill>
                        <a:latin typeface="Nunito Sans"/>
                        <a:ea typeface="Nunito Sans"/>
                        <a:cs typeface="Nunito Sans"/>
                        <a:sym typeface="Nunito Sans"/>
                      </a:endParaRPr>
                    </a:p>
                  </a:txBody>
                  <a:tcPr marT="91425" marB="91425" marR="91425" marL="91425"/>
                </a:tc>
              </a:tr>
              <a:tr h="426725">
                <a:tc>
                  <a:txBody>
                    <a:bodyPr/>
                    <a:lstStyle/>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TF-IDF and NMF topics</a:t>
                      </a:r>
                      <a:endParaRPr b="1"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What recurring language is there, without labels?</a:t>
                      </a:r>
                      <a:endParaRPr sz="1600">
                        <a:solidFill>
                          <a:srgbClr val="183E35"/>
                        </a:solidFill>
                        <a:latin typeface="Nunito Sans"/>
                        <a:ea typeface="Nunito Sans"/>
                        <a:cs typeface="Nunito Sans"/>
                        <a:sym typeface="Nunito Sans"/>
                      </a:endParaRPr>
                    </a:p>
                  </a:txBody>
                  <a:tcPr marT="91425" marB="91425" marR="91425" marL="91425"/>
                </a:tc>
              </a:tr>
              <a:tr h="426725">
                <a:tc>
                  <a:txBody>
                    <a:bodyPr/>
                    <a:lstStyle/>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MiniLM BERT embeddings</a:t>
                      </a:r>
                      <a:endParaRPr b="1"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What does a clause mean beyond its keywords? We use BERTopic and a classifier.</a:t>
                      </a:r>
                      <a:endParaRPr sz="1600">
                        <a:solidFill>
                          <a:srgbClr val="183E35"/>
                        </a:solidFill>
                        <a:latin typeface="Nunito Sans"/>
                        <a:ea typeface="Nunito Sans"/>
                        <a:cs typeface="Nunito Sans"/>
                        <a:sym typeface="Nunito Sans"/>
                      </a:endParaRPr>
                    </a:p>
                  </a:txBody>
                  <a:tcPr marT="91425" marB="91425" marR="91425" marL="91425"/>
                </a:tc>
              </a:tr>
            </a:tbl>
          </a:graphicData>
        </a:graphic>
      </p:graphicFrame>
      <p:sp>
        <p:nvSpPr>
          <p:cNvPr id="494" name="Google Shape;494;p22"/>
          <p:cNvSpPr txBox="1"/>
          <p:nvPr/>
        </p:nvSpPr>
        <p:spPr>
          <a:xfrm>
            <a:off x="548640" y="101600"/>
            <a:ext cx="110490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5A6D60"/>
                </a:solidFill>
                <a:latin typeface="Nunito Sans"/>
                <a:ea typeface="Nunito Sans"/>
                <a:cs typeface="Nunito Sans"/>
                <a:sym typeface="Nunito Sans"/>
              </a:rPr>
              <a:t>APPENDIX / SUPPORTING EVIDENCE</a:t>
            </a:r>
            <a:endParaRPr b="1" sz="1100">
              <a:solidFill>
                <a:srgbClr val="5A6D60"/>
              </a:solidFill>
              <a:latin typeface="Nunito Sans"/>
              <a:ea typeface="Nunito Sans"/>
              <a:cs typeface="Nunito Sans"/>
              <a:sym typeface="Nunito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6"/>
        </a:solidFill>
      </p:bgPr>
    </p:bg>
    <p:spTree>
      <p:nvGrpSpPr>
        <p:cNvPr id="499" name="Shape 499"/>
        <p:cNvGrpSpPr/>
        <p:nvPr/>
      </p:nvGrpSpPr>
      <p:grpSpPr>
        <a:xfrm>
          <a:off x="0" y="0"/>
          <a:ext cx="0" cy="0"/>
          <a:chOff x="0" y="0"/>
          <a:chExt cx="0" cy="0"/>
        </a:xfrm>
      </p:grpSpPr>
      <p:sp>
        <p:nvSpPr>
          <p:cNvPr id="500" name="Google Shape;500;p23"/>
          <p:cNvSpPr txBox="1"/>
          <p:nvPr/>
        </p:nvSpPr>
        <p:spPr>
          <a:xfrm>
            <a:off x="11094415" y="6355080"/>
            <a:ext cx="548700" cy="384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100">
                <a:solidFill>
                  <a:srgbClr val="5A6D60"/>
                </a:solidFill>
                <a:latin typeface="Nunito Sans"/>
                <a:ea typeface="Nunito Sans"/>
                <a:cs typeface="Nunito Sans"/>
                <a:sym typeface="Nunito Sans"/>
              </a:rPr>
              <a:t>A5</a:t>
            </a:r>
            <a:endParaRPr sz="1100">
              <a:solidFill>
                <a:srgbClr val="5A6D60"/>
              </a:solidFill>
              <a:latin typeface="Nunito Sans"/>
              <a:ea typeface="Nunito Sans"/>
              <a:cs typeface="Nunito Sans"/>
              <a:sym typeface="Nunito Sans"/>
            </a:endParaRPr>
          </a:p>
        </p:txBody>
      </p:sp>
      <p:sp>
        <p:nvSpPr>
          <p:cNvPr id="501" name="Google Shape;501;p23"/>
          <p:cNvSpPr txBox="1"/>
          <p:nvPr/>
        </p:nvSpPr>
        <p:spPr>
          <a:xfrm>
            <a:off x="548640" y="411480"/>
            <a:ext cx="110943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83E35"/>
                </a:solidFill>
                <a:latin typeface="Georgia"/>
                <a:ea typeface="Georgia"/>
                <a:cs typeface="Georgia"/>
                <a:sym typeface="Georgia"/>
              </a:rPr>
              <a:t>Clause rules separate a business from its street, but miss some complaints</a:t>
            </a:r>
            <a:endParaRPr b="1" sz="3200">
              <a:solidFill>
                <a:srgbClr val="183E35"/>
              </a:solidFill>
              <a:latin typeface="Georgia"/>
              <a:ea typeface="Georgia"/>
              <a:cs typeface="Georgia"/>
              <a:sym typeface="Georgia"/>
            </a:endParaRPr>
          </a:p>
        </p:txBody>
      </p:sp>
      <p:graphicFrame>
        <p:nvGraphicFramePr>
          <p:cNvPr id="502" name="Google Shape;502;p23"/>
          <p:cNvGraphicFramePr/>
          <p:nvPr/>
        </p:nvGraphicFramePr>
        <p:xfrm>
          <a:off x="548640" y="1783080"/>
          <a:ext cx="3000000" cy="3000000"/>
        </p:xfrm>
        <a:graphic>
          <a:graphicData uri="http://schemas.openxmlformats.org/drawingml/2006/table">
            <a:tbl>
              <a:tblPr>
                <a:noFill/>
                <a:tableStyleId>{A134502A-B179-4CCE-84E0-B1C01C1024C8}</a:tableStyleId>
              </a:tblPr>
              <a:tblGrid>
                <a:gridCol w="5029200"/>
                <a:gridCol w="1828800"/>
                <a:gridCol w="1463025"/>
                <a:gridCol w="1371600"/>
                <a:gridCol w="1399025"/>
              </a:tblGrid>
              <a:tr h="426725">
                <a:tc>
                  <a:txBody>
                    <a:bodyPr/>
                    <a:lstStyle/>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Sentence</a:t>
                      </a:r>
                      <a:endParaRPr b="1"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Topic</a:t>
                      </a:r>
                      <a:endParaRPr b="1"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About</a:t>
                      </a:r>
                      <a:endParaRPr b="1"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Tone</a:t>
                      </a:r>
                      <a:endParaRPr b="1"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b="1" lang="en-US" sz="1600">
                          <a:solidFill>
                            <a:srgbClr val="183E35"/>
                          </a:solidFill>
                          <a:latin typeface="Nunito Sans"/>
                          <a:ea typeface="Nunito Sans"/>
                          <a:cs typeface="Nunito Sans"/>
                          <a:sym typeface="Nunito Sans"/>
                        </a:rPr>
                        <a:t>Verdict</a:t>
                      </a:r>
                      <a:endParaRPr b="1" sz="1600">
                        <a:solidFill>
                          <a:srgbClr val="183E35"/>
                        </a:solidFill>
                        <a:latin typeface="Nunito Sans"/>
                        <a:ea typeface="Nunito Sans"/>
                        <a:cs typeface="Nunito Sans"/>
                        <a:sym typeface="Nunito Sans"/>
                      </a:endParaRPr>
                    </a:p>
                  </a:txBody>
                  <a:tcPr marT="91425" marB="91425" marR="91425" marL="91425"/>
                </a:tc>
              </a:tr>
              <a:tr h="426725">
                <a:tc>
                  <a:txBody>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"Parking is impossible on this street."</a:t>
                      </a:r>
                      <a:endParaRPr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Parking</a:t>
                      </a:r>
                      <a:endParaRPr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Area</a:t>
                      </a:r>
                      <a:endParaRPr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Negative</a:t>
                      </a:r>
                      <a:endParaRPr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Right</a:t>
                      </a:r>
                      <a:endParaRPr sz="1600">
                        <a:solidFill>
                          <a:srgbClr val="183E35"/>
                        </a:solidFill>
                        <a:latin typeface="Nunito Sans"/>
                        <a:ea typeface="Nunito Sans"/>
                        <a:cs typeface="Nunito Sans"/>
                        <a:sym typeface="Nunito Sans"/>
                      </a:endParaRPr>
                    </a:p>
                  </a:txBody>
                  <a:tcPr marT="91425" marB="91425" marR="91425" marL="91425"/>
                </a:tc>
              </a:tr>
              <a:tr h="426725">
                <a:tc>
                  <a:txBody>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"The staff were rude but the park across the street is lovely."</a:t>
                      </a:r>
                      <a:endParaRPr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Service; public space</a:t>
                      </a:r>
                      <a:endParaRPr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Business; area</a:t>
                      </a:r>
                      <a:endParaRPr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Negative; positive</a:t>
                      </a:r>
                      <a:endParaRPr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Right</a:t>
                      </a:r>
                      <a:endParaRPr sz="1600">
                        <a:solidFill>
                          <a:srgbClr val="183E35"/>
                        </a:solidFill>
                        <a:latin typeface="Nunito Sans"/>
                        <a:ea typeface="Nunito Sans"/>
                        <a:cs typeface="Nunito Sans"/>
                        <a:sym typeface="Nunito Sans"/>
                      </a:endParaRPr>
                    </a:p>
                  </a:txBody>
                  <a:tcPr marT="91425" marB="91425" marR="91425" marL="91425"/>
                </a:tc>
              </a:tr>
              <a:tr h="426725">
                <a:tc>
                  <a:txBody>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"Their bathroom was dirty."</a:t>
                      </a:r>
                      <a:endParaRPr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Cleanliness</a:t>
                      </a:r>
                      <a:endParaRPr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Business</a:t>
                      </a:r>
                      <a:endParaRPr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Negative</a:t>
                      </a:r>
                      <a:endParaRPr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Right</a:t>
                      </a:r>
                      <a:endParaRPr sz="1600">
                        <a:solidFill>
                          <a:srgbClr val="183E35"/>
                        </a:solidFill>
                        <a:latin typeface="Nunito Sans"/>
                        <a:ea typeface="Nunito Sans"/>
                        <a:cs typeface="Nunito Sans"/>
                        <a:sym typeface="Nunito Sans"/>
                      </a:endParaRPr>
                    </a:p>
                  </a:txBody>
                  <a:tcPr marT="91425" marB="91425" marR="91425" marL="91425"/>
                </a:tc>
              </a:tr>
              <a:tr h="426725">
                <a:tc>
                  <a:txBody>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"Street parking was a nightmare, but the tacos made up for it."</a:t>
                      </a:r>
                      <a:endParaRPr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Parking</a:t>
                      </a:r>
                      <a:endParaRPr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Area</a:t>
                      </a:r>
                      <a:endParaRPr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Neutral</a:t>
                      </a:r>
                      <a:endParaRPr sz="1600">
                        <a:solidFill>
                          <a:srgbClr val="183E35"/>
                        </a:solidFill>
                        <a:latin typeface="Nunito Sans"/>
                        <a:ea typeface="Nunito Sans"/>
                        <a:cs typeface="Nunito Sans"/>
                        <a:sym typeface="Nunito Sans"/>
                      </a:endParaRPr>
                    </a:p>
                  </a:txBody>
                  <a:tcPr marT="91425" marB="91425" marR="91425" marL="91425"/>
                </a:tc>
                <a:tc>
                  <a:txBody>
                    <a:bodyPr/>
                    <a:lstStyle/>
                    <a:p>
                      <a:pPr indent="0" lvl="0" marL="0" rtl="0" algn="l">
                        <a:spcBef>
                          <a:spcPts val="0"/>
                        </a:spcBef>
                        <a:spcAft>
                          <a:spcPts val="0"/>
                        </a:spcAft>
                        <a:buNone/>
                      </a:pPr>
                      <a:r>
                        <a:rPr lang="en-US" sz="1600">
                          <a:solidFill>
                            <a:srgbClr val="183E35"/>
                          </a:solidFill>
                          <a:latin typeface="Nunito Sans"/>
                          <a:ea typeface="Nunito Sans"/>
                          <a:cs typeface="Nunito Sans"/>
                          <a:sym typeface="Nunito Sans"/>
                        </a:rPr>
                        <a:t>Missed</a:t>
                      </a:r>
                      <a:endParaRPr sz="1600">
                        <a:solidFill>
                          <a:srgbClr val="183E35"/>
                        </a:solidFill>
                        <a:latin typeface="Nunito Sans"/>
                        <a:ea typeface="Nunito Sans"/>
                        <a:cs typeface="Nunito Sans"/>
                        <a:sym typeface="Nunito Sans"/>
                      </a:endParaRPr>
                    </a:p>
                  </a:txBody>
                  <a:tcPr marT="91425" marB="91425" marR="91425" marL="91425"/>
                </a:tc>
              </a:tr>
            </a:tbl>
          </a:graphicData>
        </a:graphic>
      </p:graphicFrame>
      <p:sp>
        <p:nvSpPr>
          <p:cNvPr id="503" name="Google Shape;503;p23"/>
          <p:cNvSpPr txBox="1"/>
          <p:nvPr/>
        </p:nvSpPr>
        <p:spPr>
          <a:xfrm>
            <a:off x="548640" y="101600"/>
            <a:ext cx="110490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5A6D60"/>
                </a:solidFill>
                <a:latin typeface="Nunito Sans"/>
                <a:ea typeface="Nunito Sans"/>
                <a:cs typeface="Nunito Sans"/>
                <a:sym typeface="Nunito Sans"/>
              </a:rPr>
              <a:t>APPENDIX / SUPPORTING EVIDENCE</a:t>
            </a:r>
            <a:endParaRPr b="1" sz="1100">
              <a:solidFill>
                <a:srgbClr val="5A6D60"/>
              </a:solidFill>
              <a:latin typeface="Nunito Sans"/>
              <a:ea typeface="Nunito Sans"/>
              <a:cs typeface="Nunito Sans"/>
              <a:sym typeface="Nunito Sans"/>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